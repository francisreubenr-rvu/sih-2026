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 Dhristi</a:t>
            </a:r>
          </a:p>
          <a:p>
            <a:r>
              <a:t>Planned duration: 20 seconds; rehearsal not measured.</a:t>
            </a:r>
          </a:p>
          <a:p/>
          <a:p>
            <a:r>
              <a:t>Dhristi is our working response to SIH26171: on-device visual perception for lightweight browser agents. The central idea is simple: the browser retains the original screen, constructs a protected description and sends only that description to a reasoning server. The user then reviews a bounded action before it executes. This is an implemented engineering candidate, with its limits visible.</a:t>
            </a:r>
          </a:p>
          <a:p/>
          <a:p>
            <a:r>
              <a:t>Sources: https://www.sih.gov.in/sih2026PS</a:t>
            </a:r>
          </a:p>
          <a:p>
            <a:r>
              <a:t>Evidence date: 11 September 2026. No population accuracy or competition score is inferred from integration checks.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 The privacy conflict</a:t>
            </a:r>
          </a:p>
          <a:p>
            <a:r>
              <a:t>Planned duration: 45 seconds; rehearsal not measured.</a:t>
            </a:r>
          </a:p>
          <a:p/>
          <a:p>
            <a:r>
              <a:t>A browser agent needs enough context to decide what to do, but a screenshot may contain more than the task requires. A service screen can include a face, account number, partially filled form and password field beside an ordinary Pending button. The organizer asks us to separate those two needs locally. WebPII reinforces why simple password masking is insufficient: screenshot PII has many forms. We use an explicitly synthetic service desk to demonstrate the boundary without testing on a real account. The real challenge is preserving enough useful context to complete a task while measuring what sensitive content is removed.</a:t>
            </a:r>
          </a:p>
          <a:p/>
          <a:p>
            <a:r>
              <a:t>Sources: https://www.sih.gov.in/sih2026PS; https://arxiv.org/abs/2603.17357</a:t>
            </a:r>
          </a:p>
          <a:p>
            <a:r>
              <a:t>Evidence date: 11 September 2026. No population accuracy or competition score is inferred from integration checks.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 Evaluation contract</a:t>
            </a:r>
          </a:p>
          <a:p>
            <a:r>
              <a:t>Planned duration: 45 seconds; rehearsal not measured.</a:t>
            </a:r>
          </a:p>
          <a:p/>
          <a:p>
            <a:r>
              <a:t>The official statement allocates twenty-five percent to visual-context accuracy; twenty percent each to PII detection, redaction precision and client resource use; and fifteen percent to overall task latency. These are organizer weights, not measured scores for Dhristi. They make the trade-off explicit: removing everything may control exposure while failing utility. We therefore need separate detection, redaction and task-success measurements. The organizer has not published complete normalization formulas, so we will not invent a weighted total. Current integration observations are useful for debugging, but they cannot stand in for dataset accuracy or a predicted jury outcome.</a:t>
            </a:r>
          </a:p>
          <a:p/>
          <a:p>
            <a:r>
              <a:t>Sources: https://www.sih.gov.in/sih2026PS; Benchmarks/official-rubric.json</a:t>
            </a:r>
          </a:p>
          <a:p>
            <a:r>
              <a:t>Evidence date: 11 September 2026. No population accuracy or competition score is inferred from integration checks.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 Architecture</a:t>
            </a:r>
          </a:p>
          <a:p>
            <a:r>
              <a:t>Planned duration: 55 seconds; rehearsal not measured.</a:t>
            </a:r>
          </a:p>
          <a:p/>
          <a:p>
            <a:r>
              <a:t>The application captures the local fixture and runs an actual UltraFace model through ONNX Runtime Web. DOM bounds and local detections inform an opaque reconstruction. A strict scene schema then allows only approved control labels, geometry and region kinds into the plan request. A separate Ollama process runs Qwen2.5 and proposes a click, scroll or done action. Before execution, the client checks that the plan matches the current revision and requires the user to confirm. This is not a vision-language model reading a PNG: the current server reasons over protected layout data. That constraint keeps the boundary inspectable, while deliberately reducing the context available to the model.</a:t>
            </a:r>
          </a:p>
          <a:p/>
          <a:p>
            <a:r>
              <a:t>Sources: Prototype/README.md; CONTEXT.md; Docs/decisions/local-vision.md</a:t>
            </a:r>
          </a:p>
          <a:p>
            <a:r>
              <a:t>Evidence date: 11 September 2026. No population accuracy or competition score is inferred from integration checks.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 Protected preview</a:t>
            </a:r>
          </a:p>
          <a:p>
            <a:r>
              <a:t>Planned duration: 45 seconds; rehearsal not measured.</a:t>
            </a:r>
          </a:p>
          <a:p/>
          <a:p>
            <a:r>
              <a:t>This is a real screenshot of the delivered synthetic demo. The left side is the source fixture, and the right side is the protected reconstruction. The synthetic account label, number, password field and reference portrait do not become part of the raw plan request. The approved navigation controls remain usable. This design does not claim that the face detector discovers every sensitive region. Unknown material is excluded independently, and face output never authorizes sending original image pixels. The preview lets the user inspect the remaining disclosure, including layout geometry, before asking the model. A synthetic example establishes integration, not a general privacy guarantee.</a:t>
            </a:r>
          </a:p>
          <a:p/>
          <a:p>
            <a:r>
              <a:t>Sources: Benchmarks/results/operations-v01/summary.json; Benchmarks/results/operations-v01/face-scale-v01.json; Benchmarks/results/webpii-text-v01-summary.json; Benchmarks/results/prototype-unit-tests.txt; Prototype/models/manifest.json</a:t>
            </a:r>
          </a:p>
          <a:p>
            <a:r>
              <a:t>Evidence date: 11 September 2026. No population accuracy or competition score is inferred from integration checks.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 Local perception</a:t>
            </a:r>
          </a:p>
          <a:p>
            <a:r>
              <a:t>Planned duration: 45 seconds; rehearsal not measured.</a:t>
            </a:r>
          </a:p>
          <a:p/>
          <a:p>
            <a:r>
              <a:t>The browser inference is real, not a mocked detection. We use the upstream RFB-320 face model with the documented RGB resize, normalization and NCHW tensor order. The locally packaged optimized model is approximately one point two six decimal megabytes. The generic WASM runtime adds almost twelve megabytes, so model size alone understates cold-load cost. The model and runtime licenses and hashes are recorded. A confidence threshold and non-maximum suppression determine the returned boxes, but those settings have not been optimized on a held-out dataset. This is a face-only detector. Text PII requires other mechanisms; initialization or inference failure blocks context preparation.</a:t>
            </a:r>
          </a:p>
          <a:p/>
          <a:p>
            <a:r>
              <a:t>Sources: https://github.com/Linzaer/Ultra-Light-Fast-Generic-Face-Detector-1MB; https://onnxruntime.ai/docs/get-started/with-javascript/web.html; Prototype/models/manifest.json; Docs/decisions/local-vision.md</a:t>
            </a:r>
          </a:p>
          <a:p>
            <a:r>
              <a:t>Evidence date: 11 September 2026. No population accuracy or competition score is inferred from integration checks.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 Egress contract</a:t>
            </a:r>
          </a:p>
          <a:p>
            <a:r>
              <a:t>Planned duration: 50 seconds; rehearsal not measured.</a:t>
            </a:r>
          </a:p>
          <a:p/>
          <a:p>
            <a:r>
              <a:t>Our main privacy control is the outgoing data contract. It has fields for a revision, viewport, bounded control geometry, approved labels and opaque region kinds. It has no raw screenshot, DOM dump, field-value or source-URL field. Extra fields and malformed geometry are rejected. In the recorded mobile check, the synthetic email, account number and image data were absent from the payload. That is a specific observation on one fixture, not proof against every encoding or page. Layout still reveals structure, and approved labels reveal a restricted vocabulary. We make that residual exposure inspectable and need adversarial testing before broadening the allowed context.</a:t>
            </a:r>
          </a:p>
          <a:p/>
          <a:p>
            <a:r>
              <a:t>Sources: Prototype/README.md; Benchmarks/results/operations-v01/summary.json; Benchmarks/results/operations-v01/face-scale-v01.json; Benchmarks/results/webpii-text-v01-summary.json; Benchmarks/results/prototype-unit-tests.txt</a:t>
            </a:r>
          </a:p>
          <a:p>
            <a:r>
              <a:t>Evidence date: 11 September 2026. No population accuracy or competition score is inferred from integration checks.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 Reviewed action</a:t>
            </a:r>
          </a:p>
          <a:p>
            <a:r>
              <a:t>Planned duration: 45 seconds; rehearsal not measured.</a:t>
            </a:r>
          </a:p>
          <a:p/>
          <a:p>
            <a:r>
              <a:t>The server does not receive authority to execute arbitrary instructions. It returns a small action vocabulary, and a click must identify a currently approved target. The client binds that proposal to the captured revision, expires it after thirty seconds and rechecks the target when the user confirms. A delayed confirmation was rejected in the actual workflow, and the app later disabled plan and execute controls proactively after expiry. Typing, arbitrary navigation, executable code and irreversible submissions are outside the current scope. These checks reduce the attack surface. They do not establish complete prompt-injection safety, especially as page coverage expands.</a:t>
            </a:r>
          </a:p>
          <a:p/>
          <a:p>
            <a:r>
              <a:t>Sources: Benchmarks/results/operations-v01/summary.json; Benchmarks/results/operations-v01/face-scale-v01.json; Benchmarks/results/webpii-text-v01-summary.json; Benchmarks/results/prototype-unit-tests.txt; https://arxiv.org/abs/2504.11281</a:t>
            </a:r>
          </a:p>
          <a:p>
            <a:r>
              <a:t>Evidence date: 11 September 2026. No population accuracy or competition score is inferred from integration checks.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 Demonstration</a:t>
            </a:r>
          </a:p>
          <a:p>
            <a:r>
              <a:t>Planned duration: 75 seconds; rehearsal not measured.</a:t>
            </a:r>
          </a:p>
          <a:p/>
          <a:p>
            <a:r>
              <a:t>For the live demonstration, choose Review a pending request, then capture and protect. Point out the protected preview and the outgoing request before asking the local model. Confirm the proposed Pending action. The fixture enters Pending requests. Capture the new scene, request another plan and confirm Review. The verified end-state is Request ready for review. This exact sequence was observed with the real Qwen2.5 model. During an earlier attempt, waiting too long caused the second action to expire; recapture restored the valid path. Reserve roughly thirty seconds here for the actual operations. If the live path is unavailable, show the recorded evidence honestly. At the time of these source records, screenshots exist and screen-recording playback has not been verified.</a:t>
            </a:r>
          </a:p>
          <a:p/>
          <a:p>
            <a:r>
              <a:t>Sources: Benchmarks/results/operations-v01/summary.json; Benchmarks/results/operations-v01/face-scale-v01.json; Benchmarks/results/webpii-text-v01-summary.json; Benchmarks/results/prototype-unit-tests.txt; Prototype/README.md</a:t>
            </a:r>
          </a:p>
          <a:p>
            <a:r>
              <a:t>Evidence date: 11 September 2026. No population accuracy or competition score is inferred from integration checks.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 Measured limits</a:t>
            </a:r>
          </a:p>
          <a:p>
            <a:r>
              <a:t>Planned duration: 60 seconds; rehearsal not measured.</a:t>
            </a:r>
          </a:p>
          <a:p/>
          <a:p>
            <a:r>
              <a:t>The measurement story needs precision. A scale matrix ran the packaged face model over one synthetic image at fourteen sizes from forty-eight to three hundred and twenty pixels: every size returned one detection, between nine and twenty milliseconds. Capture and protection measured ninety-two to one hundred and eight milliseconds across the recorded desktop, initial and narrow-viewport captures. An integrated synthetic observation desk completed a local draft in thirty point five seconds including the human confirmation step, and two further runs stopped correctly on expiry and on user request. A separate first live model step displayed three thousand and twenty-nine milliseconds. One result went against us and it is on the slide: on one hundred frozen synthetic screens, local OCR and the PII model retained exact annotated personal data on fifty-eight of them. That is why text export stays disabled and the outbound schema stays structural. These are local observations on an Apple M1 Pro with sixteen gigabytes of system memory, not distributions or a mobile benchmark. One hundred nineteen recorded Node tests pass (2026-09-15). The original two-hundred-millisecond full-flow target is failed, and we are not rebranding the fastest component as the whole pipeline.</a:t>
            </a:r>
          </a:p>
          <a:p/>
          <a:p>
            <a:r>
              <a:t>Sources: Benchmarks/results/operations-v01/summary.json; Benchmarks/results/operations-v01/face-scale-v01.json; Benchmarks/results/webpii-text-v01-summary.json; Benchmarks/results/prototype-unit-tests.txt</a:t>
            </a:r>
          </a:p>
          <a:p>
            <a:r>
              <a:t>Evidence date: 11 September 2026. No population accuracy or competition score is inferred from integration checks.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 · Competitive position</a:t>
            </a:r>
          </a:p>
          <a:p>
            <a:r>
              <a:t>Planned duration: 45 seconds; rehearsal not measured.</a:t>
            </a:r>
          </a:p>
          <a:p/>
          <a:p>
            <a:r>
              <a:t>Three adjacent research efforts define the comparison. WebPII and WebRedact address visual PII and benchmark design. PrivWeb investigates local anonymization and user control. Available but Invisible uses typed placeholders and a secure interaction proxy. We therefore cannot claim to be the first private browser agent or to invent local filtering. Our engineering focus is the combination of a packaged browser model, an explicit pixel-free request schema and expiring reviewed controls. That combination exists in our prototype; comparative accuracy and broader utility are still unmeasured. A fair next evaluation uses the same tasks and annotations across baselines and reports both sensitive coverage and useful context retained.</a:t>
            </a:r>
          </a:p>
          <a:p/>
          <a:p>
            <a:r>
              <a:t>Sources: https://arxiv.org/abs/2603.17357; https://arxiv.org/abs/2509.11939; https://arxiv.org/abs/2602.10139; Wiki/competitors.md</a:t>
            </a:r>
          </a:p>
          <a:p>
            <a:r>
              <a:t>Evidence date: 11 September 2026. No population accuracy or competition score is inferred from integration checks.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 · Risks and mitigation</a:t>
            </a:r>
          </a:p>
          <a:p>
            <a:r>
              <a:t>Planned duration: 40 seconds; rehearsal not measured.</a:t>
            </a:r>
          </a:p>
          <a:p/>
          <a:p>
            <a:r>
              <a:t>Two risks are measured rather than assumed. First, the conservative reconstruction is a deliberate trade-off. It limits what enters the server request, but useful text and images can disappear as well. A face-only model may miss small or occluded faces, and it cannot recognize textual PII. The current workflow is restricted, while native Chrome and Firefox extension execution remains a separate verification gate. Next, freeze labeled unseen pages and compare DOM-only, face-only, detected masks and conservative reconstruction. Measure preservation as well as removal. Second, and more serious: on one hundred frozen synthetic screens, local OCR and the PII model retained exact annotated personal data on fifty-eight of them. That is a failed privacy result, and it is why text export remains disabled and the outbound request schema stays structural rather than carrying reconstructed text. Then profile worker execution and cold loading. Any broader vocabulary or image context should be admitted only after its privacy and task utility are evaluated.</a:t>
            </a:r>
          </a:p>
          <a:p/>
          <a:p>
            <a:r>
              <a:t>Sources: Prototype/README.md; Wiki/domain-research.md; Docs/decisions/local-vision.md</a:t>
            </a:r>
          </a:p>
          <a:p>
            <a:r>
              <a:t>Evidence date: 11 September 2026. No population accuracy or competition score is inferred from integration checks.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 · Impact and sustainability</a:t>
            </a:r>
          </a:p>
          <a:p>
            <a:r>
              <a:t>Planned duration: 45 seconds; rehearsal not measured.</a:t>
            </a:r>
          </a:p>
          <a:p/>
          <a:p>
            <a:r>
              <a:t>The intended benefit is not a large user counter. It is a completed task with an understandable disclosure decision. A pilot should measure whether users understand the preview, how much review effort it adds and how often they reach the correct end-state. Operating viability requires the model and browser assets, support ownership and a cost per completed task. Deployment on existing hardware is possible in the demonstrated setup, but it does not automatically imply energy savings. An institutional local-install pilot is a proposed route, not an agreed partnership or validated revenue model. Privacy coverage and useful context must be evaluated together, with failure severity recorded.</a:t>
            </a:r>
          </a:p>
          <a:p/>
          <a:p>
            <a:r>
              <a:t>Sources: Prototype/README.md; Wiki/domain-research.md; authored pilot proposal</a:t>
            </a:r>
          </a:p>
          <a:p>
            <a:r>
              <a:t>Evidence date: 11 September 2026. No population accuracy or competition score is inferred from integration checks.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 · Team and delivery</a:t>
            </a:r>
          </a:p>
          <a:p>
            <a:r>
              <a:t>Planned duration: 55 seconds; rehearsal not measured.</a:t>
            </a:r>
          </a:p>
          <a:p/>
          <a:p>
            <a:r>
              <a:t>The six team members are second-year B.Tech CSE students at RV University, as supplied in the brief. These roles are proposed ownership rather than evidence of prior expertise. Francis integrates the build and technical pitch; Gopreet owns API and persistence; Hiranmayi owns UX and accessibility; Varun owns domain implementation; Koushaik owns testing and reliability; and Niharika owns research and narrative. Each contribution should be linked to a real artifact before rehearsal. The internal target is eleven September, separate from the catalogue’s displayed date. The next checkpoint is validation and a timed run, with optional scope cut before correctness or evidence. Registered team details and consented portraits still need to be supplied.</a:t>
            </a:r>
          </a:p>
          <a:p/>
          <a:p>
            <a:r>
              <a:t>Sources: Docs/team-plan.md; user brief; current PLAN.md</a:t>
            </a:r>
          </a:p>
          <a:p>
            <a:r>
              <a:t>Evidence date: 11 September 2026. No population accuracy or competition score is inferred from integration checks.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 Closing and next decision</a:t>
            </a:r>
          </a:p>
          <a:p>
            <a:r>
              <a:t>Planned duration: 30 seconds; rehearsal not measured.</a:t>
            </a:r>
          </a:p>
          <a:p/>
          <a:p>
            <a:r>
              <a:t>Dhristi already connects real browser-local inference, a protected scene, a real reasoning model and a reviewed action on a synthetic task. Its current result is an inspectable engineering boundary, not a promise of zero leakage or universal automation. The next decision is to evaluate that boundary on held-out tasks and measure what is protected, what remains useful and what it costs. We invite evaluation of the demonstrated mechanism and its explicit limits. The complete source and evidence registers travel with the build.</a:t>
            </a:r>
          </a:p>
          <a:p/>
          <a:p>
            <a:r>
              <a:t>Sources: Wiki/source-index.md; Benchmarks/results/operations-v01/summary.json; Benchmarks/results/operations-v01/face-scale-v01.json; Benchmarks/results/webpii-text-v01-summary.json; Benchmarks/results/prototype-unit-tests.txt</a:t>
            </a:r>
          </a:p>
          <a:p>
            <a:r>
              <a:t>Evidence date: 11 September 2026. No population accuracy or competition score is inferred from integration checks.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2603.17357" TargetMode="Externa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sih.gov.in/sih2026PS" TargetMode="Externa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Linzaer/Ultra-Light-Fast-Generic-Face-Detector-1MB" TargetMode="Externa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2603.17357" TargetMode="Externa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5211F"/>
        </a:solidFill>
        <a:effectLst/>
      </p:bgPr>
    </p:bg>
    <p:spTree>
      <p:nvGrpSpPr>
        <p:cNvPr id="1" name=""/>
        <p:cNvGrpSpPr/>
        <p:nvPr/>
      </p:nvGrpSpPr>
      <p:grpSpPr/>
      <p:sp>
        <p:nvSpPr>
          <p:cNvPr id="2" name="TextBox 1"/>
          <p:cNvSpPr txBox="1"/>
          <p:nvPr/>
        </p:nvSpPr>
        <p:spPr>
          <a:xfrm>
            <a:off x="548640" y="265176"/>
            <a:ext cx="8321040" cy="274320"/>
          </a:xfrm>
          <a:prstGeom prst="rect">
            <a:avLst/>
          </a:prstGeom>
          <a:noFill/>
        </p:spPr>
        <p:txBody>
          <a:bodyPr wrap="square" tIns="0" bIns="0" lIns="0" rIns="0">
            <a:spAutoFit/>
          </a:bodyPr>
          <a:lstStyle/>
          <a:p>
            <a:pPr>
              <a:spcAft>
                <a:spcPts val="500"/>
              </a:spcAft>
              <a:defRPr sz="1100" b="1">
                <a:solidFill>
                  <a:srgbClr val="D8F36A"/>
                </a:solidFill>
                <a:latin typeface="Arial"/>
              </a:defRPr>
            </a:pPr>
            <a:r>
              <a:t>TITLE PAGE</a:t>
            </a:r>
          </a:p>
        </p:txBody>
      </p:sp>
      <p:sp>
        <p:nvSpPr>
          <p:cNvPr id="3" name="TextBox 2"/>
          <p:cNvSpPr txBox="1"/>
          <p:nvPr/>
        </p:nvSpPr>
        <p:spPr>
          <a:xfrm>
            <a:off x="9144000" y="265176"/>
            <a:ext cx="2514600" cy="274320"/>
          </a:xfrm>
          <a:prstGeom prst="rect">
            <a:avLst/>
          </a:prstGeom>
          <a:noFill/>
        </p:spPr>
        <p:txBody>
          <a:bodyPr wrap="square" tIns="0" bIns="0" lIns="0" rIns="0">
            <a:spAutoFit/>
          </a:bodyPr>
          <a:lstStyle/>
          <a:p>
            <a:pPr>
              <a:spcAft>
                <a:spcPts val="500"/>
              </a:spcAft>
              <a:defRPr sz="1100" b="1">
                <a:solidFill>
                  <a:srgbClr val="F3F1E7"/>
                </a:solidFill>
                <a:latin typeface="Arial"/>
              </a:defRPr>
            </a:pPr>
            <a:r>
              <a:t>DHRISTI / SIH26171</a:t>
            </a:r>
          </a:p>
        </p:txBody>
      </p:sp>
      <p:sp>
        <p:nvSpPr>
          <p:cNvPr id="4" name="TextBox 3"/>
          <p:cNvSpPr txBox="1"/>
          <p:nvPr/>
        </p:nvSpPr>
        <p:spPr>
          <a:xfrm>
            <a:off x="548640" y="868680"/>
            <a:ext cx="11064240" cy="1069848"/>
          </a:xfrm>
          <a:prstGeom prst="rect">
            <a:avLst/>
          </a:prstGeom>
          <a:noFill/>
        </p:spPr>
        <p:txBody>
          <a:bodyPr wrap="square" tIns="0" bIns="0" lIns="0" rIns="0">
            <a:spAutoFit/>
          </a:bodyPr>
          <a:lstStyle/>
          <a:p>
            <a:pPr>
              <a:spcAft>
                <a:spcPts val="500"/>
              </a:spcAft>
              <a:defRPr sz="4000" b="1">
                <a:solidFill>
                  <a:srgbClr val="F3F1E7"/>
                </a:solidFill>
                <a:latin typeface="Arial"/>
              </a:defRPr>
            </a:pPr>
            <a:r>
              <a:t>Let the agent see</a:t>
            </a:r>
          </a:p>
          <a:p>
            <a:pPr>
              <a:spcAft>
                <a:spcPts val="500"/>
              </a:spcAft>
              <a:defRPr sz="4000" b="1">
                <a:solidFill>
                  <a:srgbClr val="F3F1E7"/>
                </a:solidFill>
                <a:latin typeface="Arial"/>
              </a:defRPr>
            </a:pPr>
            <a:r>
              <a:t>what it needs.</a:t>
            </a:r>
          </a:p>
        </p:txBody>
      </p:sp>
      <p:sp>
        <p:nvSpPr>
          <p:cNvPr id="5" name="TextBox 4"/>
          <p:cNvSpPr txBox="1"/>
          <p:nvPr/>
        </p:nvSpPr>
        <p:spPr>
          <a:xfrm>
            <a:off x="576072" y="2267712"/>
            <a:ext cx="10972800" cy="566928"/>
          </a:xfrm>
          <a:prstGeom prst="rect">
            <a:avLst/>
          </a:prstGeom>
          <a:noFill/>
        </p:spPr>
        <p:txBody>
          <a:bodyPr wrap="square" tIns="0" bIns="0" lIns="0" rIns="0">
            <a:spAutoFit/>
          </a:bodyPr>
          <a:lstStyle/>
          <a:p>
            <a:pPr>
              <a:spcAft>
                <a:spcPts val="500"/>
              </a:spcAft>
              <a:defRPr sz="1800" b="0">
                <a:solidFill>
                  <a:srgbClr val="F3F1E7"/>
                </a:solidFill>
                <a:latin typeface="Arial"/>
              </a:defRPr>
            </a:pPr>
            <a:r>
              <a:t>Dhristi · On-device Visual Perception for Light-weight Browser Agents</a:t>
            </a:r>
          </a:p>
        </p:txBody>
      </p:sp>
      <p:cxnSp>
        <p:nvCxnSpPr>
          <p:cNvPr id="6" name="Connector 5"/>
          <p:cNvCxnSpPr/>
          <p:nvPr/>
        </p:nvCxnSpPr>
        <p:spPr>
          <a:xfrm>
            <a:off x="548640" y="6391656"/>
            <a:ext cx="11064240" cy="0"/>
          </a:xfrm>
          <a:prstGeom prst="line">
            <a:avLst/>
          </a:prstGeom>
          <a:ln w="8890">
            <a:solidFill>
              <a:srgbClr val="29473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28816"/>
            <a:ext cx="9144000" cy="201168"/>
          </a:xfrm>
          <a:prstGeom prst="rect">
            <a:avLst/>
          </a:prstGeom>
          <a:noFill/>
        </p:spPr>
        <p:txBody>
          <a:bodyPr wrap="square" tIns="0" bIns="0" lIns="0" rIns="0">
            <a:spAutoFit/>
          </a:bodyPr>
          <a:lstStyle/>
          <a:p>
            <a:pPr>
              <a:spcAft>
                <a:spcPts val="500"/>
              </a:spcAft>
              <a:defRPr sz="1000" b="0">
                <a:solidFill>
                  <a:srgbClr val="F3F1E7"/>
                </a:solidFill>
                <a:latin typeface="Arial"/>
              </a:defRPr>
            </a:pPr>
            <a:r>
              <a:t>RV UNIVERSITY · ENGINEERING CANDIDATE v0.1 · 11 SEP 2026</a:t>
            </a:r>
          </a:p>
        </p:txBody>
      </p:sp>
      <p:sp>
        <p:nvSpPr>
          <p:cNvPr id="8" name="TextBox 7"/>
          <p:cNvSpPr txBox="1"/>
          <p:nvPr/>
        </p:nvSpPr>
        <p:spPr>
          <a:xfrm>
            <a:off x="10881360" y="6528816"/>
            <a:ext cx="768096" cy="201168"/>
          </a:xfrm>
          <a:prstGeom prst="rect">
            <a:avLst/>
          </a:prstGeom>
          <a:noFill/>
        </p:spPr>
        <p:txBody>
          <a:bodyPr wrap="square" tIns="0" bIns="0" lIns="0" rIns="0">
            <a:spAutoFit/>
          </a:bodyPr>
          <a:lstStyle/>
          <a:p>
            <a:pPr>
              <a:spcAft>
                <a:spcPts val="500"/>
              </a:spcAft>
              <a:defRPr sz="1000" b="0">
                <a:solidFill>
                  <a:srgbClr val="F3F1E7"/>
                </a:solidFill>
                <a:latin typeface="Arial"/>
              </a:defRPr>
            </a:pPr>
            <a:r>
              <a:t>01 / 15</a:t>
            </a:r>
          </a:p>
        </p:txBody>
      </p:sp>
      <p:sp>
        <p:nvSpPr>
          <p:cNvPr id="9" name="Rectangle 8"/>
          <p:cNvSpPr/>
          <p:nvPr/>
        </p:nvSpPr>
        <p:spPr>
          <a:xfrm>
            <a:off x="566928" y="3236976"/>
            <a:ext cx="7351775" cy="2048256"/>
          </a:xfrm>
          <a:prstGeom prst="rect">
            <a:avLst/>
          </a:prstGeom>
          <a:solidFill>
            <a:srgbClr val="D8F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3566160"/>
            <a:ext cx="6903720" cy="1298448"/>
          </a:xfrm>
          <a:prstGeom prst="rect">
            <a:avLst/>
          </a:prstGeom>
          <a:noFill/>
        </p:spPr>
        <p:txBody>
          <a:bodyPr wrap="square" tIns="0" bIns="0" lIns="0" rIns="0">
            <a:spAutoFit/>
          </a:bodyPr>
          <a:lstStyle/>
          <a:p>
            <a:pPr>
              <a:spcAft>
                <a:spcPts val="500"/>
              </a:spcAft>
              <a:defRPr sz="3200" b="1">
                <a:solidFill>
                  <a:srgbClr val="15211F"/>
                </a:solidFill>
                <a:latin typeface="Arial"/>
              </a:defRPr>
            </a:pPr>
            <a:r>
              <a:t>Local perception.</a:t>
            </a:r>
          </a:p>
          <a:p>
            <a:pPr>
              <a:spcAft>
                <a:spcPts val="500"/>
              </a:spcAft>
              <a:defRPr sz="3200" b="1">
                <a:solidFill>
                  <a:srgbClr val="15211F"/>
                </a:solidFill>
                <a:latin typeface="Arial"/>
              </a:defRPr>
            </a:pPr>
            <a:r>
              <a:t>A smaller privacy boundary.</a:t>
            </a:r>
          </a:p>
        </p:txBody>
      </p:sp>
      <p:sp>
        <p:nvSpPr>
          <p:cNvPr id="11" name="TextBox 10"/>
          <p:cNvSpPr txBox="1"/>
          <p:nvPr/>
        </p:nvSpPr>
        <p:spPr>
          <a:xfrm>
            <a:off x="8375904" y="3538728"/>
            <a:ext cx="3236976" cy="1444752"/>
          </a:xfrm>
          <a:prstGeom prst="rect">
            <a:avLst/>
          </a:prstGeom>
          <a:noFill/>
        </p:spPr>
        <p:txBody>
          <a:bodyPr wrap="square" tIns="0" bIns="0" lIns="0" rIns="0">
            <a:spAutoFit/>
          </a:bodyPr>
          <a:lstStyle/>
          <a:p>
            <a:pPr>
              <a:spcAft>
                <a:spcPts val="500"/>
              </a:spcAft>
              <a:defRPr sz="2200" b="0">
                <a:solidFill>
                  <a:srgbClr val="F3F1E7"/>
                </a:solidFill>
                <a:latin typeface="Arial"/>
              </a:defRPr>
            </a:pPr>
            <a:r>
              <a:t>SIH26171</a:t>
            </a:r>
          </a:p>
          <a:p>
            <a:pPr>
              <a:spcAft>
                <a:spcPts val="500"/>
              </a:spcAft>
              <a:defRPr sz="2200" b="0">
                <a:solidFill>
                  <a:srgbClr val="F3F1E7"/>
                </a:solidFill>
                <a:latin typeface="Arial"/>
              </a:defRPr>
            </a:pPr>
            <a:r>
              <a:t>ISRO · Smart Automation</a:t>
            </a:r>
          </a:p>
          <a:p>
            <a:pPr>
              <a:spcAft>
                <a:spcPts val="500"/>
              </a:spcAft>
              <a:defRPr sz="2200" b="0">
                <a:solidFill>
                  <a:srgbClr val="F3F1E7"/>
                </a:solidFill>
                <a:latin typeface="Arial"/>
              </a:defRPr>
            </a:pPr>
            <a:r>
              <a:t>Software</a:t>
            </a:r>
          </a:p>
        </p:txBody>
      </p:sp>
      <p:sp>
        <p:nvSpPr>
          <p:cNvPr id="12" name="TextBox 11"/>
          <p:cNvSpPr txBox="1"/>
          <p:nvPr/>
        </p:nvSpPr>
        <p:spPr>
          <a:xfrm>
            <a:off x="548640" y="5980176"/>
            <a:ext cx="11064240" cy="256032"/>
          </a:xfrm>
          <a:prstGeom prst="rect">
            <a:avLst/>
          </a:prstGeom>
          <a:noFill/>
        </p:spPr>
        <p:txBody>
          <a:bodyPr wrap="square" tIns="0" bIns="0" lIns="0" rIns="0">
            <a:spAutoFit/>
          </a:bodyPr>
          <a:lstStyle/>
          <a:p>
            <a:pPr>
              <a:spcAft>
                <a:spcPts val="500"/>
              </a:spcAft>
              <a:defRPr sz="1100" b="0">
                <a:solidFill>
                  <a:srgbClr val="F3F1E7"/>
                </a:solidFill>
                <a:latin typeface="Arial"/>
              </a:defRPr>
            </a:pPr>
            <a:r>
              <a:t>Working project name · RV University · Registered team ID/name pending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1E7"/>
        </a:solidFill>
        <a:effectLst/>
      </p:bgPr>
    </p:bg>
    <p:spTree>
      <p:nvGrpSpPr>
        <p:cNvPr id="1" name=""/>
        <p:cNvGrpSpPr/>
        <p:nvPr/>
      </p:nvGrpSpPr>
      <p:grpSpPr/>
      <p:sp>
        <p:nvSpPr>
          <p:cNvPr id="2" name="TextBox 1"/>
          <p:cNvSpPr txBox="1"/>
          <p:nvPr/>
        </p:nvSpPr>
        <p:spPr>
          <a:xfrm>
            <a:off x="548640" y="265176"/>
            <a:ext cx="8321040" cy="274320"/>
          </a:xfrm>
          <a:prstGeom prst="rect">
            <a:avLst/>
          </a:prstGeom>
          <a:noFill/>
        </p:spPr>
        <p:txBody>
          <a:bodyPr wrap="square" tIns="0" bIns="0" lIns="0" rIns="0">
            <a:spAutoFit/>
          </a:bodyPr>
          <a:lstStyle/>
          <a:p>
            <a:pPr>
              <a:spcAft>
                <a:spcPts val="500"/>
              </a:spcAft>
              <a:defRPr sz="1100" b="1">
                <a:solidFill>
                  <a:srgbClr val="29473F"/>
                </a:solidFill>
                <a:latin typeface="Arial"/>
              </a:defRPr>
            </a:pPr>
            <a:r>
              <a:t>IDEA TITLE</a:t>
            </a:r>
          </a:p>
        </p:txBody>
      </p:sp>
      <p:sp>
        <p:nvSpPr>
          <p:cNvPr id="3" name="TextBox 2"/>
          <p:cNvSpPr txBox="1"/>
          <p:nvPr/>
        </p:nvSpPr>
        <p:spPr>
          <a:xfrm>
            <a:off x="9144000" y="265176"/>
            <a:ext cx="2514600" cy="274320"/>
          </a:xfrm>
          <a:prstGeom prst="rect">
            <a:avLst/>
          </a:prstGeom>
          <a:noFill/>
        </p:spPr>
        <p:txBody>
          <a:bodyPr wrap="square" tIns="0" bIns="0" lIns="0" rIns="0">
            <a:spAutoFit/>
          </a:bodyPr>
          <a:lstStyle/>
          <a:p>
            <a:pPr>
              <a:spcAft>
                <a:spcPts val="500"/>
              </a:spcAft>
              <a:defRPr sz="1100" b="1">
                <a:solidFill>
                  <a:srgbClr val="15211F"/>
                </a:solidFill>
                <a:latin typeface="Arial"/>
              </a:defRPr>
            </a:pPr>
            <a:r>
              <a:t>DHRISTI / SIH26171</a:t>
            </a:r>
          </a:p>
        </p:txBody>
      </p:sp>
      <p:sp>
        <p:nvSpPr>
          <p:cNvPr id="4" name="TextBox 3"/>
          <p:cNvSpPr txBox="1"/>
          <p:nvPr/>
        </p:nvSpPr>
        <p:spPr>
          <a:xfrm>
            <a:off x="548640" y="868680"/>
            <a:ext cx="11064240" cy="1069848"/>
          </a:xfrm>
          <a:prstGeom prst="rect">
            <a:avLst/>
          </a:prstGeom>
          <a:noFill/>
        </p:spPr>
        <p:txBody>
          <a:bodyPr wrap="square" tIns="0" bIns="0" lIns="0" rIns="0">
            <a:spAutoFit/>
          </a:bodyPr>
          <a:lstStyle/>
          <a:p>
            <a:pPr>
              <a:spcAft>
                <a:spcPts val="500"/>
              </a:spcAft>
              <a:defRPr sz="4000" b="1">
                <a:solidFill>
                  <a:srgbClr val="15211F"/>
                </a:solidFill>
                <a:latin typeface="Arial"/>
              </a:defRPr>
            </a:pPr>
            <a:r>
              <a:t>A screen contains more than a task.</a:t>
            </a:r>
          </a:p>
        </p:txBody>
      </p:sp>
      <p:sp>
        <p:nvSpPr>
          <p:cNvPr id="5" name="TextBox 4"/>
          <p:cNvSpPr txBox="1"/>
          <p:nvPr/>
        </p:nvSpPr>
        <p:spPr>
          <a:xfrm>
            <a:off x="576072" y="1993392"/>
            <a:ext cx="10972800" cy="566928"/>
          </a:xfrm>
          <a:prstGeom prst="rect">
            <a:avLst/>
          </a:prstGeom>
          <a:noFill/>
        </p:spPr>
        <p:txBody>
          <a:bodyPr wrap="square" tIns="0" bIns="0" lIns="0" rIns="0">
            <a:spAutoFit/>
          </a:bodyPr>
          <a:lstStyle/>
          <a:p>
            <a:pPr>
              <a:spcAft>
                <a:spcPts val="500"/>
              </a:spcAft>
              <a:defRPr sz="1800" b="0">
                <a:solidFill>
                  <a:srgbClr val="52645C"/>
                </a:solidFill>
                <a:latin typeface="Arial"/>
              </a:defRPr>
            </a:pPr>
            <a:r>
              <a:t>The same view can expose identity, account information, a password field and useful controls.</a:t>
            </a:r>
          </a:p>
        </p:txBody>
      </p:sp>
      <p:cxnSp>
        <p:nvCxnSpPr>
          <p:cNvPr id="6" name="Connector 5"/>
          <p:cNvCxnSpPr/>
          <p:nvPr/>
        </p:nvCxnSpPr>
        <p:spPr>
          <a:xfrm>
            <a:off x="548640" y="6391656"/>
            <a:ext cx="11064240" cy="0"/>
          </a:xfrm>
          <a:prstGeom prst="line">
            <a:avLst/>
          </a:prstGeom>
          <a:ln w="8890">
            <a:solidFill>
              <a:srgbClr val="52645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28816"/>
            <a:ext cx="9144000" cy="201168"/>
          </a:xfrm>
          <a:prstGeom prst="rect">
            <a:avLst/>
          </a:prstGeom>
          <a:noFill/>
        </p:spPr>
        <p:txBody>
          <a:bodyPr wrap="square" tIns="0" bIns="0" lIns="0" rIns="0">
            <a:spAutoFit/>
          </a:bodyPr>
          <a:lstStyle/>
          <a:p>
            <a:pPr>
              <a:spcAft>
                <a:spcPts val="500"/>
              </a:spcAft>
              <a:defRPr sz="1000" b="0">
                <a:solidFill>
                  <a:srgbClr val="52645C"/>
                </a:solidFill>
                <a:latin typeface="Arial"/>
              </a:defRPr>
            </a:pPr>
            <a:r>
              <a:t>RV UNIVERSITY · ENGINEERING CANDIDATE v0.1 · 11 SEP 2026</a:t>
            </a:r>
          </a:p>
        </p:txBody>
      </p:sp>
      <p:sp>
        <p:nvSpPr>
          <p:cNvPr id="8" name="TextBox 7"/>
          <p:cNvSpPr txBox="1"/>
          <p:nvPr/>
        </p:nvSpPr>
        <p:spPr>
          <a:xfrm>
            <a:off x="10881360" y="6528816"/>
            <a:ext cx="768096" cy="201168"/>
          </a:xfrm>
          <a:prstGeom prst="rect">
            <a:avLst/>
          </a:prstGeom>
          <a:noFill/>
        </p:spPr>
        <p:txBody>
          <a:bodyPr wrap="square" tIns="0" bIns="0" lIns="0" rIns="0">
            <a:spAutoFit/>
          </a:bodyPr>
          <a:lstStyle/>
          <a:p>
            <a:pPr>
              <a:spcAft>
                <a:spcPts val="500"/>
              </a:spcAft>
              <a:defRPr sz="1000" b="0">
                <a:solidFill>
                  <a:srgbClr val="52645C"/>
                </a:solidFill>
                <a:latin typeface="Arial"/>
              </a:defRPr>
            </a:pPr>
            <a:r>
              <a:t>02 / 15</a:t>
            </a:r>
          </a:p>
        </p:txBody>
      </p:sp>
      <p:sp>
        <p:nvSpPr>
          <p:cNvPr id="9" name="Rectangle 8"/>
          <p:cNvSpPr/>
          <p:nvPr/>
        </p:nvSpPr>
        <p:spPr>
          <a:xfrm>
            <a:off x="566928" y="3136392"/>
            <a:ext cx="3438144" cy="21396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3364992"/>
            <a:ext cx="3063240" cy="731520"/>
          </a:xfrm>
          <a:prstGeom prst="rect">
            <a:avLst/>
          </a:prstGeom>
          <a:noFill/>
        </p:spPr>
        <p:txBody>
          <a:bodyPr wrap="square" tIns="0" bIns="0" lIns="0" rIns="0">
            <a:spAutoFit/>
          </a:bodyPr>
          <a:lstStyle/>
          <a:p>
            <a:pPr>
              <a:spcAft>
                <a:spcPts val="500"/>
              </a:spcAft>
              <a:defRPr sz="2600" b="1">
                <a:solidFill>
                  <a:srgbClr val="15211F"/>
                </a:solidFill>
                <a:latin typeface="Arial"/>
              </a:defRPr>
            </a:pPr>
            <a:r>
              <a:t>Sensitive context</a:t>
            </a:r>
          </a:p>
        </p:txBody>
      </p:sp>
      <p:sp>
        <p:nvSpPr>
          <p:cNvPr id="11" name="TextBox 10"/>
          <p:cNvSpPr txBox="1"/>
          <p:nvPr/>
        </p:nvSpPr>
        <p:spPr>
          <a:xfrm>
            <a:off x="749808" y="4306824"/>
            <a:ext cx="3063240" cy="731520"/>
          </a:xfrm>
          <a:prstGeom prst="rect">
            <a:avLst/>
          </a:prstGeom>
          <a:noFill/>
        </p:spPr>
        <p:txBody>
          <a:bodyPr wrap="square" tIns="0" bIns="0" lIns="0" rIns="0">
            <a:spAutoFit/>
          </a:bodyPr>
          <a:lstStyle/>
          <a:p>
            <a:pPr>
              <a:spcAft>
                <a:spcPts val="500"/>
              </a:spcAft>
              <a:defRPr sz="2100" b="0">
                <a:solidFill>
                  <a:srgbClr val="52645C"/>
                </a:solidFill>
                <a:latin typeface="Arial"/>
              </a:defRPr>
            </a:pPr>
            <a:r>
              <a:t>Face · account · form values</a:t>
            </a:r>
          </a:p>
        </p:txBody>
      </p:sp>
      <p:sp>
        <p:nvSpPr>
          <p:cNvPr id="12" name="Rectangle 11"/>
          <p:cNvSpPr/>
          <p:nvPr/>
        </p:nvSpPr>
        <p:spPr>
          <a:xfrm>
            <a:off x="4370832" y="3136392"/>
            <a:ext cx="3438144" cy="2139696"/>
          </a:xfrm>
          <a:prstGeom prst="rect">
            <a:avLst/>
          </a:prstGeom>
          <a:solidFill>
            <a:srgbClr val="D8F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3712" y="3364992"/>
            <a:ext cx="3063240" cy="731520"/>
          </a:xfrm>
          <a:prstGeom prst="rect">
            <a:avLst/>
          </a:prstGeom>
          <a:noFill/>
        </p:spPr>
        <p:txBody>
          <a:bodyPr wrap="square" tIns="0" bIns="0" lIns="0" rIns="0">
            <a:spAutoFit/>
          </a:bodyPr>
          <a:lstStyle/>
          <a:p>
            <a:pPr>
              <a:spcAft>
                <a:spcPts val="500"/>
              </a:spcAft>
              <a:defRPr sz="2600" b="1">
                <a:solidFill>
                  <a:srgbClr val="15211F"/>
                </a:solidFill>
                <a:latin typeface="Arial"/>
              </a:defRPr>
            </a:pPr>
            <a:r>
              <a:t>Useful structure</a:t>
            </a:r>
          </a:p>
        </p:txBody>
      </p:sp>
      <p:sp>
        <p:nvSpPr>
          <p:cNvPr id="14" name="TextBox 13"/>
          <p:cNvSpPr txBox="1"/>
          <p:nvPr/>
        </p:nvSpPr>
        <p:spPr>
          <a:xfrm>
            <a:off x="4553712" y="4306824"/>
            <a:ext cx="3063240" cy="731520"/>
          </a:xfrm>
          <a:prstGeom prst="rect">
            <a:avLst/>
          </a:prstGeom>
          <a:noFill/>
        </p:spPr>
        <p:txBody>
          <a:bodyPr wrap="square" tIns="0" bIns="0" lIns="0" rIns="0">
            <a:spAutoFit/>
          </a:bodyPr>
          <a:lstStyle/>
          <a:p>
            <a:pPr>
              <a:spcAft>
                <a:spcPts val="500"/>
              </a:spcAft>
              <a:defRPr sz="2100" b="0">
                <a:solidFill>
                  <a:srgbClr val="52645C"/>
                </a:solidFill>
                <a:latin typeface="Arial"/>
              </a:defRPr>
            </a:pPr>
            <a:r>
              <a:t>Geometry · approved controls</a:t>
            </a:r>
          </a:p>
        </p:txBody>
      </p:sp>
      <p:sp>
        <p:nvSpPr>
          <p:cNvPr id="15" name="Rectangle 14"/>
          <p:cNvSpPr/>
          <p:nvPr/>
        </p:nvSpPr>
        <p:spPr>
          <a:xfrm>
            <a:off x="8174736" y="3136392"/>
            <a:ext cx="3438144" cy="21396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7615" y="3364992"/>
            <a:ext cx="3063240" cy="731520"/>
          </a:xfrm>
          <a:prstGeom prst="rect">
            <a:avLst/>
          </a:prstGeom>
          <a:noFill/>
        </p:spPr>
        <p:txBody>
          <a:bodyPr wrap="square" tIns="0" bIns="0" lIns="0" rIns="0">
            <a:spAutoFit/>
          </a:bodyPr>
          <a:lstStyle/>
          <a:p>
            <a:pPr>
              <a:spcAft>
                <a:spcPts val="500"/>
              </a:spcAft>
              <a:defRPr sz="2600" b="1">
                <a:solidFill>
                  <a:srgbClr val="15211F"/>
                </a:solidFill>
                <a:latin typeface="Arial"/>
              </a:defRPr>
            </a:pPr>
            <a:r>
              <a:t>Agent task</a:t>
            </a:r>
          </a:p>
        </p:txBody>
      </p:sp>
      <p:sp>
        <p:nvSpPr>
          <p:cNvPr id="17" name="TextBox 16"/>
          <p:cNvSpPr txBox="1"/>
          <p:nvPr/>
        </p:nvSpPr>
        <p:spPr>
          <a:xfrm>
            <a:off x="8357615" y="4306824"/>
            <a:ext cx="3063240" cy="731520"/>
          </a:xfrm>
          <a:prstGeom prst="rect">
            <a:avLst/>
          </a:prstGeom>
          <a:noFill/>
        </p:spPr>
        <p:txBody>
          <a:bodyPr wrap="square" tIns="0" bIns="0" lIns="0" rIns="0">
            <a:spAutoFit/>
          </a:bodyPr>
          <a:lstStyle/>
          <a:p>
            <a:pPr>
              <a:spcAft>
                <a:spcPts val="500"/>
              </a:spcAft>
              <a:defRPr sz="2100" b="0">
                <a:solidFill>
                  <a:srgbClr val="52645C"/>
                </a:solidFill>
                <a:latin typeface="Arial"/>
              </a:defRPr>
            </a:pPr>
            <a:r>
              <a:t>Find a pending request</a:t>
            </a:r>
          </a:p>
        </p:txBody>
      </p:sp>
      <p:sp>
        <p:nvSpPr>
          <p:cNvPr id="18" name="TextBox 17"/>
          <p:cNvSpPr txBox="1"/>
          <p:nvPr/>
        </p:nvSpPr>
        <p:spPr>
          <a:xfrm>
            <a:off x="548640" y="5980176"/>
            <a:ext cx="11064240" cy="256032"/>
          </a:xfrm>
          <a:prstGeom prst="rect">
            <a:avLst/>
          </a:prstGeom>
          <a:noFill/>
        </p:spPr>
        <p:txBody>
          <a:bodyPr wrap="square" tIns="0" bIns="0" lIns="0" rIns="0">
            <a:spAutoFit/>
          </a:bodyPr>
          <a:lstStyle/>
          <a:p>
            <a:pPr>
              <a:spcAft>
                <a:spcPts val="500"/>
              </a:spcAft>
              <a:defRPr sz="1100" b="0">
                <a:solidFill>
                  <a:srgbClr val="52645C"/>
                </a:solidFill>
                <a:latin typeface="Arial"/>
              </a:defRPr>
            </a:pPr>
            <a:r>
              <a:rPr>
                <a:hlinkClick r:id="rId2"/>
              </a:rPr>
              <a:t>Problem basis: SIH26171. UI PII coverage is an active research problem: WebPII (2026 preprint).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1E7"/>
        </a:solidFill>
        <a:effectLst/>
      </p:bgPr>
    </p:bg>
    <p:spTree>
      <p:nvGrpSpPr>
        <p:cNvPr id="1" name=""/>
        <p:cNvGrpSpPr/>
        <p:nvPr/>
      </p:nvGrpSpPr>
      <p:grpSpPr/>
      <p:sp>
        <p:nvSpPr>
          <p:cNvPr id="2" name="TextBox 1"/>
          <p:cNvSpPr txBox="1"/>
          <p:nvPr/>
        </p:nvSpPr>
        <p:spPr>
          <a:xfrm>
            <a:off x="548640" y="265176"/>
            <a:ext cx="8321040" cy="274320"/>
          </a:xfrm>
          <a:prstGeom prst="rect">
            <a:avLst/>
          </a:prstGeom>
          <a:noFill/>
        </p:spPr>
        <p:txBody>
          <a:bodyPr wrap="square" tIns="0" bIns="0" lIns="0" rIns="0">
            <a:spAutoFit/>
          </a:bodyPr>
          <a:lstStyle/>
          <a:p>
            <a:pPr>
              <a:spcAft>
                <a:spcPts val="500"/>
              </a:spcAft>
              <a:defRPr sz="1100" b="1">
                <a:solidFill>
                  <a:srgbClr val="29473F"/>
                </a:solidFill>
                <a:latin typeface="Arial"/>
              </a:defRPr>
            </a:pPr>
            <a:r>
              <a:t>IDEA TITLE</a:t>
            </a:r>
          </a:p>
        </p:txBody>
      </p:sp>
      <p:sp>
        <p:nvSpPr>
          <p:cNvPr id="3" name="TextBox 2"/>
          <p:cNvSpPr txBox="1"/>
          <p:nvPr/>
        </p:nvSpPr>
        <p:spPr>
          <a:xfrm>
            <a:off x="9144000" y="265176"/>
            <a:ext cx="2514600" cy="274320"/>
          </a:xfrm>
          <a:prstGeom prst="rect">
            <a:avLst/>
          </a:prstGeom>
          <a:noFill/>
        </p:spPr>
        <p:txBody>
          <a:bodyPr wrap="square" tIns="0" bIns="0" lIns="0" rIns="0">
            <a:spAutoFit/>
          </a:bodyPr>
          <a:lstStyle/>
          <a:p>
            <a:pPr>
              <a:spcAft>
                <a:spcPts val="500"/>
              </a:spcAft>
              <a:defRPr sz="1100" b="1">
                <a:solidFill>
                  <a:srgbClr val="15211F"/>
                </a:solidFill>
                <a:latin typeface="Arial"/>
              </a:defRPr>
            </a:pPr>
            <a:r>
              <a:t>DHRISTI / SIH26171</a:t>
            </a:r>
          </a:p>
        </p:txBody>
      </p:sp>
      <p:sp>
        <p:nvSpPr>
          <p:cNvPr id="4" name="TextBox 3"/>
          <p:cNvSpPr txBox="1"/>
          <p:nvPr/>
        </p:nvSpPr>
        <p:spPr>
          <a:xfrm>
            <a:off x="548640" y="868680"/>
            <a:ext cx="11064240" cy="1069848"/>
          </a:xfrm>
          <a:prstGeom prst="rect">
            <a:avLst/>
          </a:prstGeom>
          <a:noFill/>
        </p:spPr>
        <p:txBody>
          <a:bodyPr wrap="square" tIns="0" bIns="0" lIns="0" rIns="0">
            <a:spAutoFit/>
          </a:bodyPr>
          <a:lstStyle/>
          <a:p>
            <a:pPr>
              <a:spcAft>
                <a:spcPts val="500"/>
              </a:spcAft>
              <a:defRPr sz="4000" b="1">
                <a:solidFill>
                  <a:srgbClr val="15211F"/>
                </a:solidFill>
                <a:latin typeface="Arial"/>
              </a:defRPr>
            </a:pPr>
            <a:r>
              <a:t>Optimize the real judging dimensions.</a:t>
            </a:r>
          </a:p>
        </p:txBody>
      </p:sp>
      <p:sp>
        <p:nvSpPr>
          <p:cNvPr id="5" name="TextBox 4"/>
          <p:cNvSpPr txBox="1"/>
          <p:nvPr/>
        </p:nvSpPr>
        <p:spPr>
          <a:xfrm>
            <a:off x="576072" y="1993392"/>
            <a:ext cx="10972800" cy="566928"/>
          </a:xfrm>
          <a:prstGeom prst="rect">
            <a:avLst/>
          </a:prstGeom>
          <a:noFill/>
        </p:spPr>
        <p:txBody>
          <a:bodyPr wrap="square" tIns="0" bIns="0" lIns="0" rIns="0">
            <a:spAutoFit/>
          </a:bodyPr>
          <a:lstStyle/>
          <a:p>
            <a:pPr>
              <a:spcAft>
                <a:spcPts val="500"/>
              </a:spcAft>
              <a:defRPr sz="1800" b="0">
                <a:solidFill>
                  <a:srgbClr val="52645C"/>
                </a:solidFill>
                <a:latin typeface="Arial"/>
              </a:defRPr>
            </a:pPr>
            <a:r>
              <a:t>Organizer weights guide the evaluation plan. They are not our scores.</a:t>
            </a:r>
          </a:p>
        </p:txBody>
      </p:sp>
      <p:cxnSp>
        <p:nvCxnSpPr>
          <p:cNvPr id="6" name="Connector 5"/>
          <p:cNvCxnSpPr/>
          <p:nvPr/>
        </p:nvCxnSpPr>
        <p:spPr>
          <a:xfrm>
            <a:off x="548640" y="6391656"/>
            <a:ext cx="11064240" cy="0"/>
          </a:xfrm>
          <a:prstGeom prst="line">
            <a:avLst/>
          </a:prstGeom>
          <a:ln w="8890">
            <a:solidFill>
              <a:srgbClr val="52645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28816"/>
            <a:ext cx="9144000" cy="201168"/>
          </a:xfrm>
          <a:prstGeom prst="rect">
            <a:avLst/>
          </a:prstGeom>
          <a:noFill/>
        </p:spPr>
        <p:txBody>
          <a:bodyPr wrap="square" tIns="0" bIns="0" lIns="0" rIns="0">
            <a:spAutoFit/>
          </a:bodyPr>
          <a:lstStyle/>
          <a:p>
            <a:pPr>
              <a:spcAft>
                <a:spcPts val="500"/>
              </a:spcAft>
              <a:defRPr sz="1000" b="0">
                <a:solidFill>
                  <a:srgbClr val="52645C"/>
                </a:solidFill>
                <a:latin typeface="Arial"/>
              </a:defRPr>
            </a:pPr>
            <a:r>
              <a:t>RV UNIVERSITY · ENGINEERING CANDIDATE v0.1 · 11 SEP 2026</a:t>
            </a:r>
          </a:p>
        </p:txBody>
      </p:sp>
      <p:sp>
        <p:nvSpPr>
          <p:cNvPr id="8" name="TextBox 7"/>
          <p:cNvSpPr txBox="1"/>
          <p:nvPr/>
        </p:nvSpPr>
        <p:spPr>
          <a:xfrm>
            <a:off x="10881360" y="6528816"/>
            <a:ext cx="768096" cy="201168"/>
          </a:xfrm>
          <a:prstGeom prst="rect">
            <a:avLst/>
          </a:prstGeom>
          <a:noFill/>
        </p:spPr>
        <p:txBody>
          <a:bodyPr wrap="square" tIns="0" bIns="0" lIns="0" rIns="0">
            <a:spAutoFit/>
          </a:bodyPr>
          <a:lstStyle/>
          <a:p>
            <a:pPr>
              <a:spcAft>
                <a:spcPts val="500"/>
              </a:spcAft>
              <a:defRPr sz="1000" b="0">
                <a:solidFill>
                  <a:srgbClr val="52645C"/>
                </a:solidFill>
                <a:latin typeface="Arial"/>
              </a:defRPr>
            </a:pPr>
            <a:r>
              <a:t>03 / 15</a:t>
            </a:r>
          </a:p>
        </p:txBody>
      </p:sp>
      <p:sp>
        <p:nvSpPr>
          <p:cNvPr id="9" name="TextBox 8"/>
          <p:cNvSpPr txBox="1"/>
          <p:nvPr/>
        </p:nvSpPr>
        <p:spPr>
          <a:xfrm>
            <a:off x="576072" y="2852928"/>
            <a:ext cx="4005072" cy="320040"/>
          </a:xfrm>
          <a:prstGeom prst="rect">
            <a:avLst/>
          </a:prstGeom>
          <a:noFill/>
        </p:spPr>
        <p:txBody>
          <a:bodyPr wrap="square" tIns="0" bIns="0" lIns="0" rIns="0">
            <a:spAutoFit/>
          </a:bodyPr>
          <a:lstStyle/>
          <a:p>
            <a:pPr>
              <a:spcAft>
                <a:spcPts val="500"/>
              </a:spcAft>
              <a:defRPr sz="2000" b="1">
                <a:solidFill>
                  <a:srgbClr val="15211F"/>
                </a:solidFill>
                <a:latin typeface="Arial"/>
              </a:defRPr>
            </a:pPr>
            <a:r>
              <a:t>Visual-context accuracy</a:t>
            </a:r>
          </a:p>
        </p:txBody>
      </p:sp>
      <p:sp>
        <p:nvSpPr>
          <p:cNvPr id="10" name="Rectangle 9"/>
          <p:cNvSpPr/>
          <p:nvPr/>
        </p:nvSpPr>
        <p:spPr>
          <a:xfrm>
            <a:off x="4773168" y="2898648"/>
            <a:ext cx="5372100" cy="228600"/>
          </a:xfrm>
          <a:prstGeom prst="rect">
            <a:avLst/>
          </a:prstGeom>
          <a:solidFill>
            <a:srgbClr val="2947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79608" y="2852928"/>
            <a:ext cx="822960" cy="365760"/>
          </a:xfrm>
          <a:prstGeom prst="rect">
            <a:avLst/>
          </a:prstGeom>
          <a:noFill/>
        </p:spPr>
        <p:txBody>
          <a:bodyPr wrap="square" tIns="0" bIns="0" lIns="0" rIns="0">
            <a:spAutoFit/>
          </a:bodyPr>
          <a:lstStyle/>
          <a:p>
            <a:pPr>
              <a:spcAft>
                <a:spcPts val="500"/>
              </a:spcAft>
              <a:defRPr sz="2100" b="1">
                <a:solidFill>
                  <a:srgbClr val="15211F"/>
                </a:solidFill>
                <a:latin typeface="Arial"/>
              </a:defRPr>
            </a:pPr>
            <a:r>
              <a:t>25%</a:t>
            </a:r>
          </a:p>
        </p:txBody>
      </p:sp>
      <p:sp>
        <p:nvSpPr>
          <p:cNvPr id="12" name="TextBox 11"/>
          <p:cNvSpPr txBox="1"/>
          <p:nvPr/>
        </p:nvSpPr>
        <p:spPr>
          <a:xfrm>
            <a:off x="576072" y="3392424"/>
            <a:ext cx="4005072" cy="320040"/>
          </a:xfrm>
          <a:prstGeom prst="rect">
            <a:avLst/>
          </a:prstGeom>
          <a:noFill/>
        </p:spPr>
        <p:txBody>
          <a:bodyPr wrap="square" tIns="0" bIns="0" lIns="0" rIns="0">
            <a:spAutoFit/>
          </a:bodyPr>
          <a:lstStyle/>
          <a:p>
            <a:pPr>
              <a:spcAft>
                <a:spcPts val="500"/>
              </a:spcAft>
              <a:defRPr sz="2000" b="1">
                <a:solidFill>
                  <a:srgbClr val="15211F"/>
                </a:solidFill>
                <a:latin typeface="Arial"/>
              </a:defRPr>
            </a:pPr>
            <a:r>
              <a:t>PII recall and precision</a:t>
            </a:r>
          </a:p>
        </p:txBody>
      </p:sp>
      <p:sp>
        <p:nvSpPr>
          <p:cNvPr id="13" name="Rectangle 12"/>
          <p:cNvSpPr/>
          <p:nvPr/>
        </p:nvSpPr>
        <p:spPr>
          <a:xfrm>
            <a:off x="4773168" y="3438144"/>
            <a:ext cx="4297679" cy="228600"/>
          </a:xfrm>
          <a:prstGeom prst="rect">
            <a:avLst/>
          </a:prstGeom>
          <a:solidFill>
            <a:srgbClr val="2947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79608" y="3392424"/>
            <a:ext cx="822960" cy="365760"/>
          </a:xfrm>
          <a:prstGeom prst="rect">
            <a:avLst/>
          </a:prstGeom>
          <a:noFill/>
        </p:spPr>
        <p:txBody>
          <a:bodyPr wrap="square" tIns="0" bIns="0" lIns="0" rIns="0">
            <a:spAutoFit/>
          </a:bodyPr>
          <a:lstStyle/>
          <a:p>
            <a:pPr>
              <a:spcAft>
                <a:spcPts val="500"/>
              </a:spcAft>
              <a:defRPr sz="2100" b="1">
                <a:solidFill>
                  <a:srgbClr val="15211F"/>
                </a:solidFill>
                <a:latin typeface="Arial"/>
              </a:defRPr>
            </a:pPr>
            <a:r>
              <a:t>20%</a:t>
            </a:r>
          </a:p>
        </p:txBody>
      </p:sp>
      <p:sp>
        <p:nvSpPr>
          <p:cNvPr id="15" name="TextBox 14"/>
          <p:cNvSpPr txBox="1"/>
          <p:nvPr/>
        </p:nvSpPr>
        <p:spPr>
          <a:xfrm>
            <a:off x="576072" y="3931920"/>
            <a:ext cx="4005072" cy="320040"/>
          </a:xfrm>
          <a:prstGeom prst="rect">
            <a:avLst/>
          </a:prstGeom>
          <a:noFill/>
        </p:spPr>
        <p:txBody>
          <a:bodyPr wrap="square" tIns="0" bIns="0" lIns="0" rIns="0">
            <a:spAutoFit/>
          </a:bodyPr>
          <a:lstStyle/>
          <a:p>
            <a:pPr>
              <a:spcAft>
                <a:spcPts val="500"/>
              </a:spcAft>
              <a:defRPr sz="2000" b="1">
                <a:solidFill>
                  <a:srgbClr val="15211F"/>
                </a:solidFill>
                <a:latin typeface="Arial"/>
              </a:defRPr>
            </a:pPr>
            <a:r>
              <a:t>Redaction precision</a:t>
            </a:r>
          </a:p>
        </p:txBody>
      </p:sp>
      <p:sp>
        <p:nvSpPr>
          <p:cNvPr id="16" name="Rectangle 15"/>
          <p:cNvSpPr/>
          <p:nvPr/>
        </p:nvSpPr>
        <p:spPr>
          <a:xfrm>
            <a:off x="4773168" y="3977639"/>
            <a:ext cx="4297679" cy="228600"/>
          </a:xfrm>
          <a:prstGeom prst="rect">
            <a:avLst/>
          </a:prstGeom>
          <a:solidFill>
            <a:srgbClr val="2947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79608" y="3931920"/>
            <a:ext cx="822960" cy="365760"/>
          </a:xfrm>
          <a:prstGeom prst="rect">
            <a:avLst/>
          </a:prstGeom>
          <a:noFill/>
        </p:spPr>
        <p:txBody>
          <a:bodyPr wrap="square" tIns="0" bIns="0" lIns="0" rIns="0">
            <a:spAutoFit/>
          </a:bodyPr>
          <a:lstStyle/>
          <a:p>
            <a:pPr>
              <a:spcAft>
                <a:spcPts val="500"/>
              </a:spcAft>
              <a:defRPr sz="2100" b="1">
                <a:solidFill>
                  <a:srgbClr val="15211F"/>
                </a:solidFill>
                <a:latin typeface="Arial"/>
              </a:defRPr>
            </a:pPr>
            <a:r>
              <a:t>20%</a:t>
            </a:r>
          </a:p>
        </p:txBody>
      </p:sp>
      <p:sp>
        <p:nvSpPr>
          <p:cNvPr id="18" name="TextBox 17"/>
          <p:cNvSpPr txBox="1"/>
          <p:nvPr/>
        </p:nvSpPr>
        <p:spPr>
          <a:xfrm>
            <a:off x="576072" y="4471416"/>
            <a:ext cx="4005072" cy="320040"/>
          </a:xfrm>
          <a:prstGeom prst="rect">
            <a:avLst/>
          </a:prstGeom>
          <a:noFill/>
        </p:spPr>
        <p:txBody>
          <a:bodyPr wrap="square" tIns="0" bIns="0" lIns="0" rIns="0">
            <a:spAutoFit/>
          </a:bodyPr>
          <a:lstStyle/>
          <a:p>
            <a:pPr>
              <a:spcAft>
                <a:spcPts val="500"/>
              </a:spcAft>
              <a:defRPr sz="2000" b="1">
                <a:solidFill>
                  <a:srgbClr val="15211F"/>
                </a:solidFill>
                <a:latin typeface="Arial"/>
              </a:defRPr>
            </a:pPr>
            <a:r>
              <a:t>Client resource use</a:t>
            </a:r>
          </a:p>
        </p:txBody>
      </p:sp>
      <p:sp>
        <p:nvSpPr>
          <p:cNvPr id="19" name="Rectangle 18"/>
          <p:cNvSpPr/>
          <p:nvPr/>
        </p:nvSpPr>
        <p:spPr>
          <a:xfrm>
            <a:off x="4773168" y="4517136"/>
            <a:ext cx="4297679" cy="228600"/>
          </a:xfrm>
          <a:prstGeom prst="rect">
            <a:avLst/>
          </a:prstGeom>
          <a:solidFill>
            <a:srgbClr val="2947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79608" y="4471416"/>
            <a:ext cx="822960" cy="365760"/>
          </a:xfrm>
          <a:prstGeom prst="rect">
            <a:avLst/>
          </a:prstGeom>
          <a:noFill/>
        </p:spPr>
        <p:txBody>
          <a:bodyPr wrap="square" tIns="0" bIns="0" lIns="0" rIns="0">
            <a:spAutoFit/>
          </a:bodyPr>
          <a:lstStyle/>
          <a:p>
            <a:pPr>
              <a:spcAft>
                <a:spcPts val="500"/>
              </a:spcAft>
              <a:defRPr sz="2100" b="1">
                <a:solidFill>
                  <a:srgbClr val="15211F"/>
                </a:solidFill>
                <a:latin typeface="Arial"/>
              </a:defRPr>
            </a:pPr>
            <a:r>
              <a:t>20%</a:t>
            </a:r>
          </a:p>
        </p:txBody>
      </p:sp>
      <p:sp>
        <p:nvSpPr>
          <p:cNvPr id="21" name="TextBox 20"/>
          <p:cNvSpPr txBox="1"/>
          <p:nvPr/>
        </p:nvSpPr>
        <p:spPr>
          <a:xfrm>
            <a:off x="576072" y="5010912"/>
            <a:ext cx="4005072" cy="320040"/>
          </a:xfrm>
          <a:prstGeom prst="rect">
            <a:avLst/>
          </a:prstGeom>
          <a:noFill/>
        </p:spPr>
        <p:txBody>
          <a:bodyPr wrap="square" tIns="0" bIns="0" lIns="0" rIns="0">
            <a:spAutoFit/>
          </a:bodyPr>
          <a:lstStyle/>
          <a:p>
            <a:pPr>
              <a:spcAft>
                <a:spcPts val="500"/>
              </a:spcAft>
              <a:defRPr sz="2000" b="1">
                <a:solidFill>
                  <a:srgbClr val="15211F"/>
                </a:solidFill>
                <a:latin typeface="Arial"/>
              </a:defRPr>
            </a:pPr>
            <a:r>
              <a:t>Overall task latency</a:t>
            </a:r>
          </a:p>
        </p:txBody>
      </p:sp>
      <p:sp>
        <p:nvSpPr>
          <p:cNvPr id="22" name="Rectangle 21"/>
          <p:cNvSpPr/>
          <p:nvPr/>
        </p:nvSpPr>
        <p:spPr>
          <a:xfrm>
            <a:off x="4773168" y="5056632"/>
            <a:ext cx="3223260" cy="228600"/>
          </a:xfrm>
          <a:prstGeom prst="rect">
            <a:avLst/>
          </a:prstGeom>
          <a:solidFill>
            <a:srgbClr val="2947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79608" y="5010912"/>
            <a:ext cx="822960" cy="365760"/>
          </a:xfrm>
          <a:prstGeom prst="rect">
            <a:avLst/>
          </a:prstGeom>
          <a:noFill/>
        </p:spPr>
        <p:txBody>
          <a:bodyPr wrap="square" tIns="0" bIns="0" lIns="0" rIns="0">
            <a:spAutoFit/>
          </a:bodyPr>
          <a:lstStyle/>
          <a:p>
            <a:pPr>
              <a:spcAft>
                <a:spcPts val="500"/>
              </a:spcAft>
              <a:defRPr sz="2100" b="1">
                <a:solidFill>
                  <a:srgbClr val="15211F"/>
                </a:solidFill>
                <a:latin typeface="Arial"/>
              </a:defRPr>
            </a:pPr>
            <a:r>
              <a:t>15%</a:t>
            </a:r>
          </a:p>
        </p:txBody>
      </p:sp>
      <p:sp>
        <p:nvSpPr>
          <p:cNvPr id="24" name="TextBox 23"/>
          <p:cNvSpPr txBox="1"/>
          <p:nvPr/>
        </p:nvSpPr>
        <p:spPr>
          <a:xfrm>
            <a:off x="548640" y="5980176"/>
            <a:ext cx="11064240" cy="256032"/>
          </a:xfrm>
          <a:prstGeom prst="rect">
            <a:avLst/>
          </a:prstGeom>
          <a:noFill/>
        </p:spPr>
        <p:txBody>
          <a:bodyPr wrap="square" tIns="0" bIns="0" lIns="0" rIns="0">
            <a:spAutoFit/>
          </a:bodyPr>
          <a:lstStyle/>
          <a:p>
            <a:pPr>
              <a:spcAft>
                <a:spcPts val="500"/>
              </a:spcAft>
              <a:defRPr sz="1100" b="0">
                <a:solidFill>
                  <a:srgbClr val="52645C"/>
                </a:solidFill>
                <a:latin typeface="Arial"/>
              </a:defRPr>
            </a:pPr>
            <a:r>
              <a:rPr>
                <a:hlinkClick r:id="rId2"/>
              </a:rPr>
              <a:t>Official weights: SIH 2026 catalogue. Complete scoring formulas are not supplied.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1E7"/>
        </a:solidFill>
        <a:effectLst/>
      </p:bgPr>
    </p:bg>
    <p:spTree>
      <p:nvGrpSpPr>
        <p:cNvPr id="1" name=""/>
        <p:cNvGrpSpPr/>
        <p:nvPr/>
      </p:nvGrpSpPr>
      <p:grpSpPr/>
      <p:sp>
        <p:nvSpPr>
          <p:cNvPr id="2" name="TextBox 1"/>
          <p:cNvSpPr txBox="1"/>
          <p:nvPr/>
        </p:nvSpPr>
        <p:spPr>
          <a:xfrm>
            <a:off x="548640" y="265176"/>
            <a:ext cx="8321040" cy="274320"/>
          </a:xfrm>
          <a:prstGeom prst="rect">
            <a:avLst/>
          </a:prstGeom>
          <a:noFill/>
        </p:spPr>
        <p:txBody>
          <a:bodyPr wrap="square" tIns="0" bIns="0" lIns="0" rIns="0">
            <a:spAutoFit/>
          </a:bodyPr>
          <a:lstStyle/>
          <a:p>
            <a:pPr>
              <a:spcAft>
                <a:spcPts val="500"/>
              </a:spcAft>
              <a:defRPr sz="1100" b="1">
                <a:solidFill>
                  <a:srgbClr val="29473F"/>
                </a:solidFill>
                <a:latin typeface="Arial"/>
              </a:defRPr>
            </a:pPr>
            <a:r>
              <a:t>TECHNICAL APPROACH</a:t>
            </a:r>
          </a:p>
        </p:txBody>
      </p:sp>
      <p:sp>
        <p:nvSpPr>
          <p:cNvPr id="3" name="TextBox 2"/>
          <p:cNvSpPr txBox="1"/>
          <p:nvPr/>
        </p:nvSpPr>
        <p:spPr>
          <a:xfrm>
            <a:off x="9144000" y="265176"/>
            <a:ext cx="2514600" cy="274320"/>
          </a:xfrm>
          <a:prstGeom prst="rect">
            <a:avLst/>
          </a:prstGeom>
          <a:noFill/>
        </p:spPr>
        <p:txBody>
          <a:bodyPr wrap="square" tIns="0" bIns="0" lIns="0" rIns="0">
            <a:spAutoFit/>
          </a:bodyPr>
          <a:lstStyle/>
          <a:p>
            <a:pPr>
              <a:spcAft>
                <a:spcPts val="500"/>
              </a:spcAft>
              <a:defRPr sz="1100" b="1">
                <a:solidFill>
                  <a:srgbClr val="15211F"/>
                </a:solidFill>
                <a:latin typeface="Arial"/>
              </a:defRPr>
            </a:pPr>
            <a:r>
              <a:t>DHRISTI / SIH26171</a:t>
            </a:r>
          </a:p>
        </p:txBody>
      </p:sp>
      <p:sp>
        <p:nvSpPr>
          <p:cNvPr id="4" name="TextBox 3"/>
          <p:cNvSpPr txBox="1"/>
          <p:nvPr/>
        </p:nvSpPr>
        <p:spPr>
          <a:xfrm>
            <a:off x="548640" y="868680"/>
            <a:ext cx="11064240" cy="1069848"/>
          </a:xfrm>
          <a:prstGeom prst="rect">
            <a:avLst/>
          </a:prstGeom>
          <a:noFill/>
        </p:spPr>
        <p:txBody>
          <a:bodyPr wrap="square" tIns="0" bIns="0" lIns="0" rIns="0">
            <a:spAutoFit/>
          </a:bodyPr>
          <a:lstStyle/>
          <a:p>
            <a:pPr>
              <a:spcAft>
                <a:spcPts val="500"/>
              </a:spcAft>
              <a:defRPr sz="4000" b="1">
                <a:solidFill>
                  <a:srgbClr val="15211F"/>
                </a:solidFill>
                <a:latin typeface="Arial"/>
              </a:defRPr>
            </a:pPr>
            <a:r>
              <a:t>The privacy decision stays in the browser.</a:t>
            </a:r>
          </a:p>
        </p:txBody>
      </p:sp>
      <p:sp>
        <p:nvSpPr>
          <p:cNvPr id="5" name="TextBox 4"/>
          <p:cNvSpPr txBox="1"/>
          <p:nvPr/>
        </p:nvSpPr>
        <p:spPr>
          <a:xfrm>
            <a:off x="576072" y="1993392"/>
            <a:ext cx="10972800" cy="566928"/>
          </a:xfrm>
          <a:prstGeom prst="rect">
            <a:avLst/>
          </a:prstGeom>
          <a:noFill/>
        </p:spPr>
        <p:txBody>
          <a:bodyPr wrap="square" tIns="0" bIns="0" lIns="0" rIns="0">
            <a:spAutoFit/>
          </a:bodyPr>
          <a:lstStyle/>
          <a:p>
            <a:pPr>
              <a:spcAft>
                <a:spcPts val="500"/>
              </a:spcAft>
              <a:defRPr sz="1800" b="0">
                <a:solidFill>
                  <a:srgbClr val="52645C"/>
                </a:solidFill>
                <a:latin typeface="Arial"/>
              </a:defRPr>
            </a:pPr>
            <a:r>
              <a:t>Actual v0.1 flow: local CV + DOM → protected scene → server reasoning → reviewed local action.</a:t>
            </a:r>
          </a:p>
        </p:txBody>
      </p:sp>
      <p:cxnSp>
        <p:nvCxnSpPr>
          <p:cNvPr id="6" name="Connector 5"/>
          <p:cNvCxnSpPr/>
          <p:nvPr/>
        </p:nvCxnSpPr>
        <p:spPr>
          <a:xfrm>
            <a:off x="548640" y="6391656"/>
            <a:ext cx="11064240" cy="0"/>
          </a:xfrm>
          <a:prstGeom prst="line">
            <a:avLst/>
          </a:prstGeom>
          <a:ln w="8890">
            <a:solidFill>
              <a:srgbClr val="52645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28816"/>
            <a:ext cx="9144000" cy="201168"/>
          </a:xfrm>
          <a:prstGeom prst="rect">
            <a:avLst/>
          </a:prstGeom>
          <a:noFill/>
        </p:spPr>
        <p:txBody>
          <a:bodyPr wrap="square" tIns="0" bIns="0" lIns="0" rIns="0">
            <a:spAutoFit/>
          </a:bodyPr>
          <a:lstStyle/>
          <a:p>
            <a:pPr>
              <a:spcAft>
                <a:spcPts val="500"/>
              </a:spcAft>
              <a:defRPr sz="1000" b="0">
                <a:solidFill>
                  <a:srgbClr val="52645C"/>
                </a:solidFill>
                <a:latin typeface="Arial"/>
              </a:defRPr>
            </a:pPr>
            <a:r>
              <a:t>RV UNIVERSITY · ENGINEERING CANDIDATE v0.1 · 11 SEP 2026</a:t>
            </a:r>
          </a:p>
        </p:txBody>
      </p:sp>
      <p:sp>
        <p:nvSpPr>
          <p:cNvPr id="8" name="TextBox 7"/>
          <p:cNvSpPr txBox="1"/>
          <p:nvPr/>
        </p:nvSpPr>
        <p:spPr>
          <a:xfrm>
            <a:off x="10881360" y="6528816"/>
            <a:ext cx="768096" cy="201168"/>
          </a:xfrm>
          <a:prstGeom prst="rect">
            <a:avLst/>
          </a:prstGeom>
          <a:noFill/>
        </p:spPr>
        <p:txBody>
          <a:bodyPr wrap="square" tIns="0" bIns="0" lIns="0" rIns="0">
            <a:spAutoFit/>
          </a:bodyPr>
          <a:lstStyle/>
          <a:p>
            <a:pPr>
              <a:spcAft>
                <a:spcPts val="500"/>
              </a:spcAft>
              <a:defRPr sz="1000" b="0">
                <a:solidFill>
                  <a:srgbClr val="52645C"/>
                </a:solidFill>
                <a:latin typeface="Arial"/>
              </a:defRPr>
            </a:pPr>
            <a:r>
              <a:t>04 / 15</a:t>
            </a:r>
          </a:p>
        </p:txBody>
      </p:sp>
      <p:sp>
        <p:nvSpPr>
          <p:cNvPr id="9" name="Rectangle 8"/>
          <p:cNvSpPr/>
          <p:nvPr/>
        </p:nvSpPr>
        <p:spPr>
          <a:xfrm>
            <a:off x="566928" y="3099816"/>
            <a:ext cx="2423160" cy="1618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3328416"/>
            <a:ext cx="2093976" cy="457200"/>
          </a:xfrm>
          <a:prstGeom prst="rect">
            <a:avLst/>
          </a:prstGeom>
          <a:noFill/>
        </p:spPr>
        <p:txBody>
          <a:bodyPr wrap="square" tIns="0" bIns="0" lIns="0" rIns="0">
            <a:spAutoFit/>
          </a:bodyPr>
          <a:lstStyle/>
          <a:p>
            <a:pPr>
              <a:spcAft>
                <a:spcPts val="500"/>
              </a:spcAft>
              <a:defRPr sz="2500" b="1">
                <a:solidFill>
                  <a:srgbClr val="15211F"/>
                </a:solidFill>
                <a:latin typeface="Arial"/>
              </a:defRPr>
            </a:pPr>
            <a:r>
              <a:t>Capture</a:t>
            </a:r>
          </a:p>
        </p:txBody>
      </p:sp>
      <p:sp>
        <p:nvSpPr>
          <p:cNvPr id="11" name="TextBox 10"/>
          <p:cNvSpPr txBox="1"/>
          <p:nvPr/>
        </p:nvSpPr>
        <p:spPr>
          <a:xfrm>
            <a:off x="731520" y="3995928"/>
            <a:ext cx="2093976" cy="548640"/>
          </a:xfrm>
          <a:prstGeom prst="rect">
            <a:avLst/>
          </a:prstGeom>
          <a:noFill/>
        </p:spPr>
        <p:txBody>
          <a:bodyPr wrap="square" tIns="0" bIns="0" lIns="0" rIns="0">
            <a:spAutoFit/>
          </a:bodyPr>
          <a:lstStyle/>
          <a:p>
            <a:pPr>
              <a:spcAft>
                <a:spcPts val="500"/>
              </a:spcAft>
              <a:defRPr sz="1800" b="0">
                <a:solidFill>
                  <a:srgbClr val="52645C"/>
                </a:solidFill>
                <a:latin typeface="Arial"/>
              </a:defRPr>
            </a:pPr>
            <a:r>
              <a:t>Screen remains local</a:t>
            </a:r>
          </a:p>
        </p:txBody>
      </p:sp>
      <p:sp>
        <p:nvSpPr>
          <p:cNvPr id="12" name="Rectangle 11"/>
          <p:cNvSpPr/>
          <p:nvPr/>
        </p:nvSpPr>
        <p:spPr>
          <a:xfrm>
            <a:off x="3438144" y="3099816"/>
            <a:ext cx="2423160" cy="1618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02736" y="3328416"/>
            <a:ext cx="2093976" cy="457200"/>
          </a:xfrm>
          <a:prstGeom prst="rect">
            <a:avLst/>
          </a:prstGeom>
          <a:noFill/>
        </p:spPr>
        <p:txBody>
          <a:bodyPr wrap="square" tIns="0" bIns="0" lIns="0" rIns="0">
            <a:spAutoFit/>
          </a:bodyPr>
          <a:lstStyle/>
          <a:p>
            <a:pPr>
              <a:spcAft>
                <a:spcPts val="500"/>
              </a:spcAft>
              <a:defRPr sz="2500" b="1">
                <a:solidFill>
                  <a:srgbClr val="15211F"/>
                </a:solidFill>
                <a:latin typeface="Arial"/>
              </a:defRPr>
            </a:pPr>
            <a:r>
              <a:t>Protect</a:t>
            </a:r>
          </a:p>
        </p:txBody>
      </p:sp>
      <p:sp>
        <p:nvSpPr>
          <p:cNvPr id="14" name="TextBox 13"/>
          <p:cNvSpPr txBox="1"/>
          <p:nvPr/>
        </p:nvSpPr>
        <p:spPr>
          <a:xfrm>
            <a:off x="3602736" y="3995928"/>
            <a:ext cx="2093976" cy="548640"/>
          </a:xfrm>
          <a:prstGeom prst="rect">
            <a:avLst/>
          </a:prstGeom>
          <a:noFill/>
        </p:spPr>
        <p:txBody>
          <a:bodyPr wrap="square" tIns="0" bIns="0" lIns="0" rIns="0">
            <a:spAutoFit/>
          </a:bodyPr>
          <a:lstStyle/>
          <a:p>
            <a:pPr>
              <a:spcAft>
                <a:spcPts val="500"/>
              </a:spcAft>
              <a:defRPr sz="1800" b="0">
                <a:solidFill>
                  <a:srgbClr val="52645C"/>
                </a:solidFill>
                <a:latin typeface="Arial"/>
              </a:defRPr>
            </a:pPr>
            <a:r>
              <a:t>CV + strict scene</a:t>
            </a:r>
          </a:p>
        </p:txBody>
      </p:sp>
      <p:sp>
        <p:nvSpPr>
          <p:cNvPr id="15" name="Rectangle 14"/>
          <p:cNvSpPr/>
          <p:nvPr/>
        </p:nvSpPr>
        <p:spPr>
          <a:xfrm>
            <a:off x="6309360" y="3099816"/>
            <a:ext cx="2423160" cy="1618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73952" y="3328416"/>
            <a:ext cx="2093976" cy="457200"/>
          </a:xfrm>
          <a:prstGeom prst="rect">
            <a:avLst/>
          </a:prstGeom>
          <a:noFill/>
        </p:spPr>
        <p:txBody>
          <a:bodyPr wrap="square" tIns="0" bIns="0" lIns="0" rIns="0">
            <a:spAutoFit/>
          </a:bodyPr>
          <a:lstStyle/>
          <a:p>
            <a:pPr>
              <a:spcAft>
                <a:spcPts val="500"/>
              </a:spcAft>
              <a:defRPr sz="2500" b="1">
                <a:solidFill>
                  <a:srgbClr val="15211F"/>
                </a:solidFill>
                <a:latin typeface="Arial"/>
              </a:defRPr>
            </a:pPr>
            <a:r>
              <a:t>Reason</a:t>
            </a:r>
          </a:p>
        </p:txBody>
      </p:sp>
      <p:sp>
        <p:nvSpPr>
          <p:cNvPr id="17" name="TextBox 16"/>
          <p:cNvSpPr txBox="1"/>
          <p:nvPr/>
        </p:nvSpPr>
        <p:spPr>
          <a:xfrm>
            <a:off x="6473952" y="3995928"/>
            <a:ext cx="2093976" cy="548640"/>
          </a:xfrm>
          <a:prstGeom prst="rect">
            <a:avLst/>
          </a:prstGeom>
          <a:noFill/>
        </p:spPr>
        <p:txBody>
          <a:bodyPr wrap="square" tIns="0" bIns="0" lIns="0" rIns="0">
            <a:spAutoFit/>
          </a:bodyPr>
          <a:lstStyle/>
          <a:p>
            <a:pPr>
              <a:spcAft>
                <a:spcPts val="500"/>
              </a:spcAft>
              <a:defRPr sz="1800" b="0">
                <a:solidFill>
                  <a:srgbClr val="52645C"/>
                </a:solidFill>
                <a:latin typeface="Arial"/>
              </a:defRPr>
            </a:pPr>
            <a:r>
              <a:t>Qwen2.5 server</a:t>
            </a:r>
          </a:p>
        </p:txBody>
      </p:sp>
      <p:sp>
        <p:nvSpPr>
          <p:cNvPr id="18" name="Rectangle 17"/>
          <p:cNvSpPr/>
          <p:nvPr/>
        </p:nvSpPr>
        <p:spPr>
          <a:xfrm>
            <a:off x="9180576" y="3099816"/>
            <a:ext cx="2423160" cy="1618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45167" y="3328416"/>
            <a:ext cx="2093976" cy="457200"/>
          </a:xfrm>
          <a:prstGeom prst="rect">
            <a:avLst/>
          </a:prstGeom>
          <a:noFill/>
        </p:spPr>
        <p:txBody>
          <a:bodyPr wrap="square" tIns="0" bIns="0" lIns="0" rIns="0">
            <a:spAutoFit/>
          </a:bodyPr>
          <a:lstStyle/>
          <a:p>
            <a:pPr>
              <a:spcAft>
                <a:spcPts val="500"/>
              </a:spcAft>
              <a:defRPr sz="2500" b="1">
                <a:solidFill>
                  <a:srgbClr val="15211F"/>
                </a:solidFill>
                <a:latin typeface="Arial"/>
              </a:defRPr>
            </a:pPr>
            <a:r>
              <a:t>Confirm</a:t>
            </a:r>
          </a:p>
        </p:txBody>
      </p:sp>
      <p:sp>
        <p:nvSpPr>
          <p:cNvPr id="20" name="TextBox 19"/>
          <p:cNvSpPr txBox="1"/>
          <p:nvPr/>
        </p:nvSpPr>
        <p:spPr>
          <a:xfrm>
            <a:off x="9345167" y="3995928"/>
            <a:ext cx="2093976" cy="548640"/>
          </a:xfrm>
          <a:prstGeom prst="rect">
            <a:avLst/>
          </a:prstGeom>
          <a:noFill/>
        </p:spPr>
        <p:txBody>
          <a:bodyPr wrap="square" tIns="0" bIns="0" lIns="0" rIns="0">
            <a:spAutoFit/>
          </a:bodyPr>
          <a:lstStyle/>
          <a:p>
            <a:pPr>
              <a:spcAft>
                <a:spcPts val="500"/>
              </a:spcAft>
              <a:defRPr sz="1800" b="0">
                <a:solidFill>
                  <a:srgbClr val="52645C"/>
                </a:solidFill>
                <a:latin typeface="Arial"/>
              </a:defRPr>
            </a:pPr>
            <a:r>
              <a:t>Validated action</a:t>
            </a:r>
          </a:p>
        </p:txBody>
      </p:sp>
      <p:sp>
        <p:nvSpPr>
          <p:cNvPr id="21" name="Chevron 20"/>
          <p:cNvSpPr/>
          <p:nvPr/>
        </p:nvSpPr>
        <p:spPr>
          <a:xfrm>
            <a:off x="3063240" y="3767328"/>
            <a:ext cx="265176" cy="237744"/>
          </a:xfrm>
          <a:prstGeom prst="chevron">
            <a:avLst/>
          </a:prstGeom>
          <a:solidFill>
            <a:srgbClr val="2947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hevron 21"/>
          <p:cNvSpPr/>
          <p:nvPr/>
        </p:nvSpPr>
        <p:spPr>
          <a:xfrm>
            <a:off x="5934456" y="3767328"/>
            <a:ext cx="265176" cy="237744"/>
          </a:xfrm>
          <a:prstGeom prst="chevron">
            <a:avLst/>
          </a:prstGeom>
          <a:solidFill>
            <a:srgbClr val="2947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hevron 22"/>
          <p:cNvSpPr/>
          <p:nvPr/>
        </p:nvSpPr>
        <p:spPr>
          <a:xfrm>
            <a:off x="8805672" y="3767328"/>
            <a:ext cx="265176" cy="237744"/>
          </a:xfrm>
          <a:prstGeom prst="chevron">
            <a:avLst/>
          </a:prstGeom>
          <a:solidFill>
            <a:srgbClr val="2947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5166360"/>
            <a:ext cx="5129784" cy="475488"/>
          </a:xfrm>
          <a:prstGeom prst="rect">
            <a:avLst/>
          </a:prstGeom>
          <a:solidFill>
            <a:srgbClr val="D8F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5285232"/>
            <a:ext cx="4764024" cy="246888"/>
          </a:xfrm>
          <a:prstGeom prst="rect">
            <a:avLst/>
          </a:prstGeom>
          <a:noFill/>
        </p:spPr>
        <p:txBody>
          <a:bodyPr wrap="square" tIns="0" bIns="0" lIns="0" rIns="0">
            <a:spAutoFit/>
          </a:bodyPr>
          <a:lstStyle/>
          <a:p>
            <a:pPr>
              <a:spcAft>
                <a:spcPts val="500"/>
              </a:spcAft>
              <a:defRPr sz="1300" b="1">
                <a:solidFill>
                  <a:srgbClr val="15211F"/>
                </a:solidFill>
                <a:latin typeface="Arial"/>
              </a:defRPr>
            </a:pPr>
            <a:r>
              <a:t>BROWSER · raw capture never enters the plan request</a:t>
            </a:r>
          </a:p>
        </p:txBody>
      </p:sp>
      <p:sp>
        <p:nvSpPr>
          <p:cNvPr id="26" name="TextBox 25"/>
          <p:cNvSpPr txBox="1"/>
          <p:nvPr/>
        </p:nvSpPr>
        <p:spPr>
          <a:xfrm>
            <a:off x="6327648" y="5239512"/>
            <a:ext cx="5257800" cy="548640"/>
          </a:xfrm>
          <a:prstGeom prst="rect">
            <a:avLst/>
          </a:prstGeom>
          <a:noFill/>
        </p:spPr>
        <p:txBody>
          <a:bodyPr wrap="square" tIns="0" bIns="0" lIns="0" rIns="0">
            <a:spAutoFit/>
          </a:bodyPr>
          <a:lstStyle/>
          <a:p>
            <a:pPr>
              <a:spcAft>
                <a:spcPts val="500"/>
              </a:spcAft>
              <a:defRPr sz="1800" b="1">
                <a:solidFill>
                  <a:srgbClr val="29473F"/>
                </a:solidFill>
                <a:latin typeface="Arial"/>
              </a:defRPr>
            </a:pPr>
            <a:r>
              <a:t>Only protected geometry / labels cross the API.</a:t>
            </a:r>
          </a:p>
        </p:txBody>
      </p:sp>
      <p:sp>
        <p:nvSpPr>
          <p:cNvPr id="27" name="TextBox 26"/>
          <p:cNvSpPr txBox="1"/>
          <p:nvPr/>
        </p:nvSpPr>
        <p:spPr>
          <a:xfrm>
            <a:off x="548640" y="5980176"/>
            <a:ext cx="11064240" cy="256032"/>
          </a:xfrm>
          <a:prstGeom prst="rect">
            <a:avLst/>
          </a:prstGeom>
          <a:noFill/>
        </p:spPr>
        <p:txBody>
          <a:bodyPr wrap="square" tIns="0" bIns="0" lIns="0" rIns="0">
            <a:spAutoFit/>
          </a:bodyPr>
          <a:lstStyle/>
          <a:p>
            <a:pPr>
              <a:spcAft>
                <a:spcPts val="500"/>
              </a:spcAft>
              <a:defRPr sz="1100" b="0">
                <a:solidFill>
                  <a:srgbClr val="52645C"/>
                </a:solidFill>
                <a:latin typeface="Arial"/>
              </a:defRPr>
            </a:pPr>
            <a:r>
              <a:t>Implementation: Prototype/README.md · server LLM consumes layout data, not image pixels.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1E7"/>
        </a:solidFill>
        <a:effectLst/>
      </p:bgPr>
    </p:bg>
    <p:spTree>
      <p:nvGrpSpPr>
        <p:cNvPr id="1" name=""/>
        <p:cNvGrpSpPr/>
        <p:nvPr/>
      </p:nvGrpSpPr>
      <p:grpSpPr/>
      <p:sp>
        <p:nvSpPr>
          <p:cNvPr id="2" name="TextBox 1"/>
          <p:cNvSpPr txBox="1"/>
          <p:nvPr/>
        </p:nvSpPr>
        <p:spPr>
          <a:xfrm>
            <a:off x="548640" y="265176"/>
            <a:ext cx="8321040" cy="274320"/>
          </a:xfrm>
          <a:prstGeom prst="rect">
            <a:avLst/>
          </a:prstGeom>
          <a:noFill/>
        </p:spPr>
        <p:txBody>
          <a:bodyPr wrap="square" tIns="0" bIns="0" lIns="0" rIns="0">
            <a:spAutoFit/>
          </a:bodyPr>
          <a:lstStyle/>
          <a:p>
            <a:pPr>
              <a:spcAft>
                <a:spcPts val="500"/>
              </a:spcAft>
              <a:defRPr sz="1100" b="1">
                <a:solidFill>
                  <a:srgbClr val="29473F"/>
                </a:solidFill>
                <a:latin typeface="Arial"/>
              </a:defRPr>
            </a:pPr>
            <a:r>
              <a:t>TECHNICAL APPROACH</a:t>
            </a:r>
          </a:p>
        </p:txBody>
      </p:sp>
      <p:sp>
        <p:nvSpPr>
          <p:cNvPr id="3" name="TextBox 2"/>
          <p:cNvSpPr txBox="1"/>
          <p:nvPr/>
        </p:nvSpPr>
        <p:spPr>
          <a:xfrm>
            <a:off x="9144000" y="265176"/>
            <a:ext cx="2514600" cy="274320"/>
          </a:xfrm>
          <a:prstGeom prst="rect">
            <a:avLst/>
          </a:prstGeom>
          <a:noFill/>
        </p:spPr>
        <p:txBody>
          <a:bodyPr wrap="square" tIns="0" bIns="0" lIns="0" rIns="0">
            <a:spAutoFit/>
          </a:bodyPr>
          <a:lstStyle/>
          <a:p>
            <a:pPr>
              <a:spcAft>
                <a:spcPts val="500"/>
              </a:spcAft>
              <a:defRPr sz="1100" b="1">
                <a:solidFill>
                  <a:srgbClr val="15211F"/>
                </a:solidFill>
                <a:latin typeface="Arial"/>
              </a:defRPr>
            </a:pPr>
            <a:r>
              <a:t>DHRISTI / SIH26171</a:t>
            </a:r>
          </a:p>
        </p:txBody>
      </p:sp>
      <p:sp>
        <p:nvSpPr>
          <p:cNvPr id="4" name="TextBox 3"/>
          <p:cNvSpPr txBox="1"/>
          <p:nvPr/>
        </p:nvSpPr>
        <p:spPr>
          <a:xfrm>
            <a:off x="548640" y="868680"/>
            <a:ext cx="11064240" cy="1069848"/>
          </a:xfrm>
          <a:prstGeom prst="rect">
            <a:avLst/>
          </a:prstGeom>
          <a:noFill/>
        </p:spPr>
        <p:txBody>
          <a:bodyPr wrap="square" tIns="0" bIns="0" lIns="0" rIns="0">
            <a:spAutoFit/>
          </a:bodyPr>
          <a:lstStyle/>
          <a:p>
            <a:pPr>
              <a:spcAft>
                <a:spcPts val="500"/>
              </a:spcAft>
              <a:defRPr sz="4000" b="1">
                <a:solidFill>
                  <a:srgbClr val="15211F"/>
                </a:solidFill>
                <a:latin typeface="Arial"/>
              </a:defRPr>
            </a:pPr>
            <a:r>
              <a:t>Inspect exactly what the agent receives.</a:t>
            </a:r>
          </a:p>
        </p:txBody>
      </p:sp>
      <p:sp>
        <p:nvSpPr>
          <p:cNvPr id="5" name="TextBox 4"/>
          <p:cNvSpPr txBox="1"/>
          <p:nvPr/>
        </p:nvSpPr>
        <p:spPr>
          <a:xfrm>
            <a:off x="576072" y="1993392"/>
            <a:ext cx="10972800" cy="566928"/>
          </a:xfrm>
          <a:prstGeom prst="rect">
            <a:avLst/>
          </a:prstGeom>
          <a:noFill/>
        </p:spPr>
        <p:txBody>
          <a:bodyPr wrap="square" tIns="0" bIns="0" lIns="0" rIns="0">
            <a:spAutoFit/>
          </a:bodyPr>
          <a:lstStyle/>
          <a:p>
            <a:pPr>
              <a:spcAft>
                <a:spcPts val="500"/>
              </a:spcAft>
              <a:defRPr sz="1800" b="0">
                <a:solidFill>
                  <a:srgbClr val="52645C"/>
                </a:solidFill>
                <a:latin typeface="Arial"/>
              </a:defRPr>
            </a:pPr>
            <a:r>
              <a:t>Actual synthetic-demo capture. The protected view removes original text and media.</a:t>
            </a:r>
          </a:p>
        </p:txBody>
      </p:sp>
      <p:cxnSp>
        <p:nvCxnSpPr>
          <p:cNvPr id="6" name="Connector 5"/>
          <p:cNvCxnSpPr/>
          <p:nvPr/>
        </p:nvCxnSpPr>
        <p:spPr>
          <a:xfrm>
            <a:off x="548640" y="6391656"/>
            <a:ext cx="11064240" cy="0"/>
          </a:xfrm>
          <a:prstGeom prst="line">
            <a:avLst/>
          </a:prstGeom>
          <a:ln w="8890">
            <a:solidFill>
              <a:srgbClr val="52645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28816"/>
            <a:ext cx="9144000" cy="201168"/>
          </a:xfrm>
          <a:prstGeom prst="rect">
            <a:avLst/>
          </a:prstGeom>
          <a:noFill/>
        </p:spPr>
        <p:txBody>
          <a:bodyPr wrap="square" tIns="0" bIns="0" lIns="0" rIns="0">
            <a:spAutoFit/>
          </a:bodyPr>
          <a:lstStyle/>
          <a:p>
            <a:pPr>
              <a:spcAft>
                <a:spcPts val="500"/>
              </a:spcAft>
              <a:defRPr sz="1000" b="0">
                <a:solidFill>
                  <a:srgbClr val="52645C"/>
                </a:solidFill>
                <a:latin typeface="Arial"/>
              </a:defRPr>
            </a:pPr>
            <a:r>
              <a:t>RV UNIVERSITY · ENGINEERING CANDIDATE v0.1 · 11 SEP 2026</a:t>
            </a:r>
          </a:p>
        </p:txBody>
      </p:sp>
      <p:sp>
        <p:nvSpPr>
          <p:cNvPr id="8" name="TextBox 7"/>
          <p:cNvSpPr txBox="1"/>
          <p:nvPr/>
        </p:nvSpPr>
        <p:spPr>
          <a:xfrm>
            <a:off x="10881360" y="6528816"/>
            <a:ext cx="768096" cy="201168"/>
          </a:xfrm>
          <a:prstGeom prst="rect">
            <a:avLst/>
          </a:prstGeom>
          <a:noFill/>
        </p:spPr>
        <p:txBody>
          <a:bodyPr wrap="square" tIns="0" bIns="0" lIns="0" rIns="0">
            <a:spAutoFit/>
          </a:bodyPr>
          <a:lstStyle/>
          <a:p>
            <a:pPr>
              <a:spcAft>
                <a:spcPts val="500"/>
              </a:spcAft>
              <a:defRPr sz="1000" b="0">
                <a:solidFill>
                  <a:srgbClr val="52645C"/>
                </a:solidFill>
                <a:latin typeface="Arial"/>
              </a:defRPr>
            </a:pPr>
            <a:r>
              <a:t>05 / 15</a:t>
            </a:r>
          </a:p>
        </p:txBody>
      </p:sp>
      <p:pic>
        <p:nvPicPr>
          <p:cNvPr id="9" name="Picture 8" descr="prototype-full-v02.png"/>
          <p:cNvPicPr>
            <a:picLocks noChangeAspect="1"/>
          </p:cNvPicPr>
          <p:nvPr/>
        </p:nvPicPr>
        <p:blipFill>
          <a:blip r:embed="rId2"/>
          <a:srcRect l="2500" t="13250" r="52500" b="72750"/>
          <a:stretch>
            <a:fillRect/>
          </a:stretch>
        </p:blipFill>
        <p:spPr>
          <a:xfrm>
            <a:off x="1097280" y="2761488"/>
            <a:ext cx="6062472" cy="2916936"/>
          </a:xfrm>
          <a:prstGeom prst="rect">
            <a:avLst/>
          </a:prstGeom>
        </p:spPr>
      </p:pic>
      <p:sp>
        <p:nvSpPr>
          <p:cNvPr id="10" name="TextBox 9"/>
          <p:cNvSpPr txBox="1"/>
          <p:nvPr/>
        </p:nvSpPr>
        <p:spPr>
          <a:xfrm>
            <a:off x="8503920" y="2990088"/>
            <a:ext cx="3072384" cy="905256"/>
          </a:xfrm>
          <a:prstGeom prst="rect">
            <a:avLst/>
          </a:prstGeom>
          <a:noFill/>
        </p:spPr>
        <p:txBody>
          <a:bodyPr wrap="square" tIns="0" bIns="0" lIns="0" rIns="0">
            <a:spAutoFit/>
          </a:bodyPr>
          <a:lstStyle/>
          <a:p>
            <a:pPr>
              <a:spcAft>
                <a:spcPts val="500"/>
              </a:spcAft>
              <a:defRPr sz="2900" b="1">
                <a:solidFill>
                  <a:srgbClr val="15211F"/>
                </a:solidFill>
                <a:latin typeface="Arial"/>
              </a:defRPr>
            </a:pPr>
            <a:r>
              <a:t>Original screen</a:t>
            </a:r>
          </a:p>
          <a:p>
            <a:pPr>
              <a:spcAft>
                <a:spcPts val="500"/>
              </a:spcAft>
              <a:defRPr sz="2900" b="1">
                <a:solidFill>
                  <a:srgbClr val="15211F"/>
                </a:solidFill>
                <a:latin typeface="Arial"/>
              </a:defRPr>
            </a:pPr>
            <a:r>
              <a:t>stays local.</a:t>
            </a:r>
          </a:p>
        </p:txBody>
      </p:sp>
      <p:sp>
        <p:nvSpPr>
          <p:cNvPr id="11" name="TextBox 10"/>
          <p:cNvSpPr txBox="1"/>
          <p:nvPr/>
        </p:nvSpPr>
        <p:spPr>
          <a:xfrm>
            <a:off x="8503920" y="4242816"/>
            <a:ext cx="3072384" cy="1188720"/>
          </a:xfrm>
          <a:prstGeom prst="rect">
            <a:avLst/>
          </a:prstGeom>
          <a:noFill/>
        </p:spPr>
        <p:txBody>
          <a:bodyPr wrap="square" tIns="0" bIns="0" lIns="0" rIns="0">
            <a:spAutoFit/>
          </a:bodyPr>
          <a:lstStyle/>
          <a:p>
            <a:pPr>
              <a:spcAft>
                <a:spcPts val="500"/>
              </a:spcAft>
              <a:defRPr sz="2100" b="0">
                <a:solidFill>
                  <a:srgbClr val="52645C"/>
                </a:solidFill>
                <a:latin typeface="Arial"/>
              </a:defRPr>
            </a:pPr>
            <a:r>
              <a:t>Approved controls survive.</a:t>
            </a:r>
          </a:p>
          <a:p>
            <a:pPr>
              <a:spcAft>
                <a:spcPts val="500"/>
              </a:spcAft>
              <a:defRPr sz="2100" b="0">
                <a:solidFill>
                  <a:srgbClr val="52645C"/>
                </a:solidFill>
                <a:latin typeface="Arial"/>
              </a:defRPr>
            </a:pPr>
            <a:r>
              <a:t>Unknown text and pixels</a:t>
            </a:r>
          </a:p>
          <a:p>
            <a:pPr>
              <a:spcAft>
                <a:spcPts val="500"/>
              </a:spcAft>
              <a:defRPr sz="2100" b="0">
                <a:solidFill>
                  <a:srgbClr val="52645C"/>
                </a:solidFill>
                <a:latin typeface="Arial"/>
              </a:defRPr>
            </a:pPr>
            <a:r>
              <a:t>become opaque regions.</a:t>
            </a:r>
          </a:p>
        </p:txBody>
      </p:sp>
      <p:sp>
        <p:nvSpPr>
          <p:cNvPr id="12" name="TextBox 11"/>
          <p:cNvSpPr txBox="1"/>
          <p:nvPr/>
        </p:nvSpPr>
        <p:spPr>
          <a:xfrm>
            <a:off x="548640" y="5980176"/>
            <a:ext cx="11064240" cy="256032"/>
          </a:xfrm>
          <a:prstGeom prst="rect">
            <a:avLst/>
          </a:prstGeom>
          <a:noFill/>
        </p:spPr>
        <p:txBody>
          <a:bodyPr wrap="square" tIns="0" bIns="0" lIns="0" rIns="0">
            <a:spAutoFit/>
          </a:bodyPr>
          <a:lstStyle/>
          <a:p>
            <a:pPr>
              <a:spcAft>
                <a:spcPts val="500"/>
              </a:spcAft>
              <a:defRPr sz="1100" b="0">
                <a:solidFill>
                  <a:srgbClr val="52645C"/>
                </a:solidFill>
                <a:latin typeface="Arial"/>
              </a:defRPr>
            </a:pPr>
            <a:r>
              <a:t>Screenshot: delivered local build, 9 Sep 2026. Synthetic account; NASA reference image, not team portrait.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1E7"/>
        </a:solidFill>
        <a:effectLst/>
      </p:bgPr>
    </p:bg>
    <p:spTree>
      <p:nvGrpSpPr>
        <p:cNvPr id="1" name=""/>
        <p:cNvGrpSpPr/>
        <p:nvPr/>
      </p:nvGrpSpPr>
      <p:grpSpPr/>
      <p:sp>
        <p:nvSpPr>
          <p:cNvPr id="2" name="TextBox 1"/>
          <p:cNvSpPr txBox="1"/>
          <p:nvPr/>
        </p:nvSpPr>
        <p:spPr>
          <a:xfrm>
            <a:off x="548640" y="265176"/>
            <a:ext cx="8321040" cy="274320"/>
          </a:xfrm>
          <a:prstGeom prst="rect">
            <a:avLst/>
          </a:prstGeom>
          <a:noFill/>
        </p:spPr>
        <p:txBody>
          <a:bodyPr wrap="square" tIns="0" bIns="0" lIns="0" rIns="0">
            <a:spAutoFit/>
          </a:bodyPr>
          <a:lstStyle/>
          <a:p>
            <a:pPr>
              <a:spcAft>
                <a:spcPts val="500"/>
              </a:spcAft>
              <a:defRPr sz="1100" b="1">
                <a:solidFill>
                  <a:srgbClr val="29473F"/>
                </a:solidFill>
                <a:latin typeface="Arial"/>
              </a:defRPr>
            </a:pPr>
            <a:r>
              <a:t>TECHNICAL APPROACH</a:t>
            </a:r>
          </a:p>
        </p:txBody>
      </p:sp>
      <p:sp>
        <p:nvSpPr>
          <p:cNvPr id="3" name="TextBox 2"/>
          <p:cNvSpPr txBox="1"/>
          <p:nvPr/>
        </p:nvSpPr>
        <p:spPr>
          <a:xfrm>
            <a:off x="9144000" y="265176"/>
            <a:ext cx="2514600" cy="274320"/>
          </a:xfrm>
          <a:prstGeom prst="rect">
            <a:avLst/>
          </a:prstGeom>
          <a:noFill/>
        </p:spPr>
        <p:txBody>
          <a:bodyPr wrap="square" tIns="0" bIns="0" lIns="0" rIns="0">
            <a:spAutoFit/>
          </a:bodyPr>
          <a:lstStyle/>
          <a:p>
            <a:pPr>
              <a:spcAft>
                <a:spcPts val="500"/>
              </a:spcAft>
              <a:defRPr sz="1100" b="1">
                <a:solidFill>
                  <a:srgbClr val="15211F"/>
                </a:solidFill>
                <a:latin typeface="Arial"/>
              </a:defRPr>
            </a:pPr>
            <a:r>
              <a:t>DHRISTI / SIH26171</a:t>
            </a:r>
          </a:p>
        </p:txBody>
      </p:sp>
      <p:sp>
        <p:nvSpPr>
          <p:cNvPr id="4" name="TextBox 3"/>
          <p:cNvSpPr txBox="1"/>
          <p:nvPr/>
        </p:nvSpPr>
        <p:spPr>
          <a:xfrm>
            <a:off x="548640" y="868680"/>
            <a:ext cx="11064240" cy="1069848"/>
          </a:xfrm>
          <a:prstGeom prst="rect">
            <a:avLst/>
          </a:prstGeom>
          <a:noFill/>
        </p:spPr>
        <p:txBody>
          <a:bodyPr wrap="square" tIns="0" bIns="0" lIns="0" rIns="0">
            <a:spAutoFit/>
          </a:bodyPr>
          <a:lstStyle/>
          <a:p>
            <a:pPr>
              <a:spcAft>
                <a:spcPts val="500"/>
              </a:spcAft>
              <a:defRPr sz="4000" b="1">
                <a:solidFill>
                  <a:srgbClr val="15211F"/>
                </a:solidFill>
                <a:latin typeface="Arial"/>
              </a:defRPr>
            </a:pPr>
            <a:r>
              <a:t>Small model. Real local inference.</a:t>
            </a:r>
          </a:p>
        </p:txBody>
      </p:sp>
      <p:sp>
        <p:nvSpPr>
          <p:cNvPr id="5" name="TextBox 4"/>
          <p:cNvSpPr txBox="1"/>
          <p:nvPr/>
        </p:nvSpPr>
        <p:spPr>
          <a:xfrm>
            <a:off x="576072" y="1993392"/>
            <a:ext cx="10972800" cy="566928"/>
          </a:xfrm>
          <a:prstGeom prst="rect">
            <a:avLst/>
          </a:prstGeom>
          <a:noFill/>
        </p:spPr>
        <p:txBody>
          <a:bodyPr wrap="square" tIns="0" bIns="0" lIns="0" rIns="0">
            <a:spAutoFit/>
          </a:bodyPr>
          <a:lstStyle/>
          <a:p>
            <a:pPr>
              <a:spcAft>
                <a:spcPts val="500"/>
              </a:spcAft>
              <a:defRPr sz="1800" b="0">
                <a:solidFill>
                  <a:srgbClr val="52645C"/>
                </a:solidFill>
                <a:latin typeface="Arial"/>
              </a:defRPr>
            </a:pPr>
            <a:r>
              <a:t>UltraFace RFB-320 runs in packaged ONNX Runtime Web 1.23.2, single-thread WASM.</a:t>
            </a:r>
          </a:p>
        </p:txBody>
      </p:sp>
      <p:cxnSp>
        <p:nvCxnSpPr>
          <p:cNvPr id="6" name="Connector 5"/>
          <p:cNvCxnSpPr/>
          <p:nvPr/>
        </p:nvCxnSpPr>
        <p:spPr>
          <a:xfrm>
            <a:off x="548640" y="6391656"/>
            <a:ext cx="11064240" cy="0"/>
          </a:xfrm>
          <a:prstGeom prst="line">
            <a:avLst/>
          </a:prstGeom>
          <a:ln w="8890">
            <a:solidFill>
              <a:srgbClr val="52645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28816"/>
            <a:ext cx="9144000" cy="201168"/>
          </a:xfrm>
          <a:prstGeom prst="rect">
            <a:avLst/>
          </a:prstGeom>
          <a:noFill/>
        </p:spPr>
        <p:txBody>
          <a:bodyPr wrap="square" tIns="0" bIns="0" lIns="0" rIns="0">
            <a:spAutoFit/>
          </a:bodyPr>
          <a:lstStyle/>
          <a:p>
            <a:pPr>
              <a:spcAft>
                <a:spcPts val="500"/>
              </a:spcAft>
              <a:defRPr sz="1000" b="0">
                <a:solidFill>
                  <a:srgbClr val="52645C"/>
                </a:solidFill>
                <a:latin typeface="Arial"/>
              </a:defRPr>
            </a:pPr>
            <a:r>
              <a:t>RV UNIVERSITY · ENGINEERING CANDIDATE v0.1 · 11 SEP 2026</a:t>
            </a:r>
          </a:p>
        </p:txBody>
      </p:sp>
      <p:sp>
        <p:nvSpPr>
          <p:cNvPr id="8" name="TextBox 7"/>
          <p:cNvSpPr txBox="1"/>
          <p:nvPr/>
        </p:nvSpPr>
        <p:spPr>
          <a:xfrm>
            <a:off x="10881360" y="6528816"/>
            <a:ext cx="768096" cy="201168"/>
          </a:xfrm>
          <a:prstGeom prst="rect">
            <a:avLst/>
          </a:prstGeom>
          <a:noFill/>
        </p:spPr>
        <p:txBody>
          <a:bodyPr wrap="square" tIns="0" bIns="0" lIns="0" rIns="0">
            <a:spAutoFit/>
          </a:bodyPr>
          <a:lstStyle/>
          <a:p>
            <a:pPr>
              <a:spcAft>
                <a:spcPts val="500"/>
              </a:spcAft>
              <a:defRPr sz="1000" b="0">
                <a:solidFill>
                  <a:srgbClr val="52645C"/>
                </a:solidFill>
                <a:latin typeface="Arial"/>
              </a:defRPr>
            </a:pPr>
            <a:r>
              <a:t>06 / 15</a:t>
            </a:r>
          </a:p>
        </p:txBody>
      </p:sp>
      <p:sp>
        <p:nvSpPr>
          <p:cNvPr id="9" name="Rectangle 8"/>
          <p:cNvSpPr/>
          <p:nvPr/>
        </p:nvSpPr>
        <p:spPr>
          <a:xfrm>
            <a:off x="566928" y="2816352"/>
            <a:ext cx="3438144" cy="27523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2980944"/>
            <a:ext cx="3072384" cy="292608"/>
          </a:xfrm>
          <a:prstGeom prst="rect">
            <a:avLst/>
          </a:prstGeom>
          <a:noFill/>
        </p:spPr>
        <p:txBody>
          <a:bodyPr wrap="square" tIns="0" bIns="0" lIns="0" rIns="0">
            <a:spAutoFit/>
          </a:bodyPr>
          <a:lstStyle/>
          <a:p>
            <a:pPr>
              <a:spcAft>
                <a:spcPts val="500"/>
              </a:spcAft>
              <a:defRPr sz="1100" b="1">
                <a:solidFill>
                  <a:srgbClr val="29473F"/>
                </a:solidFill>
                <a:latin typeface="Arial"/>
              </a:defRPr>
            </a:pPr>
            <a:r>
              <a:t>MODEL INPUT</a:t>
            </a:r>
          </a:p>
        </p:txBody>
      </p:sp>
      <p:sp>
        <p:nvSpPr>
          <p:cNvPr id="11" name="TextBox 10"/>
          <p:cNvSpPr txBox="1"/>
          <p:nvPr/>
        </p:nvSpPr>
        <p:spPr>
          <a:xfrm>
            <a:off x="749808" y="3410712"/>
            <a:ext cx="3072384" cy="777240"/>
          </a:xfrm>
          <a:prstGeom prst="rect">
            <a:avLst/>
          </a:prstGeom>
          <a:noFill/>
        </p:spPr>
        <p:txBody>
          <a:bodyPr wrap="square" tIns="0" bIns="0" lIns="0" rIns="0">
            <a:spAutoFit/>
          </a:bodyPr>
          <a:lstStyle/>
          <a:p>
            <a:pPr>
              <a:spcAft>
                <a:spcPts val="500"/>
              </a:spcAft>
              <a:defRPr sz="2500" b="1">
                <a:solidFill>
                  <a:srgbClr val="15211F"/>
                </a:solidFill>
                <a:latin typeface="Arial"/>
              </a:defRPr>
            </a:pPr>
            <a:r>
              <a:t>320 × 240</a:t>
            </a:r>
          </a:p>
        </p:txBody>
      </p:sp>
      <p:sp>
        <p:nvSpPr>
          <p:cNvPr id="12" name="TextBox 11"/>
          <p:cNvSpPr txBox="1"/>
          <p:nvPr/>
        </p:nvSpPr>
        <p:spPr>
          <a:xfrm>
            <a:off x="749808" y="4370832"/>
            <a:ext cx="3072384" cy="1088135"/>
          </a:xfrm>
          <a:prstGeom prst="rect">
            <a:avLst/>
          </a:prstGeom>
          <a:noFill/>
        </p:spPr>
        <p:txBody>
          <a:bodyPr wrap="square" tIns="0" bIns="0" lIns="0" rIns="0">
            <a:spAutoFit/>
          </a:bodyPr>
          <a:lstStyle/>
          <a:p>
            <a:pPr>
              <a:spcAft>
                <a:spcPts val="500"/>
              </a:spcAft>
              <a:defRPr sz="1700" b="0">
                <a:solidFill>
                  <a:srgbClr val="52645C"/>
                </a:solidFill>
                <a:latin typeface="Arial"/>
              </a:defRPr>
            </a:pPr>
            <a:r>
              <a:t>RGB → (value − 127) / 128</a:t>
            </a:r>
          </a:p>
          <a:p>
            <a:pPr>
              <a:spcAft>
                <a:spcPts val="500"/>
              </a:spcAft>
              <a:defRPr sz="1700" b="0">
                <a:solidFill>
                  <a:srgbClr val="52645C"/>
                </a:solidFill>
                <a:latin typeface="Arial"/>
              </a:defRPr>
            </a:pPr>
            <a:r>
              <a:t>NCHW float32 tensor</a:t>
            </a:r>
          </a:p>
        </p:txBody>
      </p:sp>
      <p:sp>
        <p:nvSpPr>
          <p:cNvPr id="13" name="Rectangle 12"/>
          <p:cNvSpPr/>
          <p:nvPr/>
        </p:nvSpPr>
        <p:spPr>
          <a:xfrm>
            <a:off x="4370832" y="2816352"/>
            <a:ext cx="3438144" cy="27523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53712" y="2980944"/>
            <a:ext cx="3072384" cy="292608"/>
          </a:xfrm>
          <a:prstGeom prst="rect">
            <a:avLst/>
          </a:prstGeom>
          <a:noFill/>
        </p:spPr>
        <p:txBody>
          <a:bodyPr wrap="square" tIns="0" bIns="0" lIns="0" rIns="0">
            <a:spAutoFit/>
          </a:bodyPr>
          <a:lstStyle/>
          <a:p>
            <a:pPr>
              <a:spcAft>
                <a:spcPts val="500"/>
              </a:spcAft>
              <a:defRPr sz="1100" b="1">
                <a:solidFill>
                  <a:srgbClr val="29473F"/>
                </a:solidFill>
                <a:latin typeface="Arial"/>
              </a:defRPr>
            </a:pPr>
            <a:r>
              <a:t>ASSETS · DECIMAL MB</a:t>
            </a:r>
          </a:p>
        </p:txBody>
      </p:sp>
      <p:sp>
        <p:nvSpPr>
          <p:cNvPr id="15" name="TextBox 14"/>
          <p:cNvSpPr txBox="1"/>
          <p:nvPr/>
        </p:nvSpPr>
        <p:spPr>
          <a:xfrm>
            <a:off x="4553712" y="3410712"/>
            <a:ext cx="3072384" cy="777240"/>
          </a:xfrm>
          <a:prstGeom prst="rect">
            <a:avLst/>
          </a:prstGeom>
          <a:noFill/>
        </p:spPr>
        <p:txBody>
          <a:bodyPr wrap="square" tIns="0" bIns="0" lIns="0" rIns="0">
            <a:spAutoFit/>
          </a:bodyPr>
          <a:lstStyle/>
          <a:p>
            <a:pPr>
              <a:spcAft>
                <a:spcPts val="500"/>
              </a:spcAft>
              <a:defRPr sz="2500" b="1">
                <a:solidFill>
                  <a:srgbClr val="15211F"/>
                </a:solidFill>
                <a:latin typeface="Arial"/>
              </a:defRPr>
            </a:pPr>
            <a:r>
              <a:t>1.26 MB</a:t>
            </a:r>
          </a:p>
        </p:txBody>
      </p:sp>
      <p:sp>
        <p:nvSpPr>
          <p:cNvPr id="16" name="TextBox 15"/>
          <p:cNvSpPr txBox="1"/>
          <p:nvPr/>
        </p:nvSpPr>
        <p:spPr>
          <a:xfrm>
            <a:off x="4553712" y="4370832"/>
            <a:ext cx="3072384" cy="1088135"/>
          </a:xfrm>
          <a:prstGeom prst="rect">
            <a:avLst/>
          </a:prstGeom>
          <a:noFill/>
        </p:spPr>
        <p:txBody>
          <a:bodyPr wrap="square" tIns="0" bIns="0" lIns="0" rIns="0">
            <a:spAutoFit/>
          </a:bodyPr>
          <a:lstStyle/>
          <a:p>
            <a:pPr>
              <a:spcAft>
                <a:spcPts val="500"/>
              </a:spcAft>
              <a:defRPr sz="1700" b="0">
                <a:solidFill>
                  <a:srgbClr val="52645C"/>
                </a:solidFill>
                <a:latin typeface="Arial"/>
              </a:defRPr>
            </a:pPr>
            <a:r>
              <a:t>Optimized model bytes</a:t>
            </a:r>
          </a:p>
          <a:p>
            <a:pPr>
              <a:spcAft>
                <a:spcPts val="500"/>
              </a:spcAft>
              <a:defRPr sz="1700" b="0">
                <a:solidFill>
                  <a:srgbClr val="52645C"/>
                </a:solidFill>
                <a:latin typeface="Arial"/>
              </a:defRPr>
            </a:pPr>
            <a:r>
              <a:t>Runtime adds ≈11.98 MB</a:t>
            </a:r>
          </a:p>
        </p:txBody>
      </p:sp>
      <p:sp>
        <p:nvSpPr>
          <p:cNvPr id="17" name="Rectangle 16"/>
          <p:cNvSpPr/>
          <p:nvPr/>
        </p:nvSpPr>
        <p:spPr>
          <a:xfrm>
            <a:off x="8174736" y="2816352"/>
            <a:ext cx="3438144" cy="27523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57615" y="2980944"/>
            <a:ext cx="3072384" cy="292608"/>
          </a:xfrm>
          <a:prstGeom prst="rect">
            <a:avLst/>
          </a:prstGeom>
          <a:noFill/>
        </p:spPr>
        <p:txBody>
          <a:bodyPr wrap="square" tIns="0" bIns="0" lIns="0" rIns="0">
            <a:spAutoFit/>
          </a:bodyPr>
          <a:lstStyle/>
          <a:p>
            <a:pPr>
              <a:spcAft>
                <a:spcPts val="500"/>
              </a:spcAft>
              <a:defRPr sz="1100" b="1">
                <a:solidFill>
                  <a:srgbClr val="29473F"/>
                </a:solidFill>
                <a:latin typeface="Arial"/>
              </a:defRPr>
            </a:pPr>
            <a:r>
              <a:t>DETECTION LIMIT</a:t>
            </a:r>
          </a:p>
        </p:txBody>
      </p:sp>
      <p:sp>
        <p:nvSpPr>
          <p:cNvPr id="19" name="TextBox 18"/>
          <p:cNvSpPr txBox="1"/>
          <p:nvPr/>
        </p:nvSpPr>
        <p:spPr>
          <a:xfrm>
            <a:off x="8357615" y="3410712"/>
            <a:ext cx="3072384" cy="777240"/>
          </a:xfrm>
          <a:prstGeom prst="rect">
            <a:avLst/>
          </a:prstGeom>
          <a:noFill/>
        </p:spPr>
        <p:txBody>
          <a:bodyPr wrap="square" tIns="0" bIns="0" lIns="0" rIns="0">
            <a:spAutoFit/>
          </a:bodyPr>
          <a:lstStyle/>
          <a:p>
            <a:pPr>
              <a:spcAft>
                <a:spcPts val="500"/>
              </a:spcAft>
              <a:defRPr sz="2500" b="1">
                <a:solidFill>
                  <a:srgbClr val="15211F"/>
                </a:solidFill>
                <a:latin typeface="Arial"/>
              </a:defRPr>
            </a:pPr>
            <a:r>
              <a:t>Face-only</a:t>
            </a:r>
          </a:p>
        </p:txBody>
      </p:sp>
      <p:sp>
        <p:nvSpPr>
          <p:cNvPr id="20" name="TextBox 19"/>
          <p:cNvSpPr txBox="1"/>
          <p:nvPr/>
        </p:nvSpPr>
        <p:spPr>
          <a:xfrm>
            <a:off x="8357615" y="4370832"/>
            <a:ext cx="3072384" cy="1088135"/>
          </a:xfrm>
          <a:prstGeom prst="rect">
            <a:avLst/>
          </a:prstGeom>
          <a:noFill/>
        </p:spPr>
        <p:txBody>
          <a:bodyPr wrap="square" tIns="0" bIns="0" lIns="0" rIns="0">
            <a:spAutoFit/>
          </a:bodyPr>
          <a:lstStyle/>
          <a:p>
            <a:pPr>
              <a:spcAft>
                <a:spcPts val="500"/>
              </a:spcAft>
              <a:defRPr sz="1700" b="0">
                <a:solidFill>
                  <a:srgbClr val="52645C"/>
                </a:solidFill>
                <a:latin typeface="Arial"/>
              </a:defRPr>
            </a:pPr>
            <a:r>
              <a:t>Not OCR or general PII</a:t>
            </a:r>
          </a:p>
          <a:p>
            <a:pPr>
              <a:spcAft>
                <a:spcPts val="500"/>
              </a:spcAft>
              <a:defRPr sz="1700" b="0">
                <a:solidFill>
                  <a:srgbClr val="52645C"/>
                </a:solidFill>
                <a:latin typeface="Arial"/>
              </a:defRPr>
            </a:pPr>
            <a:r>
              <a:t>Errors block preparation</a:t>
            </a:r>
          </a:p>
        </p:txBody>
      </p:sp>
      <p:sp>
        <p:nvSpPr>
          <p:cNvPr id="21" name="TextBox 20"/>
          <p:cNvSpPr txBox="1"/>
          <p:nvPr/>
        </p:nvSpPr>
        <p:spPr>
          <a:xfrm>
            <a:off x="548640" y="5980176"/>
            <a:ext cx="11064240" cy="256032"/>
          </a:xfrm>
          <a:prstGeom prst="rect">
            <a:avLst/>
          </a:prstGeom>
          <a:noFill/>
        </p:spPr>
        <p:txBody>
          <a:bodyPr wrap="square" tIns="0" bIns="0" lIns="0" rIns="0">
            <a:spAutoFit/>
          </a:bodyPr>
          <a:lstStyle/>
          <a:p>
            <a:pPr>
              <a:spcAft>
                <a:spcPts val="500"/>
              </a:spcAft>
              <a:defRPr sz="1100" b="0">
                <a:solidFill>
                  <a:srgbClr val="52645C"/>
                </a:solidFill>
                <a:latin typeface="Arial"/>
              </a:defRPr>
            </a:pPr>
            <a:r>
              <a:rPr>
                <a:hlinkClick r:id="rId2"/>
              </a:rPr>
              <a:t>Model/runtime manifest records exact bytes, hashes and MIT licenses. No browser CDN.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1E7"/>
        </a:solidFill>
        <a:effectLst/>
      </p:bgPr>
    </p:bg>
    <p:spTree>
      <p:nvGrpSpPr>
        <p:cNvPr id="1" name=""/>
        <p:cNvGrpSpPr/>
        <p:nvPr/>
      </p:nvGrpSpPr>
      <p:grpSpPr/>
      <p:sp>
        <p:nvSpPr>
          <p:cNvPr id="2" name="TextBox 1"/>
          <p:cNvSpPr txBox="1"/>
          <p:nvPr/>
        </p:nvSpPr>
        <p:spPr>
          <a:xfrm>
            <a:off x="548640" y="265176"/>
            <a:ext cx="8321040" cy="274320"/>
          </a:xfrm>
          <a:prstGeom prst="rect">
            <a:avLst/>
          </a:prstGeom>
          <a:noFill/>
        </p:spPr>
        <p:txBody>
          <a:bodyPr wrap="square" tIns="0" bIns="0" lIns="0" rIns="0">
            <a:spAutoFit/>
          </a:bodyPr>
          <a:lstStyle/>
          <a:p>
            <a:pPr>
              <a:spcAft>
                <a:spcPts val="500"/>
              </a:spcAft>
              <a:defRPr sz="1100" b="1">
                <a:solidFill>
                  <a:srgbClr val="29473F"/>
                </a:solidFill>
                <a:latin typeface="Arial"/>
              </a:defRPr>
            </a:pPr>
            <a:r>
              <a:t>TECHNICAL APPROACH</a:t>
            </a:r>
          </a:p>
        </p:txBody>
      </p:sp>
      <p:sp>
        <p:nvSpPr>
          <p:cNvPr id="3" name="TextBox 2"/>
          <p:cNvSpPr txBox="1"/>
          <p:nvPr/>
        </p:nvSpPr>
        <p:spPr>
          <a:xfrm>
            <a:off x="9144000" y="265176"/>
            <a:ext cx="2514600" cy="274320"/>
          </a:xfrm>
          <a:prstGeom prst="rect">
            <a:avLst/>
          </a:prstGeom>
          <a:noFill/>
        </p:spPr>
        <p:txBody>
          <a:bodyPr wrap="square" tIns="0" bIns="0" lIns="0" rIns="0">
            <a:spAutoFit/>
          </a:bodyPr>
          <a:lstStyle/>
          <a:p>
            <a:pPr>
              <a:spcAft>
                <a:spcPts val="500"/>
              </a:spcAft>
              <a:defRPr sz="1100" b="1">
                <a:solidFill>
                  <a:srgbClr val="15211F"/>
                </a:solidFill>
                <a:latin typeface="Arial"/>
              </a:defRPr>
            </a:pPr>
            <a:r>
              <a:t>DHRISTI / SIH26171</a:t>
            </a:r>
          </a:p>
        </p:txBody>
      </p:sp>
      <p:sp>
        <p:nvSpPr>
          <p:cNvPr id="4" name="TextBox 3"/>
          <p:cNvSpPr txBox="1"/>
          <p:nvPr/>
        </p:nvSpPr>
        <p:spPr>
          <a:xfrm>
            <a:off x="548640" y="868680"/>
            <a:ext cx="11064240" cy="1069848"/>
          </a:xfrm>
          <a:prstGeom prst="rect">
            <a:avLst/>
          </a:prstGeom>
          <a:noFill/>
        </p:spPr>
        <p:txBody>
          <a:bodyPr wrap="square" tIns="0" bIns="0" lIns="0" rIns="0">
            <a:spAutoFit/>
          </a:bodyPr>
          <a:lstStyle/>
          <a:p>
            <a:pPr>
              <a:spcAft>
                <a:spcPts val="500"/>
              </a:spcAft>
              <a:defRPr sz="4000" b="1">
                <a:solidFill>
                  <a:srgbClr val="15211F"/>
                </a:solidFill>
                <a:latin typeface="Arial"/>
              </a:defRPr>
            </a:pPr>
            <a:r>
              <a:t>A typed boundary is easier to audit.</a:t>
            </a:r>
          </a:p>
        </p:txBody>
      </p:sp>
      <p:sp>
        <p:nvSpPr>
          <p:cNvPr id="5" name="TextBox 4"/>
          <p:cNvSpPr txBox="1"/>
          <p:nvPr/>
        </p:nvSpPr>
        <p:spPr>
          <a:xfrm>
            <a:off x="576072" y="1993392"/>
            <a:ext cx="10972800" cy="566928"/>
          </a:xfrm>
          <a:prstGeom prst="rect">
            <a:avLst/>
          </a:prstGeom>
          <a:noFill/>
        </p:spPr>
        <p:txBody>
          <a:bodyPr wrap="square" tIns="0" bIns="0" lIns="0" rIns="0">
            <a:spAutoFit/>
          </a:bodyPr>
          <a:lstStyle/>
          <a:p>
            <a:pPr>
              <a:spcAft>
                <a:spcPts val="500"/>
              </a:spcAft>
              <a:defRPr sz="1800" b="0">
                <a:solidFill>
                  <a:srgbClr val="52645C"/>
                </a:solidFill>
                <a:latin typeface="Arial"/>
              </a:defRPr>
            </a:pPr>
            <a:r>
              <a:t>The outgoing plan request has an allowlist; original screen content has no payload field.</a:t>
            </a:r>
          </a:p>
        </p:txBody>
      </p:sp>
      <p:cxnSp>
        <p:nvCxnSpPr>
          <p:cNvPr id="6" name="Connector 5"/>
          <p:cNvCxnSpPr/>
          <p:nvPr/>
        </p:nvCxnSpPr>
        <p:spPr>
          <a:xfrm>
            <a:off x="548640" y="6391656"/>
            <a:ext cx="11064240" cy="0"/>
          </a:xfrm>
          <a:prstGeom prst="line">
            <a:avLst/>
          </a:prstGeom>
          <a:ln w="8890">
            <a:solidFill>
              <a:srgbClr val="52645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28816"/>
            <a:ext cx="9144000" cy="201168"/>
          </a:xfrm>
          <a:prstGeom prst="rect">
            <a:avLst/>
          </a:prstGeom>
          <a:noFill/>
        </p:spPr>
        <p:txBody>
          <a:bodyPr wrap="square" tIns="0" bIns="0" lIns="0" rIns="0">
            <a:spAutoFit/>
          </a:bodyPr>
          <a:lstStyle/>
          <a:p>
            <a:pPr>
              <a:spcAft>
                <a:spcPts val="500"/>
              </a:spcAft>
              <a:defRPr sz="1000" b="0">
                <a:solidFill>
                  <a:srgbClr val="52645C"/>
                </a:solidFill>
                <a:latin typeface="Arial"/>
              </a:defRPr>
            </a:pPr>
            <a:r>
              <a:t>RV UNIVERSITY · ENGINEERING CANDIDATE v0.1 · 11 SEP 2026</a:t>
            </a:r>
          </a:p>
        </p:txBody>
      </p:sp>
      <p:sp>
        <p:nvSpPr>
          <p:cNvPr id="8" name="TextBox 7"/>
          <p:cNvSpPr txBox="1"/>
          <p:nvPr/>
        </p:nvSpPr>
        <p:spPr>
          <a:xfrm>
            <a:off x="10881360" y="6528816"/>
            <a:ext cx="768096" cy="201168"/>
          </a:xfrm>
          <a:prstGeom prst="rect">
            <a:avLst/>
          </a:prstGeom>
          <a:noFill/>
        </p:spPr>
        <p:txBody>
          <a:bodyPr wrap="square" tIns="0" bIns="0" lIns="0" rIns="0">
            <a:spAutoFit/>
          </a:bodyPr>
          <a:lstStyle/>
          <a:p>
            <a:pPr>
              <a:spcAft>
                <a:spcPts val="500"/>
              </a:spcAft>
              <a:defRPr sz="1000" b="0">
                <a:solidFill>
                  <a:srgbClr val="52645C"/>
                </a:solidFill>
                <a:latin typeface="Arial"/>
              </a:defRPr>
            </a:pPr>
            <a:r>
              <a:t>07 / 15</a:t>
            </a:r>
          </a:p>
        </p:txBody>
      </p:sp>
      <p:sp>
        <p:nvSpPr>
          <p:cNvPr id="9" name="Rectangle 8"/>
          <p:cNvSpPr/>
          <p:nvPr/>
        </p:nvSpPr>
        <p:spPr>
          <a:xfrm>
            <a:off x="566928" y="2843784"/>
            <a:ext cx="5568696" cy="2880360"/>
          </a:xfrm>
          <a:prstGeom prst="rect">
            <a:avLst/>
          </a:prstGeom>
          <a:solidFill>
            <a:srgbClr val="1521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3090672"/>
            <a:ext cx="5120640" cy="329184"/>
          </a:xfrm>
          <a:prstGeom prst="rect">
            <a:avLst/>
          </a:prstGeom>
          <a:noFill/>
        </p:spPr>
        <p:txBody>
          <a:bodyPr wrap="square" tIns="0" bIns="0" lIns="0" rIns="0">
            <a:spAutoFit/>
          </a:bodyPr>
          <a:lstStyle/>
          <a:p>
            <a:pPr>
              <a:spcAft>
                <a:spcPts val="500"/>
              </a:spcAft>
              <a:defRPr sz="1300" b="1">
                <a:solidFill>
                  <a:srgbClr val="D8F36A"/>
                </a:solidFill>
                <a:latin typeface="Arial"/>
              </a:defRPr>
            </a:pPr>
            <a:r>
              <a:t>ALLOWED CONTEXT</a:t>
            </a:r>
          </a:p>
        </p:txBody>
      </p:sp>
      <p:sp>
        <p:nvSpPr>
          <p:cNvPr id="11" name="TextBox 10"/>
          <p:cNvSpPr txBox="1"/>
          <p:nvPr/>
        </p:nvSpPr>
        <p:spPr>
          <a:xfrm>
            <a:off x="804672" y="3675887"/>
            <a:ext cx="5056632" cy="1783080"/>
          </a:xfrm>
          <a:prstGeom prst="rect">
            <a:avLst/>
          </a:prstGeom>
          <a:noFill/>
        </p:spPr>
        <p:txBody>
          <a:bodyPr wrap="square" tIns="0" bIns="0" lIns="0" rIns="0">
            <a:spAutoFit/>
          </a:bodyPr>
          <a:lstStyle/>
          <a:p>
            <a:pPr>
              <a:spcAft>
                <a:spcPts val="500"/>
              </a:spcAft>
              <a:defRPr sz="2300" b="0">
                <a:solidFill>
                  <a:srgbClr val="F3F1E7"/>
                </a:solidFill>
                <a:latin typeface="Courier New"/>
              </a:defRPr>
            </a:pPr>
            <a:r>
              <a:t>revision + viewport</a:t>
            </a:r>
          </a:p>
          <a:p>
            <a:pPr>
              <a:spcAft>
                <a:spcPts val="500"/>
              </a:spcAft>
              <a:defRPr sz="2300" b="0">
                <a:solidFill>
                  <a:srgbClr val="F3F1E7"/>
                </a:solidFill>
                <a:latin typeface="Courier New"/>
              </a:defRPr>
            </a:pPr>
            <a:r>
              <a:t>approved control IDs / labels</a:t>
            </a:r>
          </a:p>
          <a:p>
            <a:pPr>
              <a:spcAft>
                <a:spcPts val="500"/>
              </a:spcAft>
              <a:defRPr sz="2300" b="0">
                <a:solidFill>
                  <a:srgbClr val="F3F1E7"/>
                </a:solidFill>
                <a:latin typeface="Courier New"/>
              </a:defRPr>
            </a:pPr>
            <a:r>
              <a:t>bounded geometry</a:t>
            </a:r>
          </a:p>
          <a:p>
            <a:pPr>
              <a:spcAft>
                <a:spcPts val="500"/>
              </a:spcAft>
              <a:defRPr sz="2300" b="0">
                <a:solidFill>
                  <a:srgbClr val="F3F1E7"/>
                </a:solidFill>
                <a:latin typeface="Courier New"/>
              </a:defRPr>
            </a:pPr>
            <a:r>
              <a:t>opaque region kinds</a:t>
            </a:r>
          </a:p>
        </p:txBody>
      </p:sp>
      <p:sp>
        <p:nvSpPr>
          <p:cNvPr id="12" name="TextBox 11"/>
          <p:cNvSpPr txBox="1"/>
          <p:nvPr/>
        </p:nvSpPr>
        <p:spPr>
          <a:xfrm>
            <a:off x="6711696" y="2999232"/>
            <a:ext cx="4800600" cy="475488"/>
          </a:xfrm>
          <a:prstGeom prst="rect">
            <a:avLst/>
          </a:prstGeom>
          <a:noFill/>
        </p:spPr>
        <p:txBody>
          <a:bodyPr wrap="square" tIns="0" bIns="0" lIns="0" rIns="0">
            <a:spAutoFit/>
          </a:bodyPr>
          <a:lstStyle/>
          <a:p>
            <a:pPr>
              <a:spcAft>
                <a:spcPts val="500"/>
              </a:spcAft>
              <a:defRPr sz="2800" b="1">
                <a:solidFill>
                  <a:srgbClr val="15211F"/>
                </a:solidFill>
                <a:latin typeface="Arial"/>
              </a:defRPr>
            </a:pPr>
            <a:r>
              <a:t>Excluded</a:t>
            </a:r>
          </a:p>
        </p:txBody>
      </p:sp>
      <p:sp>
        <p:nvSpPr>
          <p:cNvPr id="13" name="TextBox 12"/>
          <p:cNvSpPr txBox="1"/>
          <p:nvPr/>
        </p:nvSpPr>
        <p:spPr>
          <a:xfrm>
            <a:off x="6711696" y="3694176"/>
            <a:ext cx="4773168" cy="1810512"/>
          </a:xfrm>
          <a:prstGeom prst="rect">
            <a:avLst/>
          </a:prstGeom>
          <a:noFill/>
        </p:spPr>
        <p:txBody>
          <a:bodyPr wrap="square" tIns="0" bIns="0" lIns="0" rIns="0">
            <a:spAutoFit/>
          </a:bodyPr>
          <a:lstStyle/>
          <a:p>
            <a:pPr>
              <a:spcAft>
                <a:spcPts val="500"/>
              </a:spcAft>
              <a:defRPr sz="2300" b="0">
                <a:solidFill>
                  <a:srgbClr val="52645C"/>
                </a:solidFill>
                <a:latin typeface="Arial"/>
              </a:defRPr>
            </a:pPr>
            <a:r>
              <a:t>Raw screenshots / DOM</a:t>
            </a:r>
          </a:p>
          <a:p>
            <a:pPr>
              <a:spcAft>
                <a:spcPts val="500"/>
              </a:spcAft>
              <a:defRPr sz="2300" b="0">
                <a:solidFill>
                  <a:srgbClr val="52645C"/>
                </a:solidFill>
                <a:latin typeface="Arial"/>
              </a:defRPr>
            </a:pPr>
            <a:r>
              <a:t>Account and field values</a:t>
            </a:r>
          </a:p>
          <a:p>
            <a:pPr>
              <a:spcAft>
                <a:spcPts val="500"/>
              </a:spcAft>
              <a:defRPr sz="2300" b="0">
                <a:solidFill>
                  <a:srgbClr val="52645C"/>
                </a:solidFill>
                <a:latin typeface="Arial"/>
              </a:defRPr>
            </a:pPr>
            <a:r>
              <a:t>Source URLs / arbitrary text</a:t>
            </a:r>
          </a:p>
          <a:p>
            <a:pPr>
              <a:spcAft>
                <a:spcPts val="500"/>
              </a:spcAft>
              <a:defRPr sz="2300" b="0">
                <a:solidFill>
                  <a:srgbClr val="52645C"/>
                </a:solidFill>
                <a:latin typeface="Arial"/>
              </a:defRPr>
            </a:pPr>
            <a:r>
              <a:t>Credentials</a:t>
            </a:r>
          </a:p>
        </p:txBody>
      </p:sp>
      <p:sp>
        <p:nvSpPr>
          <p:cNvPr id="14" name="TextBox 13"/>
          <p:cNvSpPr txBox="1"/>
          <p:nvPr/>
        </p:nvSpPr>
        <p:spPr>
          <a:xfrm>
            <a:off x="548640" y="5980176"/>
            <a:ext cx="11064240" cy="256032"/>
          </a:xfrm>
          <a:prstGeom prst="rect">
            <a:avLst/>
          </a:prstGeom>
          <a:noFill/>
        </p:spPr>
        <p:txBody>
          <a:bodyPr wrap="square" tIns="0" bIns="0" lIns="0" rIns="0">
            <a:spAutoFit/>
          </a:bodyPr>
          <a:lstStyle/>
          <a:p>
            <a:pPr>
              <a:spcAft>
                <a:spcPts val="500"/>
              </a:spcAft>
              <a:defRPr sz="1100" b="0">
                <a:solidFill>
                  <a:srgbClr val="52645C"/>
                </a:solidFill>
                <a:latin typeface="Arial"/>
              </a:defRPr>
            </a:pPr>
            <a:r>
              <a:t>Observed payload excluded fixture email, account number and image data at 390px. One synthetic fixture.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1E7"/>
        </a:solidFill>
        <a:effectLst/>
      </p:bgPr>
    </p:bg>
    <p:spTree>
      <p:nvGrpSpPr>
        <p:cNvPr id="1" name=""/>
        <p:cNvGrpSpPr/>
        <p:nvPr/>
      </p:nvGrpSpPr>
      <p:grpSpPr/>
      <p:sp>
        <p:nvSpPr>
          <p:cNvPr id="2" name="TextBox 1"/>
          <p:cNvSpPr txBox="1"/>
          <p:nvPr/>
        </p:nvSpPr>
        <p:spPr>
          <a:xfrm>
            <a:off x="548640" y="265176"/>
            <a:ext cx="8321040" cy="274320"/>
          </a:xfrm>
          <a:prstGeom prst="rect">
            <a:avLst/>
          </a:prstGeom>
          <a:noFill/>
        </p:spPr>
        <p:txBody>
          <a:bodyPr wrap="square" tIns="0" bIns="0" lIns="0" rIns="0">
            <a:spAutoFit/>
          </a:bodyPr>
          <a:lstStyle/>
          <a:p>
            <a:pPr>
              <a:spcAft>
                <a:spcPts val="500"/>
              </a:spcAft>
              <a:defRPr sz="1100" b="1">
                <a:solidFill>
                  <a:srgbClr val="29473F"/>
                </a:solidFill>
                <a:latin typeface="Arial"/>
              </a:defRPr>
            </a:pPr>
            <a:r>
              <a:t>TECHNICAL APPROACH</a:t>
            </a:r>
          </a:p>
        </p:txBody>
      </p:sp>
      <p:sp>
        <p:nvSpPr>
          <p:cNvPr id="3" name="TextBox 2"/>
          <p:cNvSpPr txBox="1"/>
          <p:nvPr/>
        </p:nvSpPr>
        <p:spPr>
          <a:xfrm>
            <a:off x="9144000" y="265176"/>
            <a:ext cx="2514600" cy="274320"/>
          </a:xfrm>
          <a:prstGeom prst="rect">
            <a:avLst/>
          </a:prstGeom>
          <a:noFill/>
        </p:spPr>
        <p:txBody>
          <a:bodyPr wrap="square" tIns="0" bIns="0" lIns="0" rIns="0">
            <a:spAutoFit/>
          </a:bodyPr>
          <a:lstStyle/>
          <a:p>
            <a:pPr>
              <a:spcAft>
                <a:spcPts val="500"/>
              </a:spcAft>
              <a:defRPr sz="1100" b="1">
                <a:solidFill>
                  <a:srgbClr val="15211F"/>
                </a:solidFill>
                <a:latin typeface="Arial"/>
              </a:defRPr>
            </a:pPr>
            <a:r>
              <a:t>DHRISTI / SIH26171</a:t>
            </a:r>
          </a:p>
        </p:txBody>
      </p:sp>
      <p:sp>
        <p:nvSpPr>
          <p:cNvPr id="4" name="TextBox 3"/>
          <p:cNvSpPr txBox="1"/>
          <p:nvPr/>
        </p:nvSpPr>
        <p:spPr>
          <a:xfrm>
            <a:off x="548640" y="868680"/>
            <a:ext cx="11064240" cy="1069848"/>
          </a:xfrm>
          <a:prstGeom prst="rect">
            <a:avLst/>
          </a:prstGeom>
          <a:noFill/>
        </p:spPr>
        <p:txBody>
          <a:bodyPr wrap="square" tIns="0" bIns="0" lIns="0" rIns="0">
            <a:spAutoFit/>
          </a:bodyPr>
          <a:lstStyle/>
          <a:p>
            <a:pPr>
              <a:spcAft>
                <a:spcPts val="500"/>
              </a:spcAft>
              <a:defRPr sz="4000" b="1">
                <a:solidFill>
                  <a:srgbClr val="15211F"/>
                </a:solidFill>
                <a:latin typeface="Arial"/>
              </a:defRPr>
            </a:pPr>
            <a:r>
              <a:t>A model proposal is not execution authority.</a:t>
            </a:r>
          </a:p>
        </p:txBody>
      </p:sp>
      <p:sp>
        <p:nvSpPr>
          <p:cNvPr id="5" name="TextBox 4"/>
          <p:cNvSpPr txBox="1"/>
          <p:nvPr/>
        </p:nvSpPr>
        <p:spPr>
          <a:xfrm>
            <a:off x="576072" y="1993392"/>
            <a:ext cx="10972800" cy="566928"/>
          </a:xfrm>
          <a:prstGeom prst="rect">
            <a:avLst/>
          </a:prstGeom>
          <a:noFill/>
        </p:spPr>
        <p:txBody>
          <a:bodyPr wrap="square" tIns="0" bIns="0" lIns="0" rIns="0">
            <a:spAutoFit/>
          </a:bodyPr>
          <a:lstStyle/>
          <a:p>
            <a:pPr>
              <a:spcAft>
                <a:spcPts val="500"/>
              </a:spcAft>
              <a:defRPr sz="1800" b="0">
                <a:solidFill>
                  <a:srgbClr val="52645C"/>
                </a:solidFill>
                <a:latin typeface="Arial"/>
              </a:defRPr>
            </a:pPr>
            <a:r>
              <a:t>Every action must match the live scene and survive local validation.</a:t>
            </a:r>
          </a:p>
        </p:txBody>
      </p:sp>
      <p:cxnSp>
        <p:nvCxnSpPr>
          <p:cNvPr id="6" name="Connector 5"/>
          <p:cNvCxnSpPr/>
          <p:nvPr/>
        </p:nvCxnSpPr>
        <p:spPr>
          <a:xfrm>
            <a:off x="548640" y="6391656"/>
            <a:ext cx="11064240" cy="0"/>
          </a:xfrm>
          <a:prstGeom prst="line">
            <a:avLst/>
          </a:prstGeom>
          <a:ln w="8890">
            <a:solidFill>
              <a:srgbClr val="52645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28816"/>
            <a:ext cx="9144000" cy="201168"/>
          </a:xfrm>
          <a:prstGeom prst="rect">
            <a:avLst/>
          </a:prstGeom>
          <a:noFill/>
        </p:spPr>
        <p:txBody>
          <a:bodyPr wrap="square" tIns="0" bIns="0" lIns="0" rIns="0">
            <a:spAutoFit/>
          </a:bodyPr>
          <a:lstStyle/>
          <a:p>
            <a:pPr>
              <a:spcAft>
                <a:spcPts val="500"/>
              </a:spcAft>
              <a:defRPr sz="1000" b="0">
                <a:solidFill>
                  <a:srgbClr val="52645C"/>
                </a:solidFill>
                <a:latin typeface="Arial"/>
              </a:defRPr>
            </a:pPr>
            <a:r>
              <a:t>RV UNIVERSITY · ENGINEERING CANDIDATE v0.1 · 11 SEP 2026</a:t>
            </a:r>
          </a:p>
        </p:txBody>
      </p:sp>
      <p:sp>
        <p:nvSpPr>
          <p:cNvPr id="8" name="TextBox 7"/>
          <p:cNvSpPr txBox="1"/>
          <p:nvPr/>
        </p:nvSpPr>
        <p:spPr>
          <a:xfrm>
            <a:off x="10881360" y="6528816"/>
            <a:ext cx="768096" cy="201168"/>
          </a:xfrm>
          <a:prstGeom prst="rect">
            <a:avLst/>
          </a:prstGeom>
          <a:noFill/>
        </p:spPr>
        <p:txBody>
          <a:bodyPr wrap="square" tIns="0" bIns="0" lIns="0" rIns="0">
            <a:spAutoFit/>
          </a:bodyPr>
          <a:lstStyle/>
          <a:p>
            <a:pPr>
              <a:spcAft>
                <a:spcPts val="500"/>
              </a:spcAft>
              <a:defRPr sz="1000" b="0">
                <a:solidFill>
                  <a:srgbClr val="52645C"/>
                </a:solidFill>
                <a:latin typeface="Arial"/>
              </a:defRPr>
            </a:pPr>
            <a:r>
              <a:t>08 / 15</a:t>
            </a:r>
          </a:p>
        </p:txBody>
      </p:sp>
      <p:sp>
        <p:nvSpPr>
          <p:cNvPr id="9" name="Rectangle 8"/>
          <p:cNvSpPr/>
          <p:nvPr/>
        </p:nvSpPr>
        <p:spPr>
          <a:xfrm>
            <a:off x="566928" y="3163824"/>
            <a:ext cx="2423160" cy="1636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3364992"/>
            <a:ext cx="2084831" cy="365760"/>
          </a:xfrm>
          <a:prstGeom prst="rect">
            <a:avLst/>
          </a:prstGeom>
          <a:noFill/>
        </p:spPr>
        <p:txBody>
          <a:bodyPr wrap="square" tIns="0" bIns="0" lIns="0" rIns="0">
            <a:spAutoFit/>
          </a:bodyPr>
          <a:lstStyle/>
          <a:p>
            <a:pPr>
              <a:spcAft>
                <a:spcPts val="500"/>
              </a:spcAft>
              <a:defRPr sz="1800" b="1">
                <a:solidFill>
                  <a:srgbClr val="29473F"/>
                </a:solidFill>
                <a:latin typeface="Arial"/>
              </a:defRPr>
            </a:pPr>
            <a:r>
              <a:t>01</a:t>
            </a:r>
          </a:p>
        </p:txBody>
      </p:sp>
      <p:sp>
        <p:nvSpPr>
          <p:cNvPr id="11" name="TextBox 10"/>
          <p:cNvSpPr txBox="1"/>
          <p:nvPr/>
        </p:nvSpPr>
        <p:spPr>
          <a:xfrm>
            <a:off x="731520" y="3895344"/>
            <a:ext cx="2084831" cy="685800"/>
          </a:xfrm>
          <a:prstGeom prst="rect">
            <a:avLst/>
          </a:prstGeom>
          <a:noFill/>
        </p:spPr>
        <p:txBody>
          <a:bodyPr wrap="square" tIns="0" bIns="0" lIns="0" rIns="0">
            <a:spAutoFit/>
          </a:bodyPr>
          <a:lstStyle/>
          <a:p>
            <a:pPr>
              <a:spcAft>
                <a:spcPts val="500"/>
              </a:spcAft>
              <a:defRPr sz="2300" b="1">
                <a:solidFill>
                  <a:srgbClr val="15211F"/>
                </a:solidFill>
                <a:latin typeface="Arial"/>
              </a:defRPr>
            </a:pPr>
            <a:r>
              <a:t>Capture revision</a:t>
            </a:r>
          </a:p>
        </p:txBody>
      </p:sp>
      <p:sp>
        <p:nvSpPr>
          <p:cNvPr id="12" name="Rectangle 11"/>
          <p:cNvSpPr/>
          <p:nvPr/>
        </p:nvSpPr>
        <p:spPr>
          <a:xfrm>
            <a:off x="3438144" y="3163824"/>
            <a:ext cx="2423160" cy="1636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02736" y="3364992"/>
            <a:ext cx="2084831" cy="365760"/>
          </a:xfrm>
          <a:prstGeom prst="rect">
            <a:avLst/>
          </a:prstGeom>
          <a:noFill/>
        </p:spPr>
        <p:txBody>
          <a:bodyPr wrap="square" tIns="0" bIns="0" lIns="0" rIns="0">
            <a:spAutoFit/>
          </a:bodyPr>
          <a:lstStyle/>
          <a:p>
            <a:pPr>
              <a:spcAft>
                <a:spcPts val="500"/>
              </a:spcAft>
              <a:defRPr sz="1800" b="1">
                <a:solidFill>
                  <a:srgbClr val="29473F"/>
                </a:solidFill>
                <a:latin typeface="Arial"/>
              </a:defRPr>
            </a:pPr>
            <a:r>
              <a:t>02</a:t>
            </a:r>
          </a:p>
        </p:txBody>
      </p:sp>
      <p:sp>
        <p:nvSpPr>
          <p:cNvPr id="14" name="TextBox 13"/>
          <p:cNvSpPr txBox="1"/>
          <p:nvPr/>
        </p:nvSpPr>
        <p:spPr>
          <a:xfrm>
            <a:off x="3602736" y="3895344"/>
            <a:ext cx="2084831" cy="685800"/>
          </a:xfrm>
          <a:prstGeom prst="rect">
            <a:avLst/>
          </a:prstGeom>
          <a:noFill/>
        </p:spPr>
        <p:txBody>
          <a:bodyPr wrap="square" tIns="0" bIns="0" lIns="0" rIns="0">
            <a:spAutoFit/>
          </a:bodyPr>
          <a:lstStyle/>
          <a:p>
            <a:pPr>
              <a:spcAft>
                <a:spcPts val="500"/>
              </a:spcAft>
              <a:defRPr sz="2300" b="1">
                <a:solidFill>
                  <a:srgbClr val="15211F"/>
                </a:solidFill>
                <a:latin typeface="Arial"/>
              </a:defRPr>
            </a:pPr>
            <a:r>
              <a:t>Validate proposal</a:t>
            </a:r>
          </a:p>
        </p:txBody>
      </p:sp>
      <p:sp>
        <p:nvSpPr>
          <p:cNvPr id="15" name="Rectangle 14"/>
          <p:cNvSpPr/>
          <p:nvPr/>
        </p:nvSpPr>
        <p:spPr>
          <a:xfrm>
            <a:off x="6309360" y="3163824"/>
            <a:ext cx="2423160" cy="1636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73952" y="3364992"/>
            <a:ext cx="2084831" cy="365760"/>
          </a:xfrm>
          <a:prstGeom prst="rect">
            <a:avLst/>
          </a:prstGeom>
          <a:noFill/>
        </p:spPr>
        <p:txBody>
          <a:bodyPr wrap="square" tIns="0" bIns="0" lIns="0" rIns="0">
            <a:spAutoFit/>
          </a:bodyPr>
          <a:lstStyle/>
          <a:p>
            <a:pPr>
              <a:spcAft>
                <a:spcPts val="500"/>
              </a:spcAft>
              <a:defRPr sz="1800" b="1">
                <a:solidFill>
                  <a:srgbClr val="29473F"/>
                </a:solidFill>
                <a:latin typeface="Arial"/>
              </a:defRPr>
            </a:pPr>
            <a:r>
              <a:t>03</a:t>
            </a:r>
          </a:p>
        </p:txBody>
      </p:sp>
      <p:sp>
        <p:nvSpPr>
          <p:cNvPr id="17" name="TextBox 16"/>
          <p:cNvSpPr txBox="1"/>
          <p:nvPr/>
        </p:nvSpPr>
        <p:spPr>
          <a:xfrm>
            <a:off x="6473952" y="3895344"/>
            <a:ext cx="2084831" cy="685800"/>
          </a:xfrm>
          <a:prstGeom prst="rect">
            <a:avLst/>
          </a:prstGeom>
          <a:noFill/>
        </p:spPr>
        <p:txBody>
          <a:bodyPr wrap="square" tIns="0" bIns="0" lIns="0" rIns="0">
            <a:spAutoFit/>
          </a:bodyPr>
          <a:lstStyle/>
          <a:p>
            <a:pPr>
              <a:spcAft>
                <a:spcPts val="500"/>
              </a:spcAft>
              <a:defRPr sz="2300" b="1">
                <a:solidFill>
                  <a:srgbClr val="15211F"/>
                </a:solidFill>
                <a:latin typeface="Arial"/>
              </a:defRPr>
            </a:pPr>
            <a:r>
              <a:t>User confirms</a:t>
            </a:r>
          </a:p>
        </p:txBody>
      </p:sp>
      <p:sp>
        <p:nvSpPr>
          <p:cNvPr id="18" name="Rectangle 17"/>
          <p:cNvSpPr/>
          <p:nvPr/>
        </p:nvSpPr>
        <p:spPr>
          <a:xfrm>
            <a:off x="9180576" y="3163824"/>
            <a:ext cx="2423160" cy="1636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45167" y="3364992"/>
            <a:ext cx="2084831" cy="365760"/>
          </a:xfrm>
          <a:prstGeom prst="rect">
            <a:avLst/>
          </a:prstGeom>
          <a:noFill/>
        </p:spPr>
        <p:txBody>
          <a:bodyPr wrap="square" tIns="0" bIns="0" lIns="0" rIns="0">
            <a:spAutoFit/>
          </a:bodyPr>
          <a:lstStyle/>
          <a:p>
            <a:pPr>
              <a:spcAft>
                <a:spcPts val="500"/>
              </a:spcAft>
              <a:defRPr sz="1800" b="1">
                <a:solidFill>
                  <a:srgbClr val="29473F"/>
                </a:solidFill>
                <a:latin typeface="Arial"/>
              </a:defRPr>
            </a:pPr>
            <a:r>
              <a:t>04</a:t>
            </a:r>
          </a:p>
        </p:txBody>
      </p:sp>
      <p:sp>
        <p:nvSpPr>
          <p:cNvPr id="20" name="TextBox 19"/>
          <p:cNvSpPr txBox="1"/>
          <p:nvPr/>
        </p:nvSpPr>
        <p:spPr>
          <a:xfrm>
            <a:off x="9345167" y="3895344"/>
            <a:ext cx="2084831" cy="685800"/>
          </a:xfrm>
          <a:prstGeom prst="rect">
            <a:avLst/>
          </a:prstGeom>
          <a:noFill/>
        </p:spPr>
        <p:txBody>
          <a:bodyPr wrap="square" tIns="0" bIns="0" lIns="0" rIns="0">
            <a:spAutoFit/>
          </a:bodyPr>
          <a:lstStyle/>
          <a:p>
            <a:pPr>
              <a:spcAft>
                <a:spcPts val="500"/>
              </a:spcAft>
              <a:defRPr sz="2300" b="1">
                <a:solidFill>
                  <a:srgbClr val="15211F"/>
                </a:solidFill>
                <a:latin typeface="Arial"/>
              </a:defRPr>
            </a:pPr>
            <a:r>
              <a:t>Recheck target</a:t>
            </a:r>
          </a:p>
        </p:txBody>
      </p:sp>
      <p:sp>
        <p:nvSpPr>
          <p:cNvPr id="21" name="Chevron 20"/>
          <p:cNvSpPr/>
          <p:nvPr/>
        </p:nvSpPr>
        <p:spPr>
          <a:xfrm>
            <a:off x="3063240" y="3813048"/>
            <a:ext cx="265176" cy="237744"/>
          </a:xfrm>
          <a:prstGeom prst="chevron">
            <a:avLst/>
          </a:prstGeom>
          <a:solidFill>
            <a:srgbClr val="2947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hevron 21"/>
          <p:cNvSpPr/>
          <p:nvPr/>
        </p:nvSpPr>
        <p:spPr>
          <a:xfrm>
            <a:off x="5934456" y="3813048"/>
            <a:ext cx="265176" cy="237744"/>
          </a:xfrm>
          <a:prstGeom prst="chevron">
            <a:avLst/>
          </a:prstGeom>
          <a:solidFill>
            <a:srgbClr val="2947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hevron 22"/>
          <p:cNvSpPr/>
          <p:nvPr/>
        </p:nvSpPr>
        <p:spPr>
          <a:xfrm>
            <a:off x="8805672" y="3813048"/>
            <a:ext cx="265176" cy="237744"/>
          </a:xfrm>
          <a:prstGeom prst="chevron">
            <a:avLst/>
          </a:prstGeom>
          <a:solidFill>
            <a:srgbClr val="2947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6072" y="5285232"/>
            <a:ext cx="10972800" cy="475488"/>
          </a:xfrm>
          <a:prstGeom prst="rect">
            <a:avLst/>
          </a:prstGeom>
          <a:noFill/>
        </p:spPr>
        <p:txBody>
          <a:bodyPr wrap="square" tIns="0" bIns="0" lIns="0" rIns="0">
            <a:spAutoFit/>
          </a:bodyPr>
          <a:lstStyle/>
          <a:p>
            <a:pPr>
              <a:spcAft>
                <a:spcPts val="500"/>
              </a:spcAft>
              <a:defRPr sz="2000" b="1">
                <a:solidFill>
                  <a:srgbClr val="29473F"/>
                </a:solidFill>
                <a:latin typeface="Arial"/>
              </a:defRPr>
            </a:pPr>
            <a:r>
              <a:t>Allowed: click / scroll / done.  No arbitrary URL, typing, script or submission.</a:t>
            </a:r>
          </a:p>
        </p:txBody>
      </p:sp>
      <p:sp>
        <p:nvSpPr>
          <p:cNvPr id="25" name="TextBox 24"/>
          <p:cNvSpPr txBox="1"/>
          <p:nvPr/>
        </p:nvSpPr>
        <p:spPr>
          <a:xfrm>
            <a:off x="548640" y="5980176"/>
            <a:ext cx="11064240" cy="256032"/>
          </a:xfrm>
          <a:prstGeom prst="rect">
            <a:avLst/>
          </a:prstGeom>
          <a:noFill/>
        </p:spPr>
        <p:txBody>
          <a:bodyPr wrap="square" tIns="0" bIns="0" lIns="0" rIns="0">
            <a:spAutoFit/>
          </a:bodyPr>
          <a:lstStyle/>
          <a:p>
            <a:pPr>
              <a:spcAft>
                <a:spcPts val="500"/>
              </a:spcAft>
              <a:defRPr sz="1100" b="0">
                <a:solidFill>
                  <a:srgbClr val="52645C"/>
                </a:solidFill>
                <a:latin typeface="Arial"/>
              </a:defRPr>
            </a:pPr>
            <a:r>
              <a:t>30-second capture expiry; delayed action rejected in the recorded workflow. Prompt-injection safety is not complete.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1E7"/>
        </a:solidFill>
        <a:effectLst/>
      </p:bgPr>
    </p:bg>
    <p:spTree>
      <p:nvGrpSpPr>
        <p:cNvPr id="1" name=""/>
        <p:cNvGrpSpPr/>
        <p:nvPr/>
      </p:nvGrpSpPr>
      <p:grpSpPr/>
      <p:sp>
        <p:nvSpPr>
          <p:cNvPr id="2" name="TextBox 1"/>
          <p:cNvSpPr txBox="1"/>
          <p:nvPr/>
        </p:nvSpPr>
        <p:spPr>
          <a:xfrm>
            <a:off x="548640" y="265176"/>
            <a:ext cx="8321040" cy="274320"/>
          </a:xfrm>
          <a:prstGeom prst="rect">
            <a:avLst/>
          </a:prstGeom>
          <a:noFill/>
        </p:spPr>
        <p:txBody>
          <a:bodyPr wrap="square" tIns="0" bIns="0" lIns="0" rIns="0">
            <a:spAutoFit/>
          </a:bodyPr>
          <a:lstStyle/>
          <a:p>
            <a:pPr>
              <a:spcAft>
                <a:spcPts val="500"/>
              </a:spcAft>
              <a:defRPr sz="1100" b="1">
                <a:solidFill>
                  <a:srgbClr val="29473F"/>
                </a:solidFill>
                <a:latin typeface="Arial"/>
              </a:defRPr>
            </a:pPr>
            <a:r>
              <a:t>TECHNICAL APPROACH</a:t>
            </a:r>
          </a:p>
        </p:txBody>
      </p:sp>
      <p:sp>
        <p:nvSpPr>
          <p:cNvPr id="3" name="TextBox 2"/>
          <p:cNvSpPr txBox="1"/>
          <p:nvPr/>
        </p:nvSpPr>
        <p:spPr>
          <a:xfrm>
            <a:off x="9144000" y="265176"/>
            <a:ext cx="2514600" cy="274320"/>
          </a:xfrm>
          <a:prstGeom prst="rect">
            <a:avLst/>
          </a:prstGeom>
          <a:noFill/>
        </p:spPr>
        <p:txBody>
          <a:bodyPr wrap="square" tIns="0" bIns="0" lIns="0" rIns="0">
            <a:spAutoFit/>
          </a:bodyPr>
          <a:lstStyle/>
          <a:p>
            <a:pPr>
              <a:spcAft>
                <a:spcPts val="500"/>
              </a:spcAft>
              <a:defRPr sz="1100" b="1">
                <a:solidFill>
                  <a:srgbClr val="15211F"/>
                </a:solidFill>
                <a:latin typeface="Arial"/>
              </a:defRPr>
            </a:pPr>
            <a:r>
              <a:t>DHRISTI / SIH26171</a:t>
            </a:r>
          </a:p>
        </p:txBody>
      </p:sp>
      <p:sp>
        <p:nvSpPr>
          <p:cNvPr id="4" name="TextBox 3"/>
          <p:cNvSpPr txBox="1"/>
          <p:nvPr/>
        </p:nvSpPr>
        <p:spPr>
          <a:xfrm>
            <a:off x="548640" y="868680"/>
            <a:ext cx="11064240" cy="1069848"/>
          </a:xfrm>
          <a:prstGeom prst="rect">
            <a:avLst/>
          </a:prstGeom>
          <a:noFill/>
        </p:spPr>
        <p:txBody>
          <a:bodyPr wrap="square" tIns="0" bIns="0" lIns="0" rIns="0">
            <a:spAutoFit/>
          </a:bodyPr>
          <a:lstStyle/>
          <a:p>
            <a:pPr>
              <a:spcAft>
                <a:spcPts val="500"/>
              </a:spcAft>
              <a:defRPr sz="4000" b="1">
                <a:solidFill>
                  <a:srgbClr val="15211F"/>
                </a:solidFill>
                <a:latin typeface="Arial"/>
              </a:defRPr>
            </a:pPr>
            <a:r>
              <a:t>One complete task, with a real model.</a:t>
            </a:r>
          </a:p>
        </p:txBody>
      </p:sp>
      <p:sp>
        <p:nvSpPr>
          <p:cNvPr id="5" name="TextBox 4"/>
          <p:cNvSpPr txBox="1"/>
          <p:nvPr/>
        </p:nvSpPr>
        <p:spPr>
          <a:xfrm>
            <a:off x="576072" y="1993392"/>
            <a:ext cx="10972800" cy="566928"/>
          </a:xfrm>
          <a:prstGeom prst="rect">
            <a:avLst/>
          </a:prstGeom>
          <a:noFill/>
        </p:spPr>
        <p:txBody>
          <a:bodyPr wrap="square" tIns="0" bIns="0" lIns="0" rIns="0">
            <a:spAutoFit/>
          </a:bodyPr>
          <a:lstStyle/>
          <a:p>
            <a:pPr>
              <a:spcAft>
                <a:spcPts val="500"/>
              </a:spcAft>
              <a:defRPr sz="1800" b="0">
                <a:solidFill>
                  <a:srgbClr val="52645C"/>
                </a:solidFill>
                <a:latin typeface="Arial"/>
              </a:defRPr>
            </a:pPr>
            <a:r>
              <a:t>Observed synthetic workflow: open Pending, then Review. No external account or form submission.</a:t>
            </a:r>
          </a:p>
        </p:txBody>
      </p:sp>
      <p:cxnSp>
        <p:nvCxnSpPr>
          <p:cNvPr id="6" name="Connector 5"/>
          <p:cNvCxnSpPr/>
          <p:nvPr/>
        </p:nvCxnSpPr>
        <p:spPr>
          <a:xfrm>
            <a:off x="548640" y="6391656"/>
            <a:ext cx="11064240" cy="0"/>
          </a:xfrm>
          <a:prstGeom prst="line">
            <a:avLst/>
          </a:prstGeom>
          <a:ln w="8890">
            <a:solidFill>
              <a:srgbClr val="52645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28816"/>
            <a:ext cx="9144000" cy="201168"/>
          </a:xfrm>
          <a:prstGeom prst="rect">
            <a:avLst/>
          </a:prstGeom>
          <a:noFill/>
        </p:spPr>
        <p:txBody>
          <a:bodyPr wrap="square" tIns="0" bIns="0" lIns="0" rIns="0">
            <a:spAutoFit/>
          </a:bodyPr>
          <a:lstStyle/>
          <a:p>
            <a:pPr>
              <a:spcAft>
                <a:spcPts val="500"/>
              </a:spcAft>
              <a:defRPr sz="1000" b="0">
                <a:solidFill>
                  <a:srgbClr val="52645C"/>
                </a:solidFill>
                <a:latin typeface="Arial"/>
              </a:defRPr>
            </a:pPr>
            <a:r>
              <a:t>RV UNIVERSITY · ENGINEERING CANDIDATE v0.1 · 11 SEP 2026</a:t>
            </a:r>
          </a:p>
        </p:txBody>
      </p:sp>
      <p:sp>
        <p:nvSpPr>
          <p:cNvPr id="8" name="TextBox 7"/>
          <p:cNvSpPr txBox="1"/>
          <p:nvPr/>
        </p:nvSpPr>
        <p:spPr>
          <a:xfrm>
            <a:off x="10881360" y="6528816"/>
            <a:ext cx="768096" cy="201168"/>
          </a:xfrm>
          <a:prstGeom prst="rect">
            <a:avLst/>
          </a:prstGeom>
          <a:noFill/>
        </p:spPr>
        <p:txBody>
          <a:bodyPr wrap="square" tIns="0" bIns="0" lIns="0" rIns="0">
            <a:spAutoFit/>
          </a:bodyPr>
          <a:lstStyle/>
          <a:p>
            <a:pPr>
              <a:spcAft>
                <a:spcPts val="500"/>
              </a:spcAft>
              <a:defRPr sz="1000" b="0">
                <a:solidFill>
                  <a:srgbClr val="52645C"/>
                </a:solidFill>
                <a:latin typeface="Arial"/>
              </a:defRPr>
            </a:pPr>
            <a:r>
              <a:t>09 / 15</a:t>
            </a:r>
          </a:p>
        </p:txBody>
      </p:sp>
      <p:sp>
        <p:nvSpPr>
          <p:cNvPr id="9" name="Rectangle 8"/>
          <p:cNvSpPr/>
          <p:nvPr/>
        </p:nvSpPr>
        <p:spPr>
          <a:xfrm>
            <a:off x="566928" y="3136392"/>
            <a:ext cx="3438144" cy="208483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3383280"/>
            <a:ext cx="3063240" cy="777240"/>
          </a:xfrm>
          <a:prstGeom prst="rect">
            <a:avLst/>
          </a:prstGeom>
          <a:noFill/>
        </p:spPr>
        <p:txBody>
          <a:bodyPr wrap="square" tIns="0" bIns="0" lIns="0" rIns="0">
            <a:spAutoFit/>
          </a:bodyPr>
          <a:lstStyle/>
          <a:p>
            <a:pPr>
              <a:spcAft>
                <a:spcPts val="500"/>
              </a:spcAft>
              <a:defRPr sz="2600" b="1">
                <a:solidFill>
                  <a:srgbClr val="15211F"/>
                </a:solidFill>
                <a:latin typeface="Arial"/>
              </a:defRPr>
            </a:pPr>
            <a:r>
              <a:t>Requests</a:t>
            </a:r>
          </a:p>
        </p:txBody>
      </p:sp>
      <p:sp>
        <p:nvSpPr>
          <p:cNvPr id="11" name="TextBox 10"/>
          <p:cNvSpPr txBox="1"/>
          <p:nvPr/>
        </p:nvSpPr>
        <p:spPr>
          <a:xfrm>
            <a:off x="749808" y="4361688"/>
            <a:ext cx="3063240" cy="704088"/>
          </a:xfrm>
          <a:prstGeom prst="rect">
            <a:avLst/>
          </a:prstGeom>
          <a:noFill/>
        </p:spPr>
        <p:txBody>
          <a:bodyPr wrap="square" tIns="0" bIns="0" lIns="0" rIns="0">
            <a:spAutoFit/>
          </a:bodyPr>
          <a:lstStyle/>
          <a:p>
            <a:pPr>
              <a:spcAft>
                <a:spcPts val="500"/>
              </a:spcAft>
              <a:defRPr sz="1900" b="0">
                <a:solidFill>
                  <a:srgbClr val="52645C"/>
                </a:solidFill>
                <a:latin typeface="Arial"/>
              </a:defRPr>
            </a:pPr>
            <a:r>
              <a:t>Capture → Qwen → confirm</a:t>
            </a:r>
          </a:p>
        </p:txBody>
      </p:sp>
      <p:sp>
        <p:nvSpPr>
          <p:cNvPr id="12" name="Rectangle 11"/>
          <p:cNvSpPr/>
          <p:nvPr/>
        </p:nvSpPr>
        <p:spPr>
          <a:xfrm>
            <a:off x="4370832" y="3136392"/>
            <a:ext cx="3438144" cy="208483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3712" y="3383280"/>
            <a:ext cx="3063240" cy="777240"/>
          </a:xfrm>
          <a:prstGeom prst="rect">
            <a:avLst/>
          </a:prstGeom>
          <a:noFill/>
        </p:spPr>
        <p:txBody>
          <a:bodyPr wrap="square" tIns="0" bIns="0" lIns="0" rIns="0">
            <a:spAutoFit/>
          </a:bodyPr>
          <a:lstStyle/>
          <a:p>
            <a:pPr>
              <a:spcAft>
                <a:spcPts val="500"/>
              </a:spcAft>
              <a:defRPr sz="2600" b="1">
                <a:solidFill>
                  <a:srgbClr val="15211F"/>
                </a:solidFill>
                <a:latin typeface="Arial"/>
              </a:defRPr>
            </a:pPr>
            <a:r>
              <a:t>Pending requests</a:t>
            </a:r>
          </a:p>
        </p:txBody>
      </p:sp>
      <p:sp>
        <p:nvSpPr>
          <p:cNvPr id="14" name="TextBox 13"/>
          <p:cNvSpPr txBox="1"/>
          <p:nvPr/>
        </p:nvSpPr>
        <p:spPr>
          <a:xfrm>
            <a:off x="4553712" y="4361688"/>
            <a:ext cx="3063240" cy="704088"/>
          </a:xfrm>
          <a:prstGeom prst="rect">
            <a:avLst/>
          </a:prstGeom>
          <a:noFill/>
        </p:spPr>
        <p:txBody>
          <a:bodyPr wrap="square" tIns="0" bIns="0" lIns="0" rIns="0">
            <a:spAutoFit/>
          </a:bodyPr>
          <a:lstStyle/>
          <a:p>
            <a:pPr>
              <a:spcAft>
                <a:spcPts val="500"/>
              </a:spcAft>
              <a:defRPr sz="1900" b="0">
                <a:solidFill>
                  <a:srgbClr val="52645C"/>
                </a:solidFill>
                <a:latin typeface="Arial"/>
              </a:defRPr>
            </a:pPr>
            <a:r>
              <a:t>Recapture → Qwen → confirm</a:t>
            </a:r>
          </a:p>
        </p:txBody>
      </p:sp>
      <p:sp>
        <p:nvSpPr>
          <p:cNvPr id="15" name="Rectangle 14"/>
          <p:cNvSpPr/>
          <p:nvPr/>
        </p:nvSpPr>
        <p:spPr>
          <a:xfrm>
            <a:off x="8174736" y="3136392"/>
            <a:ext cx="3438144" cy="2084831"/>
          </a:xfrm>
          <a:prstGeom prst="rect">
            <a:avLst/>
          </a:prstGeom>
          <a:solidFill>
            <a:srgbClr val="D8F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7615" y="3383280"/>
            <a:ext cx="3063240" cy="777240"/>
          </a:xfrm>
          <a:prstGeom prst="rect">
            <a:avLst/>
          </a:prstGeom>
          <a:noFill/>
        </p:spPr>
        <p:txBody>
          <a:bodyPr wrap="square" tIns="0" bIns="0" lIns="0" rIns="0">
            <a:spAutoFit/>
          </a:bodyPr>
          <a:lstStyle/>
          <a:p>
            <a:pPr>
              <a:spcAft>
                <a:spcPts val="500"/>
              </a:spcAft>
              <a:defRPr sz="2600" b="1">
                <a:solidFill>
                  <a:srgbClr val="15211F"/>
                </a:solidFill>
                <a:latin typeface="Arial"/>
              </a:defRPr>
            </a:pPr>
            <a:r>
              <a:t>Ready for review</a:t>
            </a:r>
          </a:p>
        </p:txBody>
      </p:sp>
      <p:sp>
        <p:nvSpPr>
          <p:cNvPr id="17" name="TextBox 16"/>
          <p:cNvSpPr txBox="1"/>
          <p:nvPr/>
        </p:nvSpPr>
        <p:spPr>
          <a:xfrm>
            <a:off x="8357615" y="4361688"/>
            <a:ext cx="3063240" cy="704088"/>
          </a:xfrm>
          <a:prstGeom prst="rect">
            <a:avLst/>
          </a:prstGeom>
          <a:noFill/>
        </p:spPr>
        <p:txBody>
          <a:bodyPr wrap="square" tIns="0" bIns="0" lIns="0" rIns="0">
            <a:spAutoFit/>
          </a:bodyPr>
          <a:lstStyle/>
          <a:p>
            <a:pPr>
              <a:spcAft>
                <a:spcPts val="500"/>
              </a:spcAft>
              <a:defRPr sz="1900" b="0">
                <a:solidFill>
                  <a:srgbClr val="52645C"/>
                </a:solidFill>
                <a:latin typeface="Arial"/>
              </a:defRPr>
            </a:pPr>
            <a:r>
              <a:t>Correct fixture end-state</a:t>
            </a:r>
          </a:p>
        </p:txBody>
      </p:sp>
      <p:sp>
        <p:nvSpPr>
          <p:cNvPr id="18" name="TextBox 17"/>
          <p:cNvSpPr txBox="1"/>
          <p:nvPr/>
        </p:nvSpPr>
        <p:spPr>
          <a:xfrm>
            <a:off x="576072" y="5522976"/>
            <a:ext cx="10972800" cy="329184"/>
          </a:xfrm>
          <a:prstGeom prst="rect">
            <a:avLst/>
          </a:prstGeom>
          <a:noFill/>
        </p:spPr>
        <p:txBody>
          <a:bodyPr wrap="square" tIns="0" bIns="0" lIns="0" rIns="0">
            <a:spAutoFit/>
          </a:bodyPr>
          <a:lstStyle/>
          <a:p>
            <a:pPr>
              <a:spcAft>
                <a:spcPts val="500"/>
              </a:spcAft>
              <a:defRPr sz="1600" b="0">
                <a:solidFill>
                  <a:srgbClr val="70420B"/>
                </a:solidFill>
                <a:latin typeface="Arial"/>
              </a:defRPr>
            </a:pPr>
            <a:r>
              <a:t>Demo fallback: local screenshots available. Screen-recording playback remains a separate delivery check.</a:t>
            </a:r>
          </a:p>
        </p:txBody>
      </p:sp>
      <p:sp>
        <p:nvSpPr>
          <p:cNvPr id="19" name="TextBox 18"/>
          <p:cNvSpPr txBox="1"/>
          <p:nvPr/>
        </p:nvSpPr>
        <p:spPr>
          <a:xfrm>
            <a:off x="548640" y="5980176"/>
            <a:ext cx="11064240" cy="256032"/>
          </a:xfrm>
          <a:prstGeom prst="rect">
            <a:avLst/>
          </a:prstGeom>
          <a:noFill/>
        </p:spPr>
        <p:txBody>
          <a:bodyPr wrap="square" tIns="0" bIns="0" lIns="0" rIns="0">
            <a:spAutoFit/>
          </a:bodyPr>
          <a:lstStyle/>
          <a:p>
            <a:pPr>
              <a:spcAft>
                <a:spcPts val="500"/>
              </a:spcAft>
              <a:defRPr sz="1100" b="0">
                <a:solidFill>
                  <a:srgbClr val="52645C"/>
                </a:solidFill>
                <a:latin typeface="Arial"/>
              </a:defRPr>
            </a:pPr>
            <a:r>
              <a:t>Recorded manual integration: actual qwen2.5:7b-instruct on Ollama, not provider test doubles.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1E7"/>
        </a:solidFill>
        <a:effectLst/>
      </p:bgPr>
    </p:bg>
    <p:spTree>
      <p:nvGrpSpPr>
        <p:cNvPr id="1" name=""/>
        <p:cNvGrpSpPr/>
        <p:nvPr/>
      </p:nvGrpSpPr>
      <p:grpSpPr/>
      <p:sp>
        <p:nvSpPr>
          <p:cNvPr id="2" name="TextBox 1"/>
          <p:cNvSpPr txBox="1"/>
          <p:nvPr/>
        </p:nvSpPr>
        <p:spPr>
          <a:xfrm>
            <a:off x="548640" y="265176"/>
            <a:ext cx="8321040" cy="274320"/>
          </a:xfrm>
          <a:prstGeom prst="rect">
            <a:avLst/>
          </a:prstGeom>
          <a:noFill/>
        </p:spPr>
        <p:txBody>
          <a:bodyPr wrap="square" tIns="0" bIns="0" lIns="0" rIns="0">
            <a:spAutoFit/>
          </a:bodyPr>
          <a:lstStyle/>
          <a:p>
            <a:pPr>
              <a:spcAft>
                <a:spcPts val="500"/>
              </a:spcAft>
              <a:defRPr sz="1100" b="1">
                <a:solidFill>
                  <a:srgbClr val="29473F"/>
                </a:solidFill>
                <a:latin typeface="Arial"/>
              </a:defRPr>
            </a:pPr>
            <a:r>
              <a:t>FEASIBILITY AND VIABILITY</a:t>
            </a:r>
          </a:p>
        </p:txBody>
      </p:sp>
      <p:sp>
        <p:nvSpPr>
          <p:cNvPr id="3" name="TextBox 2"/>
          <p:cNvSpPr txBox="1"/>
          <p:nvPr/>
        </p:nvSpPr>
        <p:spPr>
          <a:xfrm>
            <a:off x="9144000" y="265176"/>
            <a:ext cx="2514600" cy="274320"/>
          </a:xfrm>
          <a:prstGeom prst="rect">
            <a:avLst/>
          </a:prstGeom>
          <a:noFill/>
        </p:spPr>
        <p:txBody>
          <a:bodyPr wrap="square" tIns="0" bIns="0" lIns="0" rIns="0">
            <a:spAutoFit/>
          </a:bodyPr>
          <a:lstStyle/>
          <a:p>
            <a:pPr>
              <a:spcAft>
                <a:spcPts val="500"/>
              </a:spcAft>
              <a:defRPr sz="1100" b="1">
                <a:solidFill>
                  <a:srgbClr val="15211F"/>
                </a:solidFill>
                <a:latin typeface="Arial"/>
              </a:defRPr>
            </a:pPr>
            <a:r>
              <a:t>DHRISTI / SIH26171</a:t>
            </a:r>
          </a:p>
        </p:txBody>
      </p:sp>
      <p:sp>
        <p:nvSpPr>
          <p:cNvPr id="4" name="TextBox 3"/>
          <p:cNvSpPr txBox="1"/>
          <p:nvPr/>
        </p:nvSpPr>
        <p:spPr>
          <a:xfrm>
            <a:off x="548640" y="868680"/>
            <a:ext cx="11064240" cy="1069848"/>
          </a:xfrm>
          <a:prstGeom prst="rect">
            <a:avLst/>
          </a:prstGeom>
          <a:noFill/>
        </p:spPr>
        <p:txBody>
          <a:bodyPr wrap="square" tIns="0" bIns="0" lIns="0" rIns="0">
            <a:spAutoFit/>
          </a:bodyPr>
          <a:lstStyle/>
          <a:p>
            <a:pPr>
              <a:spcAft>
                <a:spcPts val="500"/>
              </a:spcAft>
              <a:defRPr sz="4000" b="1">
                <a:solidFill>
                  <a:srgbClr val="15211F"/>
                </a:solidFill>
                <a:latin typeface="Arial"/>
              </a:defRPr>
            </a:pPr>
            <a:r>
              <a:t>Fast perception. Slower reasoning.</a:t>
            </a:r>
          </a:p>
        </p:txBody>
      </p:sp>
      <p:sp>
        <p:nvSpPr>
          <p:cNvPr id="5" name="TextBox 4"/>
          <p:cNvSpPr txBox="1"/>
          <p:nvPr/>
        </p:nvSpPr>
        <p:spPr>
          <a:xfrm>
            <a:off x="576072" y="1993392"/>
            <a:ext cx="10972800" cy="566928"/>
          </a:xfrm>
          <a:prstGeom prst="rect">
            <a:avLst/>
          </a:prstGeom>
          <a:noFill/>
        </p:spPr>
        <p:txBody>
          <a:bodyPr wrap="square" tIns="0" bIns="0" lIns="0" rIns="0">
            <a:spAutoFit/>
          </a:bodyPr>
          <a:lstStyle/>
          <a:p>
            <a:pPr>
              <a:spcAft>
                <a:spcPts val="500"/>
              </a:spcAft>
              <a:defRPr sz="1800" b="0">
                <a:solidFill>
                  <a:srgbClr val="52645C"/>
                </a:solidFill>
                <a:latin typeface="Arial"/>
              </a:defRPr>
            </a:pPr>
            <a:r>
              <a:t>Single integration observations on Apple M1 Pro / 16 GB / embedded Chromium. Not p95.</a:t>
            </a:r>
          </a:p>
        </p:txBody>
      </p:sp>
      <p:cxnSp>
        <p:nvCxnSpPr>
          <p:cNvPr id="6" name="Connector 5"/>
          <p:cNvCxnSpPr/>
          <p:nvPr/>
        </p:nvCxnSpPr>
        <p:spPr>
          <a:xfrm>
            <a:off x="548640" y="6391656"/>
            <a:ext cx="11064240" cy="0"/>
          </a:xfrm>
          <a:prstGeom prst="line">
            <a:avLst/>
          </a:prstGeom>
          <a:ln w="8890">
            <a:solidFill>
              <a:srgbClr val="52645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28816"/>
            <a:ext cx="9144000" cy="201168"/>
          </a:xfrm>
          <a:prstGeom prst="rect">
            <a:avLst/>
          </a:prstGeom>
          <a:noFill/>
        </p:spPr>
        <p:txBody>
          <a:bodyPr wrap="square" tIns="0" bIns="0" lIns="0" rIns="0">
            <a:spAutoFit/>
          </a:bodyPr>
          <a:lstStyle/>
          <a:p>
            <a:pPr>
              <a:spcAft>
                <a:spcPts val="500"/>
              </a:spcAft>
              <a:defRPr sz="1000" b="0">
                <a:solidFill>
                  <a:srgbClr val="52645C"/>
                </a:solidFill>
                <a:latin typeface="Arial"/>
              </a:defRPr>
            </a:pPr>
            <a:r>
              <a:t>RV UNIVERSITY · ENGINEERING CANDIDATE v0.1 · 11 SEP 2026</a:t>
            </a:r>
          </a:p>
        </p:txBody>
      </p:sp>
      <p:sp>
        <p:nvSpPr>
          <p:cNvPr id="8" name="TextBox 7"/>
          <p:cNvSpPr txBox="1"/>
          <p:nvPr/>
        </p:nvSpPr>
        <p:spPr>
          <a:xfrm>
            <a:off x="10881360" y="6528816"/>
            <a:ext cx="768096" cy="201168"/>
          </a:xfrm>
          <a:prstGeom prst="rect">
            <a:avLst/>
          </a:prstGeom>
          <a:noFill/>
        </p:spPr>
        <p:txBody>
          <a:bodyPr wrap="square" tIns="0" bIns="0" lIns="0" rIns="0">
            <a:spAutoFit/>
          </a:bodyPr>
          <a:lstStyle/>
          <a:p>
            <a:pPr>
              <a:spcAft>
                <a:spcPts val="500"/>
              </a:spcAft>
              <a:defRPr sz="1000" b="0">
                <a:solidFill>
                  <a:srgbClr val="52645C"/>
                </a:solidFill>
                <a:latin typeface="Arial"/>
              </a:defRPr>
            </a:pPr>
            <a:r>
              <a:t>10 / 15</a:t>
            </a:r>
          </a:p>
        </p:txBody>
      </p:sp>
      <p:sp>
        <p:nvSpPr>
          <p:cNvPr id="9" name="TextBox 8"/>
          <p:cNvSpPr txBox="1"/>
          <p:nvPr/>
        </p:nvSpPr>
        <p:spPr>
          <a:xfrm>
            <a:off x="566928" y="3108960"/>
            <a:ext cx="3438144" cy="758952"/>
          </a:xfrm>
          <a:prstGeom prst="rect">
            <a:avLst/>
          </a:prstGeom>
          <a:noFill/>
        </p:spPr>
        <p:txBody>
          <a:bodyPr wrap="square" tIns="0" bIns="0" lIns="0" rIns="0">
            <a:spAutoFit/>
          </a:bodyPr>
          <a:lstStyle/>
          <a:p>
            <a:pPr>
              <a:spcAft>
                <a:spcPts val="500"/>
              </a:spcAft>
              <a:defRPr sz="4200" b="1">
                <a:solidFill>
                  <a:srgbClr val="15211F"/>
                </a:solidFill>
                <a:latin typeface="Arial"/>
              </a:defRPr>
            </a:pPr>
            <a:r>
              <a:t>9–20 ms</a:t>
            </a:r>
          </a:p>
        </p:txBody>
      </p:sp>
      <p:sp>
        <p:nvSpPr>
          <p:cNvPr id="10" name="TextBox 9"/>
          <p:cNvSpPr txBox="1"/>
          <p:nvPr/>
        </p:nvSpPr>
        <p:spPr>
          <a:xfrm>
            <a:off x="566928" y="4059936"/>
            <a:ext cx="3438144" cy="612648"/>
          </a:xfrm>
          <a:prstGeom prst="rect">
            <a:avLst/>
          </a:prstGeom>
          <a:noFill/>
        </p:spPr>
        <p:txBody>
          <a:bodyPr wrap="square" tIns="0" bIns="0" lIns="0" rIns="0">
            <a:spAutoFit/>
          </a:bodyPr>
          <a:lstStyle/>
          <a:p>
            <a:pPr>
              <a:spcAft>
                <a:spcPts val="500"/>
              </a:spcAft>
              <a:defRPr sz="2200" b="0">
                <a:solidFill>
                  <a:srgbClr val="52645C"/>
                </a:solidFill>
                <a:latin typeface="Arial"/>
              </a:defRPr>
            </a:pPr>
            <a:r>
              <a:t>Face inference, 14 input sizes</a:t>
            </a:r>
          </a:p>
        </p:txBody>
      </p:sp>
      <p:cxnSp>
        <p:nvCxnSpPr>
          <p:cNvPr id="11" name="Connector 10"/>
          <p:cNvCxnSpPr/>
          <p:nvPr/>
        </p:nvCxnSpPr>
        <p:spPr>
          <a:xfrm>
            <a:off x="566928" y="4937760"/>
            <a:ext cx="3438144" cy="0"/>
          </a:xfrm>
          <a:prstGeom prst="line">
            <a:avLst/>
          </a:prstGeom>
          <a:ln w="8890">
            <a:solidFill>
              <a:srgbClr val="52645C"/>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370832" y="3108960"/>
            <a:ext cx="3438144" cy="758952"/>
          </a:xfrm>
          <a:prstGeom prst="rect">
            <a:avLst/>
          </a:prstGeom>
          <a:noFill/>
        </p:spPr>
        <p:txBody>
          <a:bodyPr wrap="square" tIns="0" bIns="0" lIns="0" rIns="0">
            <a:spAutoFit/>
          </a:bodyPr>
          <a:lstStyle/>
          <a:p>
            <a:pPr>
              <a:spcAft>
                <a:spcPts val="500"/>
              </a:spcAft>
              <a:defRPr sz="4200" b="1">
                <a:solidFill>
                  <a:srgbClr val="15211F"/>
                </a:solidFill>
                <a:latin typeface="Arial"/>
              </a:defRPr>
            </a:pPr>
            <a:r>
              <a:t>92–108 ms</a:t>
            </a:r>
          </a:p>
        </p:txBody>
      </p:sp>
      <p:sp>
        <p:nvSpPr>
          <p:cNvPr id="13" name="TextBox 12"/>
          <p:cNvSpPr txBox="1"/>
          <p:nvPr/>
        </p:nvSpPr>
        <p:spPr>
          <a:xfrm>
            <a:off x="4370832" y="4059936"/>
            <a:ext cx="3438144" cy="612648"/>
          </a:xfrm>
          <a:prstGeom prst="rect">
            <a:avLst/>
          </a:prstGeom>
          <a:noFill/>
        </p:spPr>
        <p:txBody>
          <a:bodyPr wrap="square" tIns="0" bIns="0" lIns="0" rIns="0">
            <a:spAutoFit/>
          </a:bodyPr>
          <a:lstStyle/>
          <a:p>
            <a:pPr>
              <a:spcAft>
                <a:spcPts val="500"/>
              </a:spcAft>
              <a:defRPr sz="2200" b="0">
                <a:solidFill>
                  <a:srgbClr val="52645C"/>
                </a:solidFill>
                <a:latin typeface="Arial"/>
              </a:defRPr>
            </a:pPr>
            <a:r>
              <a:t>Capture + protection</a:t>
            </a:r>
          </a:p>
        </p:txBody>
      </p:sp>
      <p:cxnSp>
        <p:nvCxnSpPr>
          <p:cNvPr id="14" name="Connector 13"/>
          <p:cNvCxnSpPr/>
          <p:nvPr/>
        </p:nvCxnSpPr>
        <p:spPr>
          <a:xfrm>
            <a:off x="4370832" y="4937760"/>
            <a:ext cx="3438143" cy="0"/>
          </a:xfrm>
          <a:prstGeom prst="line">
            <a:avLst/>
          </a:prstGeom>
          <a:ln w="8890">
            <a:solidFill>
              <a:srgbClr val="52645C"/>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174736" y="3108960"/>
            <a:ext cx="3438144" cy="758952"/>
          </a:xfrm>
          <a:prstGeom prst="rect">
            <a:avLst/>
          </a:prstGeom>
          <a:noFill/>
        </p:spPr>
        <p:txBody>
          <a:bodyPr wrap="square" tIns="0" bIns="0" lIns="0" rIns="0">
            <a:spAutoFit/>
          </a:bodyPr>
          <a:lstStyle/>
          <a:p>
            <a:pPr>
              <a:spcAft>
                <a:spcPts val="500"/>
              </a:spcAft>
              <a:defRPr sz="4200" b="1">
                <a:solidFill>
                  <a:srgbClr val="15211F"/>
                </a:solidFill>
                <a:latin typeface="Arial"/>
              </a:defRPr>
            </a:pPr>
            <a:r>
              <a:t>3,029 ms</a:t>
            </a:r>
          </a:p>
        </p:txBody>
      </p:sp>
      <p:sp>
        <p:nvSpPr>
          <p:cNvPr id="16" name="TextBox 15"/>
          <p:cNvSpPr txBox="1"/>
          <p:nvPr/>
        </p:nvSpPr>
        <p:spPr>
          <a:xfrm>
            <a:off x="8174736" y="4059936"/>
            <a:ext cx="3438144" cy="612648"/>
          </a:xfrm>
          <a:prstGeom prst="rect">
            <a:avLst/>
          </a:prstGeom>
          <a:noFill/>
        </p:spPr>
        <p:txBody>
          <a:bodyPr wrap="square" tIns="0" bIns="0" lIns="0" rIns="0">
            <a:spAutoFit/>
          </a:bodyPr>
          <a:lstStyle/>
          <a:p>
            <a:pPr>
              <a:spcAft>
                <a:spcPts val="500"/>
              </a:spcAft>
              <a:defRPr sz="2200" b="0">
                <a:solidFill>
                  <a:srgbClr val="52645C"/>
                </a:solidFill>
                <a:latin typeface="Arial"/>
              </a:defRPr>
            </a:pPr>
            <a:r>
              <a:t>First real model step</a:t>
            </a:r>
          </a:p>
        </p:txBody>
      </p:sp>
      <p:cxnSp>
        <p:nvCxnSpPr>
          <p:cNvPr id="17" name="Connector 16"/>
          <p:cNvCxnSpPr/>
          <p:nvPr/>
        </p:nvCxnSpPr>
        <p:spPr>
          <a:xfrm>
            <a:off x="8174736" y="4937760"/>
            <a:ext cx="3438144" cy="0"/>
          </a:xfrm>
          <a:prstGeom prst="line">
            <a:avLst/>
          </a:prstGeom>
          <a:ln w="8890">
            <a:solidFill>
              <a:srgbClr val="52645C"/>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76072" y="5385816"/>
            <a:ext cx="10972800" cy="429768"/>
          </a:xfrm>
          <a:prstGeom prst="rect">
            <a:avLst/>
          </a:prstGeom>
          <a:noFill/>
        </p:spPr>
        <p:txBody>
          <a:bodyPr wrap="square" tIns="0" bIns="0" lIns="0" rIns="0">
            <a:spAutoFit/>
          </a:bodyPr>
          <a:lstStyle/>
          <a:p>
            <a:pPr>
              <a:spcAft>
                <a:spcPts val="500"/>
              </a:spcAft>
              <a:defRPr sz="2300" b="1">
                <a:solidFill>
                  <a:srgbClr val="70420B"/>
                </a:solidFill>
                <a:latin typeface="Arial"/>
              </a:defRPr>
            </a:pPr>
            <a:r>
              <a:t>119 recorded Node tests pass (2026-09-15). The &lt;200 ms full-flow target does not pass.</a:t>
            </a:r>
          </a:p>
        </p:txBody>
      </p:sp>
      <p:sp>
        <p:nvSpPr>
          <p:cNvPr id="19" name="TextBox 18"/>
          <p:cNvSpPr txBox="1"/>
          <p:nvPr/>
        </p:nvSpPr>
        <p:spPr>
          <a:xfrm>
            <a:off x="548640" y="5980176"/>
            <a:ext cx="11064240" cy="256032"/>
          </a:xfrm>
          <a:prstGeom prst="rect">
            <a:avLst/>
          </a:prstGeom>
          <a:noFill/>
        </p:spPr>
        <p:txBody>
          <a:bodyPr wrap="square" tIns="0" bIns="0" lIns="0" rIns="0">
            <a:spAutoFit/>
          </a:bodyPr>
          <a:lstStyle/>
          <a:p>
            <a:pPr>
              <a:spcAft>
                <a:spcPts val="500"/>
              </a:spcAft>
              <a:defRPr sz="1100" b="0">
                <a:solidFill>
                  <a:srgbClr val="52645C"/>
                </a:solidFill>
                <a:latin typeface="Arial"/>
              </a:defRPr>
            </a:pPr>
            <a:r>
              <a:t>Face-inference range: 11 Sep 2026 face-scale matrix. Capture and model figures: 9 Sep 2026 v0.1 record. Test doubles are unit-test scope; the Qwen workflow is separate evidence.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3F1E7"/>
        </a:solidFill>
        <a:effectLst/>
      </p:bgPr>
    </p:bg>
    <p:spTree>
      <p:nvGrpSpPr>
        <p:cNvPr id="1" name=""/>
        <p:cNvGrpSpPr/>
        <p:nvPr/>
      </p:nvGrpSpPr>
      <p:grpSpPr/>
      <p:sp>
        <p:nvSpPr>
          <p:cNvPr id="2" name="TextBox 1"/>
          <p:cNvSpPr txBox="1"/>
          <p:nvPr/>
        </p:nvSpPr>
        <p:spPr>
          <a:xfrm>
            <a:off x="548640" y="265176"/>
            <a:ext cx="8321040" cy="274320"/>
          </a:xfrm>
          <a:prstGeom prst="rect">
            <a:avLst/>
          </a:prstGeom>
          <a:noFill/>
        </p:spPr>
        <p:txBody>
          <a:bodyPr wrap="square" tIns="0" bIns="0" lIns="0" rIns="0">
            <a:spAutoFit/>
          </a:bodyPr>
          <a:lstStyle/>
          <a:p>
            <a:pPr>
              <a:spcAft>
                <a:spcPts val="500"/>
              </a:spcAft>
              <a:defRPr sz="1100" b="1">
                <a:solidFill>
                  <a:srgbClr val="29473F"/>
                </a:solidFill>
                <a:latin typeface="Arial"/>
              </a:defRPr>
            </a:pPr>
            <a:r>
              <a:t>FEASIBILITY AND VIABILITY</a:t>
            </a:r>
          </a:p>
        </p:txBody>
      </p:sp>
      <p:sp>
        <p:nvSpPr>
          <p:cNvPr id="3" name="TextBox 2"/>
          <p:cNvSpPr txBox="1"/>
          <p:nvPr/>
        </p:nvSpPr>
        <p:spPr>
          <a:xfrm>
            <a:off x="9144000" y="265176"/>
            <a:ext cx="2514600" cy="274320"/>
          </a:xfrm>
          <a:prstGeom prst="rect">
            <a:avLst/>
          </a:prstGeom>
          <a:noFill/>
        </p:spPr>
        <p:txBody>
          <a:bodyPr wrap="square" tIns="0" bIns="0" lIns="0" rIns="0">
            <a:spAutoFit/>
          </a:bodyPr>
          <a:lstStyle/>
          <a:p>
            <a:pPr>
              <a:spcAft>
                <a:spcPts val="500"/>
              </a:spcAft>
              <a:defRPr sz="1100" b="1">
                <a:solidFill>
                  <a:srgbClr val="15211F"/>
                </a:solidFill>
                <a:latin typeface="Arial"/>
              </a:defRPr>
            </a:pPr>
            <a:r>
              <a:t>DHRISTI / SIH26171</a:t>
            </a:r>
          </a:p>
        </p:txBody>
      </p:sp>
      <p:sp>
        <p:nvSpPr>
          <p:cNvPr id="4" name="TextBox 3"/>
          <p:cNvSpPr txBox="1"/>
          <p:nvPr/>
        </p:nvSpPr>
        <p:spPr>
          <a:xfrm>
            <a:off x="548640" y="868680"/>
            <a:ext cx="11064240" cy="1069848"/>
          </a:xfrm>
          <a:prstGeom prst="rect">
            <a:avLst/>
          </a:prstGeom>
          <a:noFill/>
        </p:spPr>
        <p:txBody>
          <a:bodyPr wrap="square" tIns="0" bIns="0" lIns="0" rIns="0">
            <a:spAutoFit/>
          </a:bodyPr>
          <a:lstStyle/>
          <a:p>
            <a:pPr>
              <a:spcAft>
                <a:spcPts val="500"/>
              </a:spcAft>
              <a:defRPr sz="4000" b="1">
                <a:solidFill>
                  <a:srgbClr val="15211F"/>
                </a:solidFill>
                <a:latin typeface="Arial"/>
              </a:defRPr>
            </a:pPr>
            <a:r>
              <a:t>Build on prior work, then test the difference.</a:t>
            </a:r>
          </a:p>
        </p:txBody>
      </p:sp>
      <p:sp>
        <p:nvSpPr>
          <p:cNvPr id="5" name="TextBox 4"/>
          <p:cNvSpPr txBox="1"/>
          <p:nvPr/>
        </p:nvSpPr>
        <p:spPr>
          <a:xfrm>
            <a:off x="576072" y="1993392"/>
            <a:ext cx="10972800" cy="566928"/>
          </a:xfrm>
          <a:prstGeom prst="rect">
            <a:avLst/>
          </a:prstGeom>
          <a:noFill/>
        </p:spPr>
        <p:txBody>
          <a:bodyPr wrap="square" tIns="0" bIns="0" lIns="0" rIns="0">
            <a:spAutoFit/>
          </a:bodyPr>
          <a:lstStyle/>
          <a:p>
            <a:pPr>
              <a:spcAft>
                <a:spcPts val="500"/>
              </a:spcAft>
              <a:defRPr sz="1800" b="0">
                <a:solidFill>
                  <a:srgbClr val="52645C"/>
                </a:solidFill>
                <a:latin typeface="Arial"/>
              </a:defRPr>
            </a:pPr>
            <a:r>
              <a:t>Privacy filtering is established. Our claim is an inspectable browser integration, not invention of anonymization.</a:t>
            </a:r>
          </a:p>
        </p:txBody>
      </p:sp>
      <p:cxnSp>
        <p:nvCxnSpPr>
          <p:cNvPr id="6" name="Connector 5"/>
          <p:cNvCxnSpPr/>
          <p:nvPr/>
        </p:nvCxnSpPr>
        <p:spPr>
          <a:xfrm>
            <a:off x="548640" y="6391656"/>
            <a:ext cx="11064240" cy="0"/>
          </a:xfrm>
          <a:prstGeom prst="line">
            <a:avLst/>
          </a:prstGeom>
          <a:ln w="8890">
            <a:solidFill>
              <a:srgbClr val="52645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28816"/>
            <a:ext cx="9144000" cy="201168"/>
          </a:xfrm>
          <a:prstGeom prst="rect">
            <a:avLst/>
          </a:prstGeom>
          <a:noFill/>
        </p:spPr>
        <p:txBody>
          <a:bodyPr wrap="square" tIns="0" bIns="0" lIns="0" rIns="0">
            <a:spAutoFit/>
          </a:bodyPr>
          <a:lstStyle/>
          <a:p>
            <a:pPr>
              <a:spcAft>
                <a:spcPts val="500"/>
              </a:spcAft>
              <a:defRPr sz="1000" b="0">
                <a:solidFill>
                  <a:srgbClr val="52645C"/>
                </a:solidFill>
                <a:latin typeface="Arial"/>
              </a:defRPr>
            </a:pPr>
            <a:r>
              <a:t>RV UNIVERSITY · ENGINEERING CANDIDATE v0.1 · 11 SEP 2026</a:t>
            </a:r>
          </a:p>
        </p:txBody>
      </p:sp>
      <p:sp>
        <p:nvSpPr>
          <p:cNvPr id="8" name="TextBox 7"/>
          <p:cNvSpPr txBox="1"/>
          <p:nvPr/>
        </p:nvSpPr>
        <p:spPr>
          <a:xfrm>
            <a:off x="10881360" y="6528816"/>
            <a:ext cx="768096" cy="201168"/>
          </a:xfrm>
          <a:prstGeom prst="rect">
            <a:avLst/>
          </a:prstGeom>
          <a:noFill/>
        </p:spPr>
        <p:txBody>
          <a:bodyPr wrap="square" tIns="0" bIns="0" lIns="0" rIns="0">
            <a:spAutoFit/>
          </a:bodyPr>
          <a:lstStyle/>
          <a:p>
            <a:pPr>
              <a:spcAft>
                <a:spcPts val="500"/>
              </a:spcAft>
              <a:defRPr sz="1000" b="0">
                <a:solidFill>
                  <a:srgbClr val="52645C"/>
                </a:solidFill>
                <a:latin typeface="Arial"/>
              </a:defRPr>
            </a:pPr>
            <a:r>
              <a:t>11 / 15</a:t>
            </a:r>
          </a:p>
        </p:txBody>
      </p:sp>
      <p:cxnSp>
        <p:nvCxnSpPr>
          <p:cNvPr id="9" name="Connector 8"/>
          <p:cNvCxnSpPr/>
          <p:nvPr/>
        </p:nvCxnSpPr>
        <p:spPr>
          <a:xfrm>
            <a:off x="576072" y="2898648"/>
            <a:ext cx="11009376" cy="0"/>
          </a:xfrm>
          <a:prstGeom prst="line">
            <a:avLst/>
          </a:prstGeom>
          <a:ln w="8890">
            <a:solidFill>
              <a:srgbClr val="52645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76072" y="3054096"/>
            <a:ext cx="3474720" cy="484632"/>
          </a:xfrm>
          <a:prstGeom prst="rect">
            <a:avLst/>
          </a:prstGeom>
          <a:noFill/>
        </p:spPr>
        <p:txBody>
          <a:bodyPr wrap="square" tIns="0" bIns="0" lIns="0" rIns="0">
            <a:spAutoFit/>
          </a:bodyPr>
          <a:lstStyle/>
          <a:p>
            <a:pPr>
              <a:spcAft>
                <a:spcPts val="500"/>
              </a:spcAft>
              <a:defRPr sz="2200" b="1">
                <a:solidFill>
                  <a:srgbClr val="15211F"/>
                </a:solidFill>
                <a:latin typeface="Arial"/>
              </a:defRPr>
            </a:pPr>
            <a:r>
              <a:t>WebPII / WebRedact</a:t>
            </a:r>
          </a:p>
        </p:txBody>
      </p:sp>
      <p:sp>
        <p:nvSpPr>
          <p:cNvPr id="11" name="TextBox 10"/>
          <p:cNvSpPr txBox="1"/>
          <p:nvPr/>
        </p:nvSpPr>
        <p:spPr>
          <a:xfrm>
            <a:off x="4306824" y="3063240"/>
            <a:ext cx="3337560" cy="530352"/>
          </a:xfrm>
          <a:prstGeom prst="rect">
            <a:avLst/>
          </a:prstGeom>
          <a:noFill/>
        </p:spPr>
        <p:txBody>
          <a:bodyPr wrap="square" tIns="0" bIns="0" lIns="0" rIns="0">
            <a:spAutoFit/>
          </a:bodyPr>
          <a:lstStyle/>
          <a:p>
            <a:pPr>
              <a:spcAft>
                <a:spcPts val="500"/>
              </a:spcAft>
              <a:defRPr sz="1800" b="0">
                <a:solidFill>
                  <a:srgbClr val="52645C"/>
                </a:solidFill>
                <a:latin typeface="Arial"/>
              </a:defRPr>
            </a:pPr>
            <a:r>
              <a:t>UI PII detection + benchmark</a:t>
            </a:r>
          </a:p>
        </p:txBody>
      </p:sp>
      <p:sp>
        <p:nvSpPr>
          <p:cNvPr id="12" name="TextBox 11"/>
          <p:cNvSpPr txBox="1"/>
          <p:nvPr/>
        </p:nvSpPr>
        <p:spPr>
          <a:xfrm>
            <a:off x="7909560" y="3063240"/>
            <a:ext cx="3657600" cy="576072"/>
          </a:xfrm>
          <a:prstGeom prst="rect">
            <a:avLst/>
          </a:prstGeom>
          <a:noFill/>
        </p:spPr>
        <p:txBody>
          <a:bodyPr wrap="square" tIns="0" bIns="0" lIns="0" rIns="0">
            <a:spAutoFit/>
          </a:bodyPr>
          <a:lstStyle/>
          <a:p>
            <a:pPr>
              <a:spcAft>
                <a:spcPts val="500"/>
              </a:spcAft>
              <a:defRPr sz="1800" b="0">
                <a:solidFill>
                  <a:srgbClr val="29473F"/>
                </a:solidFill>
                <a:latin typeface="Arial"/>
              </a:defRPr>
            </a:pPr>
            <a:r>
              <a:t>Browser cost and action-boundary tests pending</a:t>
            </a:r>
          </a:p>
        </p:txBody>
      </p:sp>
      <p:cxnSp>
        <p:nvCxnSpPr>
          <p:cNvPr id="13" name="Connector 12"/>
          <p:cNvCxnSpPr/>
          <p:nvPr/>
        </p:nvCxnSpPr>
        <p:spPr>
          <a:xfrm>
            <a:off x="576072" y="3749039"/>
            <a:ext cx="11009376" cy="0"/>
          </a:xfrm>
          <a:prstGeom prst="line">
            <a:avLst/>
          </a:prstGeom>
          <a:ln w="8890">
            <a:solidFill>
              <a:srgbClr val="52645C"/>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76072" y="3904487"/>
            <a:ext cx="3474720" cy="484632"/>
          </a:xfrm>
          <a:prstGeom prst="rect">
            <a:avLst/>
          </a:prstGeom>
          <a:noFill/>
        </p:spPr>
        <p:txBody>
          <a:bodyPr wrap="square" tIns="0" bIns="0" lIns="0" rIns="0">
            <a:spAutoFit/>
          </a:bodyPr>
          <a:lstStyle/>
          <a:p>
            <a:pPr>
              <a:spcAft>
                <a:spcPts val="500"/>
              </a:spcAft>
              <a:defRPr sz="2200" b="1">
                <a:solidFill>
                  <a:srgbClr val="15211F"/>
                </a:solidFill>
                <a:latin typeface="Arial"/>
              </a:defRPr>
            </a:pPr>
            <a:r>
              <a:t>PrivWeb</a:t>
            </a:r>
          </a:p>
        </p:txBody>
      </p:sp>
      <p:sp>
        <p:nvSpPr>
          <p:cNvPr id="15" name="TextBox 14"/>
          <p:cNvSpPr txBox="1"/>
          <p:nvPr/>
        </p:nvSpPr>
        <p:spPr>
          <a:xfrm>
            <a:off x="4306824" y="3913631"/>
            <a:ext cx="3337560" cy="530352"/>
          </a:xfrm>
          <a:prstGeom prst="rect">
            <a:avLst/>
          </a:prstGeom>
          <a:noFill/>
        </p:spPr>
        <p:txBody>
          <a:bodyPr wrap="square" tIns="0" bIns="0" lIns="0" rIns="0">
            <a:spAutoFit/>
          </a:bodyPr>
          <a:lstStyle/>
          <a:p>
            <a:pPr>
              <a:spcAft>
                <a:spcPts val="500"/>
              </a:spcAft>
              <a:defRPr sz="1800" b="0">
                <a:solidFill>
                  <a:srgbClr val="52645C"/>
                </a:solidFill>
                <a:latin typeface="Arial"/>
              </a:defRPr>
            </a:pPr>
            <a:r>
              <a:t>Local anonymization + user control</a:t>
            </a:r>
          </a:p>
        </p:txBody>
      </p:sp>
      <p:sp>
        <p:nvSpPr>
          <p:cNvPr id="16" name="TextBox 15"/>
          <p:cNvSpPr txBox="1"/>
          <p:nvPr/>
        </p:nvSpPr>
        <p:spPr>
          <a:xfrm>
            <a:off x="7909560" y="3913631"/>
            <a:ext cx="3657600" cy="576072"/>
          </a:xfrm>
          <a:prstGeom prst="rect">
            <a:avLst/>
          </a:prstGeom>
          <a:noFill/>
        </p:spPr>
        <p:txBody>
          <a:bodyPr wrap="square" tIns="0" bIns="0" lIns="0" rIns="0">
            <a:spAutoFit/>
          </a:bodyPr>
          <a:lstStyle/>
          <a:p>
            <a:pPr>
              <a:spcAft>
                <a:spcPts val="500"/>
              </a:spcAft>
              <a:defRPr sz="1800" b="0">
                <a:solidFill>
                  <a:srgbClr val="29473F"/>
                </a:solidFill>
                <a:latin typeface="Arial"/>
              </a:defRPr>
            </a:pPr>
            <a:r>
              <a:t>Explicit pixel-free egress + expiring controls</a:t>
            </a:r>
          </a:p>
        </p:txBody>
      </p:sp>
      <p:cxnSp>
        <p:nvCxnSpPr>
          <p:cNvPr id="17" name="Connector 16"/>
          <p:cNvCxnSpPr/>
          <p:nvPr/>
        </p:nvCxnSpPr>
        <p:spPr>
          <a:xfrm>
            <a:off x="576072" y="4599432"/>
            <a:ext cx="11009376" cy="0"/>
          </a:xfrm>
          <a:prstGeom prst="line">
            <a:avLst/>
          </a:prstGeom>
          <a:ln w="8890">
            <a:solidFill>
              <a:srgbClr val="52645C"/>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76072" y="4754880"/>
            <a:ext cx="3474720" cy="484632"/>
          </a:xfrm>
          <a:prstGeom prst="rect">
            <a:avLst/>
          </a:prstGeom>
          <a:noFill/>
        </p:spPr>
        <p:txBody>
          <a:bodyPr wrap="square" tIns="0" bIns="0" lIns="0" rIns="0">
            <a:spAutoFit/>
          </a:bodyPr>
          <a:lstStyle/>
          <a:p>
            <a:pPr>
              <a:spcAft>
                <a:spcPts val="500"/>
              </a:spcAft>
              <a:defRPr sz="2200" b="1">
                <a:solidFill>
                  <a:srgbClr val="15211F"/>
                </a:solidFill>
                <a:latin typeface="Arial"/>
              </a:defRPr>
            </a:pPr>
            <a:r>
              <a:t>Available but Invisible</a:t>
            </a:r>
          </a:p>
        </p:txBody>
      </p:sp>
      <p:sp>
        <p:nvSpPr>
          <p:cNvPr id="19" name="TextBox 18"/>
          <p:cNvSpPr txBox="1"/>
          <p:nvPr/>
        </p:nvSpPr>
        <p:spPr>
          <a:xfrm>
            <a:off x="4306824" y="4764024"/>
            <a:ext cx="3337560" cy="530352"/>
          </a:xfrm>
          <a:prstGeom prst="rect">
            <a:avLst/>
          </a:prstGeom>
          <a:noFill/>
        </p:spPr>
        <p:txBody>
          <a:bodyPr wrap="square" tIns="0" bIns="0" lIns="0" rIns="0">
            <a:spAutoFit/>
          </a:bodyPr>
          <a:lstStyle/>
          <a:p>
            <a:pPr>
              <a:spcAft>
                <a:spcPts val="500"/>
              </a:spcAft>
              <a:defRPr sz="1800" b="0">
                <a:solidFill>
                  <a:srgbClr val="52645C"/>
                </a:solidFill>
                <a:latin typeface="Arial"/>
              </a:defRPr>
            </a:pPr>
            <a:r>
              <a:t>Typed placeholders + secure proxy</a:t>
            </a:r>
          </a:p>
        </p:txBody>
      </p:sp>
      <p:sp>
        <p:nvSpPr>
          <p:cNvPr id="20" name="TextBox 19"/>
          <p:cNvSpPr txBox="1"/>
          <p:nvPr/>
        </p:nvSpPr>
        <p:spPr>
          <a:xfrm>
            <a:off x="7909560" y="4764024"/>
            <a:ext cx="3657600" cy="576072"/>
          </a:xfrm>
          <a:prstGeom prst="rect">
            <a:avLst/>
          </a:prstGeom>
          <a:noFill/>
        </p:spPr>
        <p:txBody>
          <a:bodyPr wrap="square" tIns="0" bIns="0" lIns="0" rIns="0">
            <a:spAutoFit/>
          </a:bodyPr>
          <a:lstStyle/>
          <a:p>
            <a:pPr>
              <a:spcAft>
                <a:spcPts val="500"/>
              </a:spcAft>
              <a:defRPr sz="1800" b="0">
                <a:solidFill>
                  <a:srgbClr val="29473F"/>
                </a:solidFill>
                <a:latin typeface="Arial"/>
              </a:defRPr>
            </a:pPr>
            <a:r>
              <a:t>Browser implementation and packaging</a:t>
            </a:r>
          </a:p>
        </p:txBody>
      </p:sp>
      <p:sp>
        <p:nvSpPr>
          <p:cNvPr id="21" name="TextBox 20"/>
          <p:cNvSpPr txBox="1"/>
          <p:nvPr/>
        </p:nvSpPr>
        <p:spPr>
          <a:xfrm>
            <a:off x="548640" y="5980176"/>
            <a:ext cx="11064240" cy="256032"/>
          </a:xfrm>
          <a:prstGeom prst="rect">
            <a:avLst/>
          </a:prstGeom>
          <a:noFill/>
        </p:spPr>
        <p:txBody>
          <a:bodyPr wrap="square" tIns="0" bIns="0" lIns="0" rIns="0">
            <a:spAutoFit/>
          </a:bodyPr>
          <a:lstStyle/>
          <a:p>
            <a:pPr>
              <a:spcAft>
                <a:spcPts val="500"/>
              </a:spcAft>
              <a:defRPr sz="1100" b="0">
                <a:solidFill>
                  <a:srgbClr val="52645C"/>
                </a:solidFill>
                <a:latin typeface="Arial"/>
              </a:defRPr>
            </a:pPr>
            <a:r>
              <a:rPr>
                <a:hlinkClick r:id="rId2"/>
              </a:rPr>
              <a:t>Primary preprints: arXiv 2603.17357 · 2509.11939 · 2602.10139. No head-to-head accuracy study.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1E7"/>
        </a:solidFill>
        <a:effectLst/>
      </p:bgPr>
    </p:bg>
    <p:spTree>
      <p:nvGrpSpPr>
        <p:cNvPr id="1" name=""/>
        <p:cNvGrpSpPr/>
        <p:nvPr/>
      </p:nvGrpSpPr>
      <p:grpSpPr/>
      <p:sp>
        <p:nvSpPr>
          <p:cNvPr id="2" name="TextBox 1"/>
          <p:cNvSpPr txBox="1"/>
          <p:nvPr/>
        </p:nvSpPr>
        <p:spPr>
          <a:xfrm>
            <a:off x="548640" y="265176"/>
            <a:ext cx="8321040" cy="274320"/>
          </a:xfrm>
          <a:prstGeom prst="rect">
            <a:avLst/>
          </a:prstGeom>
          <a:noFill/>
        </p:spPr>
        <p:txBody>
          <a:bodyPr wrap="square" tIns="0" bIns="0" lIns="0" rIns="0">
            <a:spAutoFit/>
          </a:bodyPr>
          <a:lstStyle/>
          <a:p>
            <a:pPr>
              <a:spcAft>
                <a:spcPts val="500"/>
              </a:spcAft>
              <a:defRPr sz="1100" b="1">
                <a:solidFill>
                  <a:srgbClr val="29473F"/>
                </a:solidFill>
                <a:latin typeface="Arial"/>
              </a:defRPr>
            </a:pPr>
            <a:r>
              <a:t>FEASIBILITY AND VIABILITY</a:t>
            </a:r>
          </a:p>
        </p:txBody>
      </p:sp>
      <p:sp>
        <p:nvSpPr>
          <p:cNvPr id="3" name="TextBox 2"/>
          <p:cNvSpPr txBox="1"/>
          <p:nvPr/>
        </p:nvSpPr>
        <p:spPr>
          <a:xfrm>
            <a:off x="9144000" y="265176"/>
            <a:ext cx="2514600" cy="274320"/>
          </a:xfrm>
          <a:prstGeom prst="rect">
            <a:avLst/>
          </a:prstGeom>
          <a:noFill/>
        </p:spPr>
        <p:txBody>
          <a:bodyPr wrap="square" tIns="0" bIns="0" lIns="0" rIns="0">
            <a:spAutoFit/>
          </a:bodyPr>
          <a:lstStyle/>
          <a:p>
            <a:pPr>
              <a:spcAft>
                <a:spcPts val="500"/>
              </a:spcAft>
              <a:defRPr sz="1100" b="1">
                <a:solidFill>
                  <a:srgbClr val="15211F"/>
                </a:solidFill>
                <a:latin typeface="Arial"/>
              </a:defRPr>
            </a:pPr>
            <a:r>
              <a:t>DHRISTI / SIH26171</a:t>
            </a:r>
          </a:p>
        </p:txBody>
      </p:sp>
      <p:sp>
        <p:nvSpPr>
          <p:cNvPr id="4" name="TextBox 3"/>
          <p:cNvSpPr txBox="1"/>
          <p:nvPr/>
        </p:nvSpPr>
        <p:spPr>
          <a:xfrm>
            <a:off x="548640" y="868680"/>
            <a:ext cx="11064240" cy="1069848"/>
          </a:xfrm>
          <a:prstGeom prst="rect">
            <a:avLst/>
          </a:prstGeom>
          <a:noFill/>
        </p:spPr>
        <p:txBody>
          <a:bodyPr wrap="square" tIns="0" bIns="0" lIns="0" rIns="0">
            <a:spAutoFit/>
          </a:bodyPr>
          <a:lstStyle/>
          <a:p>
            <a:pPr>
              <a:spcAft>
                <a:spcPts val="500"/>
              </a:spcAft>
              <a:defRPr sz="4000" b="1">
                <a:solidFill>
                  <a:srgbClr val="15211F"/>
                </a:solidFill>
                <a:latin typeface="Arial"/>
              </a:defRPr>
            </a:pPr>
            <a:r>
              <a:t>The strict boundary has a utility cost.</a:t>
            </a:r>
          </a:p>
        </p:txBody>
      </p:sp>
      <p:sp>
        <p:nvSpPr>
          <p:cNvPr id="5" name="TextBox 4"/>
          <p:cNvSpPr txBox="1"/>
          <p:nvPr/>
        </p:nvSpPr>
        <p:spPr>
          <a:xfrm>
            <a:off x="576072" y="1993392"/>
            <a:ext cx="10972800" cy="566928"/>
          </a:xfrm>
          <a:prstGeom prst="rect">
            <a:avLst/>
          </a:prstGeom>
          <a:noFill/>
        </p:spPr>
        <p:txBody>
          <a:bodyPr wrap="square" tIns="0" bIns="0" lIns="0" rIns="0">
            <a:spAutoFit/>
          </a:bodyPr>
          <a:lstStyle/>
          <a:p>
            <a:pPr>
              <a:spcAft>
                <a:spcPts val="500"/>
              </a:spcAft>
              <a:defRPr sz="1800" b="0">
                <a:solidFill>
                  <a:srgbClr val="52645C"/>
                </a:solidFill>
                <a:latin typeface="Arial"/>
              </a:defRPr>
            </a:pPr>
            <a:r>
              <a:t>Removing unknown text and images is conservative. It can also remove the answer.</a:t>
            </a:r>
          </a:p>
        </p:txBody>
      </p:sp>
      <p:cxnSp>
        <p:nvCxnSpPr>
          <p:cNvPr id="6" name="Connector 5"/>
          <p:cNvCxnSpPr/>
          <p:nvPr/>
        </p:nvCxnSpPr>
        <p:spPr>
          <a:xfrm>
            <a:off x="548640" y="6391656"/>
            <a:ext cx="11064240" cy="0"/>
          </a:xfrm>
          <a:prstGeom prst="line">
            <a:avLst/>
          </a:prstGeom>
          <a:ln w="8890">
            <a:solidFill>
              <a:srgbClr val="52645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28816"/>
            <a:ext cx="9144000" cy="201168"/>
          </a:xfrm>
          <a:prstGeom prst="rect">
            <a:avLst/>
          </a:prstGeom>
          <a:noFill/>
        </p:spPr>
        <p:txBody>
          <a:bodyPr wrap="square" tIns="0" bIns="0" lIns="0" rIns="0">
            <a:spAutoFit/>
          </a:bodyPr>
          <a:lstStyle/>
          <a:p>
            <a:pPr>
              <a:spcAft>
                <a:spcPts val="500"/>
              </a:spcAft>
              <a:defRPr sz="1000" b="0">
                <a:solidFill>
                  <a:srgbClr val="52645C"/>
                </a:solidFill>
                <a:latin typeface="Arial"/>
              </a:defRPr>
            </a:pPr>
            <a:r>
              <a:t>RV UNIVERSITY · ENGINEERING CANDIDATE v0.1 · 11 SEP 2026</a:t>
            </a:r>
          </a:p>
        </p:txBody>
      </p:sp>
      <p:sp>
        <p:nvSpPr>
          <p:cNvPr id="8" name="TextBox 7"/>
          <p:cNvSpPr txBox="1"/>
          <p:nvPr/>
        </p:nvSpPr>
        <p:spPr>
          <a:xfrm>
            <a:off x="10881360" y="6528816"/>
            <a:ext cx="768096" cy="201168"/>
          </a:xfrm>
          <a:prstGeom prst="rect">
            <a:avLst/>
          </a:prstGeom>
          <a:noFill/>
        </p:spPr>
        <p:txBody>
          <a:bodyPr wrap="square" tIns="0" bIns="0" lIns="0" rIns="0">
            <a:spAutoFit/>
          </a:bodyPr>
          <a:lstStyle/>
          <a:p>
            <a:pPr>
              <a:spcAft>
                <a:spcPts val="500"/>
              </a:spcAft>
              <a:defRPr sz="1000" b="0">
                <a:solidFill>
                  <a:srgbClr val="52645C"/>
                </a:solidFill>
                <a:latin typeface="Arial"/>
              </a:defRPr>
            </a:pPr>
            <a:r>
              <a:t>12 / 15</a:t>
            </a:r>
          </a:p>
        </p:txBody>
      </p:sp>
      <p:sp>
        <p:nvSpPr>
          <p:cNvPr id="9" name="Rectangle 8"/>
          <p:cNvSpPr/>
          <p:nvPr/>
        </p:nvSpPr>
        <p:spPr>
          <a:xfrm>
            <a:off x="566928" y="2834640"/>
            <a:ext cx="3438144" cy="274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2999232"/>
            <a:ext cx="3072384" cy="292608"/>
          </a:xfrm>
          <a:prstGeom prst="rect">
            <a:avLst/>
          </a:prstGeom>
          <a:noFill/>
        </p:spPr>
        <p:txBody>
          <a:bodyPr wrap="square" tIns="0" bIns="0" lIns="0" rIns="0">
            <a:spAutoFit/>
          </a:bodyPr>
          <a:lstStyle/>
          <a:p>
            <a:pPr>
              <a:spcAft>
                <a:spcPts val="500"/>
              </a:spcAft>
              <a:defRPr sz="1100" b="1">
                <a:solidFill>
                  <a:srgbClr val="29473F"/>
                </a:solidFill>
                <a:latin typeface="Arial"/>
              </a:defRPr>
            </a:pPr>
            <a:r>
              <a:t>CURRENT</a:t>
            </a:r>
          </a:p>
        </p:txBody>
      </p:sp>
      <p:sp>
        <p:nvSpPr>
          <p:cNvPr id="11" name="TextBox 10"/>
          <p:cNvSpPr txBox="1"/>
          <p:nvPr/>
        </p:nvSpPr>
        <p:spPr>
          <a:xfrm>
            <a:off x="749808" y="3429000"/>
            <a:ext cx="3072384" cy="777240"/>
          </a:xfrm>
          <a:prstGeom prst="rect">
            <a:avLst/>
          </a:prstGeom>
          <a:noFill/>
        </p:spPr>
        <p:txBody>
          <a:bodyPr wrap="square" tIns="0" bIns="0" lIns="0" rIns="0">
            <a:spAutoFit/>
          </a:bodyPr>
          <a:lstStyle/>
          <a:p>
            <a:pPr>
              <a:spcAft>
                <a:spcPts val="500"/>
              </a:spcAft>
              <a:defRPr sz="2500" b="1">
                <a:solidFill>
                  <a:srgbClr val="15211F"/>
                </a:solidFill>
                <a:latin typeface="Arial"/>
              </a:defRPr>
            </a:pPr>
            <a:r>
              <a:t>Known limits</a:t>
            </a:r>
          </a:p>
        </p:txBody>
      </p:sp>
      <p:sp>
        <p:nvSpPr>
          <p:cNvPr id="12" name="TextBox 11"/>
          <p:cNvSpPr txBox="1"/>
          <p:nvPr/>
        </p:nvSpPr>
        <p:spPr>
          <a:xfrm>
            <a:off x="749808" y="4389120"/>
            <a:ext cx="3072384" cy="1078992"/>
          </a:xfrm>
          <a:prstGeom prst="rect">
            <a:avLst/>
          </a:prstGeom>
          <a:noFill/>
        </p:spPr>
        <p:txBody>
          <a:bodyPr wrap="square" tIns="0" bIns="0" lIns="0" rIns="0">
            <a:spAutoFit/>
          </a:bodyPr>
          <a:lstStyle/>
          <a:p>
            <a:pPr>
              <a:spcAft>
                <a:spcPts val="500"/>
              </a:spcAft>
              <a:defRPr sz="1700" b="0">
                <a:solidFill>
                  <a:srgbClr val="52645C"/>
                </a:solidFill>
                <a:latin typeface="Arial"/>
              </a:defRPr>
            </a:pPr>
            <a:r>
              <a:t>Face-only model</a:t>
            </a:r>
          </a:p>
          <a:p>
            <a:pPr>
              <a:spcAft>
                <a:spcPts val="500"/>
              </a:spcAft>
              <a:defRPr sz="1700" b="0">
                <a:solidFill>
                  <a:srgbClr val="52645C"/>
                </a:solidFill>
                <a:latin typeface="Arial"/>
              </a:defRPr>
            </a:pPr>
            <a:r>
              <a:t>Restricted task vocabulary</a:t>
            </a:r>
          </a:p>
          <a:p>
            <a:pPr>
              <a:spcAft>
                <a:spcPts val="500"/>
              </a:spcAft>
              <a:defRPr sz="1700" b="0">
                <a:solidFill>
                  <a:srgbClr val="52645C"/>
                </a:solidFill>
                <a:latin typeface="Arial"/>
              </a:defRPr>
            </a:pPr>
            <a:r>
              <a:t>LLM reads layout, not PNG</a:t>
            </a:r>
          </a:p>
        </p:txBody>
      </p:sp>
      <p:sp>
        <p:nvSpPr>
          <p:cNvPr id="13" name="Rectangle 12"/>
          <p:cNvSpPr/>
          <p:nvPr/>
        </p:nvSpPr>
        <p:spPr>
          <a:xfrm>
            <a:off x="4370832" y="2834640"/>
            <a:ext cx="3438144" cy="274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53712" y="2999232"/>
            <a:ext cx="3072384" cy="292608"/>
          </a:xfrm>
          <a:prstGeom prst="rect">
            <a:avLst/>
          </a:prstGeom>
          <a:noFill/>
        </p:spPr>
        <p:txBody>
          <a:bodyPr wrap="square" tIns="0" bIns="0" lIns="0" rIns="0">
            <a:spAutoFit/>
          </a:bodyPr>
          <a:lstStyle/>
          <a:p>
            <a:pPr>
              <a:spcAft>
                <a:spcPts val="500"/>
              </a:spcAft>
              <a:defRPr sz="1100" b="1">
                <a:solidFill>
                  <a:srgbClr val="29473F"/>
                </a:solidFill>
                <a:latin typeface="Arial"/>
              </a:defRPr>
            </a:pPr>
            <a:r>
              <a:t>OPEN</a:t>
            </a:r>
          </a:p>
        </p:txBody>
      </p:sp>
      <p:sp>
        <p:nvSpPr>
          <p:cNvPr id="15" name="TextBox 14"/>
          <p:cNvSpPr txBox="1"/>
          <p:nvPr/>
        </p:nvSpPr>
        <p:spPr>
          <a:xfrm>
            <a:off x="4553712" y="3429000"/>
            <a:ext cx="3072384" cy="777240"/>
          </a:xfrm>
          <a:prstGeom prst="rect">
            <a:avLst/>
          </a:prstGeom>
          <a:noFill/>
        </p:spPr>
        <p:txBody>
          <a:bodyPr wrap="square" tIns="0" bIns="0" lIns="0" rIns="0">
            <a:spAutoFit/>
          </a:bodyPr>
          <a:lstStyle/>
          <a:p>
            <a:pPr>
              <a:spcAft>
                <a:spcPts val="500"/>
              </a:spcAft>
              <a:defRPr sz="2500" b="1">
                <a:solidFill>
                  <a:srgbClr val="15211F"/>
                </a:solidFill>
                <a:latin typeface="Arial"/>
              </a:defRPr>
            </a:pPr>
            <a:r>
              <a:t>Validate next</a:t>
            </a:r>
          </a:p>
        </p:txBody>
      </p:sp>
      <p:sp>
        <p:nvSpPr>
          <p:cNvPr id="16" name="TextBox 15"/>
          <p:cNvSpPr txBox="1"/>
          <p:nvPr/>
        </p:nvSpPr>
        <p:spPr>
          <a:xfrm>
            <a:off x="4553712" y="4389120"/>
            <a:ext cx="3072384" cy="1078992"/>
          </a:xfrm>
          <a:prstGeom prst="rect">
            <a:avLst/>
          </a:prstGeom>
          <a:noFill/>
        </p:spPr>
        <p:txBody>
          <a:bodyPr wrap="square" tIns="0" bIns="0" lIns="0" rIns="0">
            <a:spAutoFit/>
          </a:bodyPr>
          <a:lstStyle/>
          <a:p>
            <a:pPr>
              <a:spcAft>
                <a:spcPts val="500"/>
              </a:spcAft>
              <a:defRPr sz="1700" b="0">
                <a:solidFill>
                  <a:srgbClr val="52645C"/>
                </a:solidFill>
                <a:latin typeface="Arial"/>
              </a:defRPr>
            </a:pPr>
            <a:r>
              <a:t>Chrome + Firefox extension</a:t>
            </a:r>
          </a:p>
          <a:p>
            <a:pPr>
              <a:spcAft>
                <a:spcPts val="500"/>
              </a:spcAft>
              <a:defRPr sz="1700" b="0">
                <a:solidFill>
                  <a:srgbClr val="52645C"/>
                </a:solidFill>
                <a:latin typeface="Arial"/>
              </a:defRPr>
            </a:pPr>
            <a:r>
              <a:t>Labeled unseen pages</a:t>
            </a:r>
          </a:p>
          <a:p>
            <a:pPr>
              <a:spcAft>
                <a:spcPts val="500"/>
              </a:spcAft>
              <a:defRPr sz="1700" b="0">
                <a:solidFill>
                  <a:srgbClr val="52645C"/>
                </a:solidFill>
                <a:latin typeface="Arial"/>
              </a:defRPr>
            </a:pPr>
            <a:r>
              <a:t>Accessibility and user review</a:t>
            </a:r>
          </a:p>
        </p:txBody>
      </p:sp>
      <p:sp>
        <p:nvSpPr>
          <p:cNvPr id="17" name="Rectangle 16"/>
          <p:cNvSpPr/>
          <p:nvPr/>
        </p:nvSpPr>
        <p:spPr>
          <a:xfrm>
            <a:off x="8174736" y="2834640"/>
            <a:ext cx="3438144" cy="274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57615" y="2999232"/>
            <a:ext cx="3072384" cy="292608"/>
          </a:xfrm>
          <a:prstGeom prst="rect">
            <a:avLst/>
          </a:prstGeom>
          <a:noFill/>
        </p:spPr>
        <p:txBody>
          <a:bodyPr wrap="square" tIns="0" bIns="0" lIns="0" rIns="0">
            <a:spAutoFit/>
          </a:bodyPr>
          <a:lstStyle/>
          <a:p>
            <a:pPr>
              <a:spcAft>
                <a:spcPts val="500"/>
              </a:spcAft>
              <a:defRPr sz="1100" b="1">
                <a:solidFill>
                  <a:srgbClr val="29473F"/>
                </a:solidFill>
                <a:latin typeface="Arial"/>
              </a:defRPr>
            </a:pPr>
            <a:r>
              <a:t>ROADMAP</a:t>
            </a:r>
          </a:p>
        </p:txBody>
      </p:sp>
      <p:sp>
        <p:nvSpPr>
          <p:cNvPr id="19" name="TextBox 18"/>
          <p:cNvSpPr txBox="1"/>
          <p:nvPr/>
        </p:nvSpPr>
        <p:spPr>
          <a:xfrm>
            <a:off x="8357615" y="3429000"/>
            <a:ext cx="3072384" cy="777240"/>
          </a:xfrm>
          <a:prstGeom prst="rect">
            <a:avLst/>
          </a:prstGeom>
          <a:noFill/>
        </p:spPr>
        <p:txBody>
          <a:bodyPr wrap="square" tIns="0" bIns="0" lIns="0" rIns="0">
            <a:spAutoFit/>
          </a:bodyPr>
          <a:lstStyle/>
          <a:p>
            <a:pPr>
              <a:spcAft>
                <a:spcPts val="500"/>
              </a:spcAft>
              <a:defRPr sz="2500" b="1">
                <a:solidFill>
                  <a:srgbClr val="15211F"/>
                </a:solidFill>
                <a:latin typeface="Arial"/>
              </a:defRPr>
            </a:pPr>
            <a:r>
              <a:t>Improve carefully</a:t>
            </a:r>
          </a:p>
        </p:txBody>
      </p:sp>
      <p:sp>
        <p:nvSpPr>
          <p:cNvPr id="20" name="TextBox 19"/>
          <p:cNvSpPr txBox="1"/>
          <p:nvPr/>
        </p:nvSpPr>
        <p:spPr>
          <a:xfrm>
            <a:off x="8357615" y="4389120"/>
            <a:ext cx="3072384" cy="1078992"/>
          </a:xfrm>
          <a:prstGeom prst="rect">
            <a:avLst/>
          </a:prstGeom>
          <a:noFill/>
        </p:spPr>
        <p:txBody>
          <a:bodyPr wrap="square" tIns="0" bIns="0" lIns="0" rIns="0">
            <a:spAutoFit/>
          </a:bodyPr>
          <a:lstStyle/>
          <a:p>
            <a:pPr>
              <a:spcAft>
                <a:spcPts val="500"/>
              </a:spcAft>
              <a:defRPr sz="1700" b="0">
                <a:solidFill>
                  <a:srgbClr val="52645C"/>
                </a:solidFill>
                <a:latin typeface="Arial"/>
              </a:defRPr>
            </a:pPr>
            <a:r>
              <a:t>Compare DOM / CV baselines</a:t>
            </a:r>
          </a:p>
          <a:p>
            <a:pPr>
              <a:spcAft>
                <a:spcPts val="500"/>
              </a:spcAft>
              <a:defRPr sz="1700" b="0">
                <a:solidFill>
                  <a:srgbClr val="52645C"/>
                </a:solidFill>
                <a:latin typeface="Arial"/>
              </a:defRPr>
            </a:pPr>
            <a:r>
              <a:t>Worker and cold-load profile</a:t>
            </a:r>
          </a:p>
          <a:p>
            <a:pPr>
              <a:spcAft>
                <a:spcPts val="500"/>
              </a:spcAft>
              <a:defRPr sz="1700" b="0">
                <a:solidFill>
                  <a:srgbClr val="52645C"/>
                </a:solidFill>
                <a:latin typeface="Arial"/>
              </a:defRPr>
            </a:pPr>
            <a:r>
              <a:t>Add context only with evidence</a:t>
            </a:r>
          </a:p>
        </p:txBody>
      </p:sp>
      <p:sp>
        <p:nvSpPr>
          <p:cNvPr id="21" name="TextBox 20"/>
          <p:cNvSpPr txBox="1"/>
          <p:nvPr/>
        </p:nvSpPr>
        <p:spPr>
          <a:xfrm>
            <a:off x="548640" y="5980176"/>
            <a:ext cx="11064240" cy="256032"/>
          </a:xfrm>
          <a:prstGeom prst="rect">
            <a:avLst/>
          </a:prstGeom>
          <a:noFill/>
        </p:spPr>
        <p:txBody>
          <a:bodyPr wrap="square" tIns="0" bIns="0" lIns="0" rIns="0">
            <a:spAutoFit/>
          </a:bodyPr>
          <a:lstStyle/>
          <a:p>
            <a:pPr>
              <a:spcAft>
                <a:spcPts val="500"/>
              </a:spcAft>
              <a:defRPr sz="1100" b="0">
                <a:solidFill>
                  <a:srgbClr val="52645C"/>
                </a:solidFill>
                <a:latin typeface="Arial"/>
              </a:defRPr>
            </a:pPr>
            <a:r>
              <a:t>These are explicit limitations and planned work. No broad PII, WCAG or extension conformance claim.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3F1E7"/>
        </a:solidFill>
        <a:effectLst/>
      </p:bgPr>
    </p:bg>
    <p:spTree>
      <p:nvGrpSpPr>
        <p:cNvPr id="1" name=""/>
        <p:cNvGrpSpPr/>
        <p:nvPr/>
      </p:nvGrpSpPr>
      <p:grpSpPr/>
      <p:sp>
        <p:nvSpPr>
          <p:cNvPr id="2" name="TextBox 1"/>
          <p:cNvSpPr txBox="1"/>
          <p:nvPr/>
        </p:nvSpPr>
        <p:spPr>
          <a:xfrm>
            <a:off x="548640" y="265176"/>
            <a:ext cx="8321040" cy="274320"/>
          </a:xfrm>
          <a:prstGeom prst="rect">
            <a:avLst/>
          </a:prstGeom>
          <a:noFill/>
        </p:spPr>
        <p:txBody>
          <a:bodyPr wrap="square" tIns="0" bIns="0" lIns="0" rIns="0">
            <a:spAutoFit/>
          </a:bodyPr>
          <a:lstStyle/>
          <a:p>
            <a:pPr>
              <a:spcAft>
                <a:spcPts val="500"/>
              </a:spcAft>
              <a:defRPr sz="1100" b="1">
                <a:solidFill>
                  <a:srgbClr val="29473F"/>
                </a:solidFill>
                <a:latin typeface="Arial"/>
              </a:defRPr>
            </a:pPr>
            <a:r>
              <a:t>IMPACT AND BENEFITS</a:t>
            </a:r>
          </a:p>
        </p:txBody>
      </p:sp>
      <p:sp>
        <p:nvSpPr>
          <p:cNvPr id="3" name="TextBox 2"/>
          <p:cNvSpPr txBox="1"/>
          <p:nvPr/>
        </p:nvSpPr>
        <p:spPr>
          <a:xfrm>
            <a:off x="9144000" y="265176"/>
            <a:ext cx="2514600" cy="274320"/>
          </a:xfrm>
          <a:prstGeom prst="rect">
            <a:avLst/>
          </a:prstGeom>
          <a:noFill/>
        </p:spPr>
        <p:txBody>
          <a:bodyPr wrap="square" tIns="0" bIns="0" lIns="0" rIns="0">
            <a:spAutoFit/>
          </a:bodyPr>
          <a:lstStyle/>
          <a:p>
            <a:pPr>
              <a:spcAft>
                <a:spcPts val="500"/>
              </a:spcAft>
              <a:defRPr sz="1100" b="1">
                <a:solidFill>
                  <a:srgbClr val="15211F"/>
                </a:solidFill>
                <a:latin typeface="Arial"/>
              </a:defRPr>
            </a:pPr>
            <a:r>
              <a:t>DHRISTI / SIH26171</a:t>
            </a:r>
          </a:p>
        </p:txBody>
      </p:sp>
      <p:sp>
        <p:nvSpPr>
          <p:cNvPr id="4" name="TextBox 3"/>
          <p:cNvSpPr txBox="1"/>
          <p:nvPr/>
        </p:nvSpPr>
        <p:spPr>
          <a:xfrm>
            <a:off x="548640" y="868680"/>
            <a:ext cx="11064240" cy="1069848"/>
          </a:xfrm>
          <a:prstGeom prst="rect">
            <a:avLst/>
          </a:prstGeom>
          <a:noFill/>
        </p:spPr>
        <p:txBody>
          <a:bodyPr wrap="square" tIns="0" bIns="0" lIns="0" rIns="0">
            <a:spAutoFit/>
          </a:bodyPr>
          <a:lstStyle/>
          <a:p>
            <a:pPr>
              <a:spcAft>
                <a:spcPts val="500"/>
              </a:spcAft>
              <a:defRPr sz="4000" b="1">
                <a:solidFill>
                  <a:srgbClr val="15211F"/>
                </a:solidFill>
                <a:latin typeface="Arial"/>
              </a:defRPr>
            </a:pPr>
            <a:r>
              <a:t>Measure benefit at the task boundary.</a:t>
            </a:r>
          </a:p>
        </p:txBody>
      </p:sp>
      <p:sp>
        <p:nvSpPr>
          <p:cNvPr id="5" name="TextBox 4"/>
          <p:cNvSpPr txBox="1"/>
          <p:nvPr/>
        </p:nvSpPr>
        <p:spPr>
          <a:xfrm>
            <a:off x="576072" y="1993392"/>
            <a:ext cx="10972800" cy="566928"/>
          </a:xfrm>
          <a:prstGeom prst="rect">
            <a:avLst/>
          </a:prstGeom>
          <a:noFill/>
        </p:spPr>
        <p:txBody>
          <a:bodyPr wrap="square" tIns="0" bIns="0" lIns="0" rIns="0">
            <a:spAutoFit/>
          </a:bodyPr>
          <a:lstStyle/>
          <a:p>
            <a:pPr>
              <a:spcAft>
                <a:spcPts val="500"/>
              </a:spcAft>
              <a:defRPr sz="1800" b="0">
                <a:solidFill>
                  <a:srgbClr val="52645C"/>
                </a:solidFill>
                <a:latin typeface="Arial"/>
              </a:defRPr>
            </a:pPr>
            <a:r>
              <a:t>Proposed pilot outcomes, not achieved social impact or a validated business model.</a:t>
            </a:r>
          </a:p>
        </p:txBody>
      </p:sp>
      <p:cxnSp>
        <p:nvCxnSpPr>
          <p:cNvPr id="6" name="Connector 5"/>
          <p:cNvCxnSpPr/>
          <p:nvPr/>
        </p:nvCxnSpPr>
        <p:spPr>
          <a:xfrm>
            <a:off x="548640" y="6391656"/>
            <a:ext cx="11064240" cy="0"/>
          </a:xfrm>
          <a:prstGeom prst="line">
            <a:avLst/>
          </a:prstGeom>
          <a:ln w="8890">
            <a:solidFill>
              <a:srgbClr val="52645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28816"/>
            <a:ext cx="9144000" cy="201168"/>
          </a:xfrm>
          <a:prstGeom prst="rect">
            <a:avLst/>
          </a:prstGeom>
          <a:noFill/>
        </p:spPr>
        <p:txBody>
          <a:bodyPr wrap="square" tIns="0" bIns="0" lIns="0" rIns="0">
            <a:spAutoFit/>
          </a:bodyPr>
          <a:lstStyle/>
          <a:p>
            <a:pPr>
              <a:spcAft>
                <a:spcPts val="500"/>
              </a:spcAft>
              <a:defRPr sz="1000" b="0">
                <a:solidFill>
                  <a:srgbClr val="52645C"/>
                </a:solidFill>
                <a:latin typeface="Arial"/>
              </a:defRPr>
            </a:pPr>
            <a:r>
              <a:t>RV UNIVERSITY · ENGINEERING CANDIDATE v0.1 · 11 SEP 2026</a:t>
            </a:r>
          </a:p>
        </p:txBody>
      </p:sp>
      <p:sp>
        <p:nvSpPr>
          <p:cNvPr id="8" name="TextBox 7"/>
          <p:cNvSpPr txBox="1"/>
          <p:nvPr/>
        </p:nvSpPr>
        <p:spPr>
          <a:xfrm>
            <a:off x="10881360" y="6528816"/>
            <a:ext cx="768096" cy="201168"/>
          </a:xfrm>
          <a:prstGeom prst="rect">
            <a:avLst/>
          </a:prstGeom>
          <a:noFill/>
        </p:spPr>
        <p:txBody>
          <a:bodyPr wrap="square" tIns="0" bIns="0" lIns="0" rIns="0">
            <a:spAutoFit/>
          </a:bodyPr>
          <a:lstStyle/>
          <a:p>
            <a:pPr>
              <a:spcAft>
                <a:spcPts val="500"/>
              </a:spcAft>
              <a:defRPr sz="1000" b="0">
                <a:solidFill>
                  <a:srgbClr val="52645C"/>
                </a:solidFill>
                <a:latin typeface="Arial"/>
              </a:defRPr>
            </a:pPr>
            <a:r>
              <a:t>13 / 15</a:t>
            </a:r>
          </a:p>
        </p:txBody>
      </p:sp>
      <p:sp>
        <p:nvSpPr>
          <p:cNvPr id="9" name="TextBox 8"/>
          <p:cNvSpPr txBox="1"/>
          <p:nvPr/>
        </p:nvSpPr>
        <p:spPr>
          <a:xfrm>
            <a:off x="566928" y="3063240"/>
            <a:ext cx="3429000" cy="731520"/>
          </a:xfrm>
          <a:prstGeom prst="rect">
            <a:avLst/>
          </a:prstGeom>
          <a:noFill/>
        </p:spPr>
        <p:txBody>
          <a:bodyPr wrap="square" tIns="0" bIns="0" lIns="0" rIns="0">
            <a:spAutoFit/>
          </a:bodyPr>
          <a:lstStyle/>
          <a:p>
            <a:pPr>
              <a:spcAft>
                <a:spcPts val="500"/>
              </a:spcAft>
              <a:defRPr sz="2800" b="1">
                <a:solidFill>
                  <a:srgbClr val="15211F"/>
                </a:solidFill>
                <a:latin typeface="Arial"/>
              </a:defRPr>
            </a:pPr>
            <a:r>
              <a:t>User control</a:t>
            </a:r>
          </a:p>
        </p:txBody>
      </p:sp>
      <p:cxnSp>
        <p:nvCxnSpPr>
          <p:cNvPr id="10" name="Connector 9"/>
          <p:cNvCxnSpPr/>
          <p:nvPr/>
        </p:nvCxnSpPr>
        <p:spPr>
          <a:xfrm>
            <a:off x="566928" y="3941063"/>
            <a:ext cx="3438144" cy="0"/>
          </a:xfrm>
          <a:prstGeom prst="line">
            <a:avLst/>
          </a:prstGeom>
          <a:ln w="8890">
            <a:solidFill>
              <a:srgbClr val="52645C"/>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66928" y="4242816"/>
            <a:ext cx="3429000" cy="1371600"/>
          </a:xfrm>
          <a:prstGeom prst="rect">
            <a:avLst/>
          </a:prstGeom>
          <a:noFill/>
        </p:spPr>
        <p:txBody>
          <a:bodyPr wrap="square" tIns="0" bIns="0" lIns="0" rIns="0">
            <a:spAutoFit/>
          </a:bodyPr>
          <a:lstStyle/>
          <a:p>
            <a:pPr>
              <a:spcAft>
                <a:spcPts val="500"/>
              </a:spcAft>
              <a:defRPr sz="2200" b="0">
                <a:solidFill>
                  <a:srgbClr val="52645C"/>
                </a:solidFill>
                <a:latin typeface="Arial"/>
              </a:defRPr>
            </a:pPr>
            <a:r>
              <a:t>Comprehension of preview</a:t>
            </a:r>
          </a:p>
          <a:p>
            <a:pPr>
              <a:spcAft>
                <a:spcPts val="500"/>
              </a:spcAft>
              <a:defRPr sz="2200" b="0">
                <a:solidFill>
                  <a:srgbClr val="52645C"/>
                </a:solidFill>
                <a:latin typeface="Arial"/>
              </a:defRPr>
            </a:pPr>
            <a:r>
              <a:t>Review burden</a:t>
            </a:r>
          </a:p>
          <a:p>
            <a:pPr>
              <a:spcAft>
                <a:spcPts val="500"/>
              </a:spcAft>
              <a:defRPr sz="2200" b="0">
                <a:solidFill>
                  <a:srgbClr val="52645C"/>
                </a:solidFill>
                <a:latin typeface="Arial"/>
              </a:defRPr>
            </a:pPr>
            <a:r>
              <a:t>Task completion</a:t>
            </a:r>
          </a:p>
        </p:txBody>
      </p:sp>
      <p:sp>
        <p:nvSpPr>
          <p:cNvPr id="12" name="TextBox 11"/>
          <p:cNvSpPr txBox="1"/>
          <p:nvPr/>
        </p:nvSpPr>
        <p:spPr>
          <a:xfrm>
            <a:off x="4370832" y="3063240"/>
            <a:ext cx="3429000" cy="731520"/>
          </a:xfrm>
          <a:prstGeom prst="rect">
            <a:avLst/>
          </a:prstGeom>
          <a:noFill/>
        </p:spPr>
        <p:txBody>
          <a:bodyPr wrap="square" tIns="0" bIns="0" lIns="0" rIns="0">
            <a:spAutoFit/>
          </a:bodyPr>
          <a:lstStyle/>
          <a:p>
            <a:pPr>
              <a:spcAft>
                <a:spcPts val="500"/>
              </a:spcAft>
              <a:defRPr sz="2800" b="1">
                <a:solidFill>
                  <a:srgbClr val="15211F"/>
                </a:solidFill>
                <a:latin typeface="Arial"/>
              </a:defRPr>
            </a:pPr>
            <a:r>
              <a:t>Operating viability</a:t>
            </a:r>
          </a:p>
        </p:txBody>
      </p:sp>
      <p:cxnSp>
        <p:nvCxnSpPr>
          <p:cNvPr id="13" name="Connector 12"/>
          <p:cNvCxnSpPr/>
          <p:nvPr/>
        </p:nvCxnSpPr>
        <p:spPr>
          <a:xfrm>
            <a:off x="4370832" y="3941063"/>
            <a:ext cx="3438143" cy="0"/>
          </a:xfrm>
          <a:prstGeom prst="line">
            <a:avLst/>
          </a:prstGeom>
          <a:ln w="8890">
            <a:solidFill>
              <a:srgbClr val="52645C"/>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370832" y="4242816"/>
            <a:ext cx="3429000" cy="1371600"/>
          </a:xfrm>
          <a:prstGeom prst="rect">
            <a:avLst/>
          </a:prstGeom>
          <a:noFill/>
        </p:spPr>
        <p:txBody>
          <a:bodyPr wrap="square" tIns="0" bIns="0" lIns="0" rIns="0">
            <a:spAutoFit/>
          </a:bodyPr>
          <a:lstStyle/>
          <a:p>
            <a:pPr>
              <a:spcAft>
                <a:spcPts val="500"/>
              </a:spcAft>
              <a:defRPr sz="2200" b="0">
                <a:solidFill>
                  <a:srgbClr val="52645C"/>
                </a:solidFill>
                <a:latin typeface="Arial"/>
              </a:defRPr>
            </a:pPr>
            <a:r>
              <a:t>Existing-device deployment</a:t>
            </a:r>
          </a:p>
          <a:p>
            <a:pPr>
              <a:spcAft>
                <a:spcPts val="500"/>
              </a:spcAft>
              <a:defRPr sz="2200" b="0">
                <a:solidFill>
                  <a:srgbClr val="52645C"/>
                </a:solidFill>
                <a:latin typeface="Arial"/>
              </a:defRPr>
            </a:pPr>
            <a:r>
              <a:t>Cost per completed task</a:t>
            </a:r>
          </a:p>
          <a:p>
            <a:pPr>
              <a:spcAft>
                <a:spcPts val="500"/>
              </a:spcAft>
              <a:defRPr sz="2200" b="0">
                <a:solidFill>
                  <a:srgbClr val="52645C"/>
                </a:solidFill>
                <a:latin typeface="Arial"/>
              </a:defRPr>
            </a:pPr>
            <a:r>
              <a:t>Maintainer responsibility</a:t>
            </a:r>
          </a:p>
        </p:txBody>
      </p:sp>
      <p:sp>
        <p:nvSpPr>
          <p:cNvPr id="15" name="TextBox 14"/>
          <p:cNvSpPr txBox="1"/>
          <p:nvPr/>
        </p:nvSpPr>
        <p:spPr>
          <a:xfrm>
            <a:off x="8174736" y="3063240"/>
            <a:ext cx="3429000" cy="731520"/>
          </a:xfrm>
          <a:prstGeom prst="rect">
            <a:avLst/>
          </a:prstGeom>
          <a:noFill/>
        </p:spPr>
        <p:txBody>
          <a:bodyPr wrap="square" tIns="0" bIns="0" lIns="0" rIns="0">
            <a:spAutoFit/>
          </a:bodyPr>
          <a:lstStyle/>
          <a:p>
            <a:pPr>
              <a:spcAft>
                <a:spcPts val="500"/>
              </a:spcAft>
              <a:defRPr sz="2800" b="1">
                <a:solidFill>
                  <a:srgbClr val="15211F"/>
                </a:solidFill>
                <a:latin typeface="Arial"/>
              </a:defRPr>
            </a:pPr>
            <a:r>
              <a:t>Privacy / utility</a:t>
            </a:r>
          </a:p>
        </p:txBody>
      </p:sp>
      <p:cxnSp>
        <p:nvCxnSpPr>
          <p:cNvPr id="16" name="Connector 15"/>
          <p:cNvCxnSpPr/>
          <p:nvPr/>
        </p:nvCxnSpPr>
        <p:spPr>
          <a:xfrm>
            <a:off x="8174736" y="3941063"/>
            <a:ext cx="3438144" cy="0"/>
          </a:xfrm>
          <a:prstGeom prst="line">
            <a:avLst/>
          </a:prstGeom>
          <a:ln w="8890">
            <a:solidFill>
              <a:srgbClr val="52645C"/>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174736" y="4242816"/>
            <a:ext cx="3429000" cy="1371600"/>
          </a:xfrm>
          <a:prstGeom prst="rect">
            <a:avLst/>
          </a:prstGeom>
          <a:noFill/>
        </p:spPr>
        <p:txBody>
          <a:bodyPr wrap="square" tIns="0" bIns="0" lIns="0" rIns="0">
            <a:spAutoFit/>
          </a:bodyPr>
          <a:lstStyle/>
          <a:p>
            <a:pPr>
              <a:spcAft>
                <a:spcPts val="500"/>
              </a:spcAft>
              <a:defRPr sz="2200" b="0">
                <a:solidFill>
                  <a:srgbClr val="52645C"/>
                </a:solidFill>
                <a:latin typeface="Arial"/>
              </a:defRPr>
            </a:pPr>
            <a:r>
              <a:t>Sensitive coverage</a:t>
            </a:r>
          </a:p>
          <a:p>
            <a:pPr>
              <a:spcAft>
                <a:spcPts val="500"/>
              </a:spcAft>
              <a:defRPr sz="2200" b="0">
                <a:solidFill>
                  <a:srgbClr val="52645C"/>
                </a:solidFill>
                <a:latin typeface="Arial"/>
              </a:defRPr>
            </a:pPr>
            <a:r>
              <a:t>Useful context retained</a:t>
            </a:r>
          </a:p>
          <a:p>
            <a:pPr>
              <a:spcAft>
                <a:spcPts val="500"/>
              </a:spcAft>
              <a:defRPr sz="2200" b="0">
                <a:solidFill>
                  <a:srgbClr val="52645C"/>
                </a:solidFill>
                <a:latin typeface="Arial"/>
              </a:defRPr>
            </a:pPr>
            <a:r>
              <a:t>Failure severity</a:t>
            </a:r>
          </a:p>
        </p:txBody>
      </p:sp>
      <p:sp>
        <p:nvSpPr>
          <p:cNvPr id="18" name="TextBox 17"/>
          <p:cNvSpPr txBox="1"/>
          <p:nvPr/>
        </p:nvSpPr>
        <p:spPr>
          <a:xfrm>
            <a:off x="548640" y="5980176"/>
            <a:ext cx="11064240" cy="256032"/>
          </a:xfrm>
          <a:prstGeom prst="rect">
            <a:avLst/>
          </a:prstGeom>
          <a:noFill/>
        </p:spPr>
        <p:txBody>
          <a:bodyPr wrap="square" tIns="0" bIns="0" lIns="0" rIns="0">
            <a:spAutoFit/>
          </a:bodyPr>
          <a:lstStyle/>
          <a:p>
            <a:pPr>
              <a:spcAft>
                <a:spcPts val="500"/>
              </a:spcAft>
              <a:defRPr sz="1100" b="0">
                <a:solidFill>
                  <a:srgbClr val="52645C"/>
                </a:solidFill>
                <a:latin typeface="Arial"/>
              </a:defRPr>
            </a:pPr>
            <a:r>
              <a:t>A local-install institutional pilot is a proposed route. No partner, revenue, savings or energy benefit is asserted.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1E7"/>
        </a:solidFill>
        <a:effectLst/>
      </p:bgPr>
    </p:bg>
    <p:spTree>
      <p:nvGrpSpPr>
        <p:cNvPr id="1" name=""/>
        <p:cNvGrpSpPr/>
        <p:nvPr/>
      </p:nvGrpSpPr>
      <p:grpSpPr/>
      <p:sp>
        <p:nvSpPr>
          <p:cNvPr id="2" name="TextBox 1"/>
          <p:cNvSpPr txBox="1"/>
          <p:nvPr/>
        </p:nvSpPr>
        <p:spPr>
          <a:xfrm>
            <a:off x="548640" y="265176"/>
            <a:ext cx="8321040" cy="274320"/>
          </a:xfrm>
          <a:prstGeom prst="rect">
            <a:avLst/>
          </a:prstGeom>
          <a:noFill/>
        </p:spPr>
        <p:txBody>
          <a:bodyPr wrap="square" tIns="0" bIns="0" lIns="0" rIns="0">
            <a:spAutoFit/>
          </a:bodyPr>
          <a:lstStyle/>
          <a:p>
            <a:pPr>
              <a:spcAft>
                <a:spcPts val="500"/>
              </a:spcAft>
              <a:defRPr sz="1100" b="1">
                <a:solidFill>
                  <a:srgbClr val="29473F"/>
                </a:solidFill>
                <a:latin typeface="Arial"/>
              </a:defRPr>
            </a:pPr>
            <a:r>
              <a:t>IMPACT AND BENEFITS</a:t>
            </a:r>
          </a:p>
        </p:txBody>
      </p:sp>
      <p:sp>
        <p:nvSpPr>
          <p:cNvPr id="3" name="TextBox 2"/>
          <p:cNvSpPr txBox="1"/>
          <p:nvPr/>
        </p:nvSpPr>
        <p:spPr>
          <a:xfrm>
            <a:off x="9144000" y="265176"/>
            <a:ext cx="2514600" cy="274320"/>
          </a:xfrm>
          <a:prstGeom prst="rect">
            <a:avLst/>
          </a:prstGeom>
          <a:noFill/>
        </p:spPr>
        <p:txBody>
          <a:bodyPr wrap="square" tIns="0" bIns="0" lIns="0" rIns="0">
            <a:spAutoFit/>
          </a:bodyPr>
          <a:lstStyle/>
          <a:p>
            <a:pPr>
              <a:spcAft>
                <a:spcPts val="500"/>
              </a:spcAft>
              <a:defRPr sz="1100" b="1">
                <a:solidFill>
                  <a:srgbClr val="15211F"/>
                </a:solidFill>
                <a:latin typeface="Arial"/>
              </a:defRPr>
            </a:pPr>
            <a:r>
              <a:t>DHRISTI / SIH26171</a:t>
            </a:r>
          </a:p>
        </p:txBody>
      </p:sp>
      <p:sp>
        <p:nvSpPr>
          <p:cNvPr id="4" name="TextBox 3"/>
          <p:cNvSpPr txBox="1"/>
          <p:nvPr/>
        </p:nvSpPr>
        <p:spPr>
          <a:xfrm>
            <a:off x="548640" y="868680"/>
            <a:ext cx="11064240" cy="1069848"/>
          </a:xfrm>
          <a:prstGeom prst="rect">
            <a:avLst/>
          </a:prstGeom>
          <a:noFill/>
        </p:spPr>
        <p:txBody>
          <a:bodyPr wrap="square" tIns="0" bIns="0" lIns="0" rIns="0">
            <a:spAutoFit/>
          </a:bodyPr>
          <a:lstStyle/>
          <a:p>
            <a:pPr>
              <a:spcAft>
                <a:spcPts val="500"/>
              </a:spcAft>
              <a:defRPr sz="4000" b="1">
                <a:solidFill>
                  <a:srgbClr val="15211F"/>
                </a:solidFill>
                <a:latin typeface="Arial"/>
              </a:defRPr>
            </a:pPr>
            <a:r>
              <a:t>Six owners. One accountable demo.</a:t>
            </a:r>
          </a:p>
        </p:txBody>
      </p:sp>
      <p:sp>
        <p:nvSpPr>
          <p:cNvPr id="5" name="TextBox 4"/>
          <p:cNvSpPr txBox="1"/>
          <p:nvPr/>
        </p:nvSpPr>
        <p:spPr>
          <a:xfrm>
            <a:off x="576072" y="1993392"/>
            <a:ext cx="10972800" cy="566928"/>
          </a:xfrm>
          <a:prstGeom prst="rect">
            <a:avLst/>
          </a:prstGeom>
          <a:noFill/>
        </p:spPr>
        <p:txBody>
          <a:bodyPr wrap="square" tIns="0" bIns="0" lIns="0" rIns="0">
            <a:spAutoFit/>
          </a:bodyPr>
          <a:lstStyle/>
          <a:p>
            <a:pPr>
              <a:spcAft>
                <a:spcPts val="500"/>
              </a:spcAft>
              <a:defRPr sz="1800" b="0">
                <a:solidFill>
                  <a:srgbClr val="52645C"/>
                </a:solidFill>
                <a:latin typeface="Arial"/>
              </a:defRPr>
            </a:pPr>
            <a:r>
              <a:t>Responsibilities are proposed work allocation; no individual experience or awards are invented.</a:t>
            </a:r>
          </a:p>
        </p:txBody>
      </p:sp>
      <p:cxnSp>
        <p:nvCxnSpPr>
          <p:cNvPr id="6" name="Connector 5"/>
          <p:cNvCxnSpPr/>
          <p:nvPr/>
        </p:nvCxnSpPr>
        <p:spPr>
          <a:xfrm>
            <a:off x="548640" y="6391656"/>
            <a:ext cx="11064240" cy="0"/>
          </a:xfrm>
          <a:prstGeom prst="line">
            <a:avLst/>
          </a:prstGeom>
          <a:ln w="8890">
            <a:solidFill>
              <a:srgbClr val="52645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28816"/>
            <a:ext cx="9144000" cy="201168"/>
          </a:xfrm>
          <a:prstGeom prst="rect">
            <a:avLst/>
          </a:prstGeom>
          <a:noFill/>
        </p:spPr>
        <p:txBody>
          <a:bodyPr wrap="square" tIns="0" bIns="0" lIns="0" rIns="0">
            <a:spAutoFit/>
          </a:bodyPr>
          <a:lstStyle/>
          <a:p>
            <a:pPr>
              <a:spcAft>
                <a:spcPts val="500"/>
              </a:spcAft>
              <a:defRPr sz="1000" b="0">
                <a:solidFill>
                  <a:srgbClr val="52645C"/>
                </a:solidFill>
                <a:latin typeface="Arial"/>
              </a:defRPr>
            </a:pPr>
            <a:r>
              <a:t>RV UNIVERSITY · ENGINEERING CANDIDATE v0.1 · 11 SEP 2026</a:t>
            </a:r>
          </a:p>
        </p:txBody>
      </p:sp>
      <p:sp>
        <p:nvSpPr>
          <p:cNvPr id="8" name="TextBox 7"/>
          <p:cNvSpPr txBox="1"/>
          <p:nvPr/>
        </p:nvSpPr>
        <p:spPr>
          <a:xfrm>
            <a:off x="10881360" y="6528816"/>
            <a:ext cx="768096" cy="201168"/>
          </a:xfrm>
          <a:prstGeom prst="rect">
            <a:avLst/>
          </a:prstGeom>
          <a:noFill/>
        </p:spPr>
        <p:txBody>
          <a:bodyPr wrap="square" tIns="0" bIns="0" lIns="0" rIns="0">
            <a:spAutoFit/>
          </a:bodyPr>
          <a:lstStyle/>
          <a:p>
            <a:pPr>
              <a:spcAft>
                <a:spcPts val="500"/>
              </a:spcAft>
              <a:defRPr sz="1000" b="0">
                <a:solidFill>
                  <a:srgbClr val="52645C"/>
                </a:solidFill>
                <a:latin typeface="Arial"/>
              </a:defRPr>
            </a:pPr>
            <a:r>
              <a:t>14 / 15</a:t>
            </a:r>
          </a:p>
        </p:txBody>
      </p:sp>
      <p:cxnSp>
        <p:nvCxnSpPr>
          <p:cNvPr id="9" name="Connector 8"/>
          <p:cNvCxnSpPr/>
          <p:nvPr/>
        </p:nvCxnSpPr>
        <p:spPr>
          <a:xfrm>
            <a:off x="576072" y="2761488"/>
            <a:ext cx="3429000" cy="0"/>
          </a:xfrm>
          <a:prstGeom prst="line">
            <a:avLst/>
          </a:prstGeom>
          <a:ln w="8890">
            <a:solidFill>
              <a:srgbClr val="52645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76072" y="2898648"/>
            <a:ext cx="3429000" cy="384048"/>
          </a:xfrm>
          <a:prstGeom prst="rect">
            <a:avLst/>
          </a:prstGeom>
          <a:noFill/>
        </p:spPr>
        <p:txBody>
          <a:bodyPr wrap="square" tIns="0" bIns="0" lIns="0" rIns="0">
            <a:spAutoFit/>
          </a:bodyPr>
          <a:lstStyle/>
          <a:p>
            <a:pPr>
              <a:spcAft>
                <a:spcPts val="500"/>
              </a:spcAft>
              <a:defRPr sz="2500" b="1">
                <a:solidFill>
                  <a:srgbClr val="15211F"/>
                </a:solidFill>
                <a:latin typeface="Arial"/>
              </a:defRPr>
            </a:pPr>
            <a:r>
              <a:t>Francis</a:t>
            </a:r>
          </a:p>
        </p:txBody>
      </p:sp>
      <p:sp>
        <p:nvSpPr>
          <p:cNvPr id="11" name="TextBox 10"/>
          <p:cNvSpPr txBox="1"/>
          <p:nvPr/>
        </p:nvSpPr>
        <p:spPr>
          <a:xfrm>
            <a:off x="576072" y="3374136"/>
            <a:ext cx="3429000" cy="329184"/>
          </a:xfrm>
          <a:prstGeom prst="rect">
            <a:avLst/>
          </a:prstGeom>
          <a:noFill/>
        </p:spPr>
        <p:txBody>
          <a:bodyPr wrap="square" tIns="0" bIns="0" lIns="0" rIns="0">
            <a:spAutoFit/>
          </a:bodyPr>
          <a:lstStyle/>
          <a:p>
            <a:pPr>
              <a:spcAft>
                <a:spcPts val="500"/>
              </a:spcAft>
              <a:defRPr sz="1800" b="0">
                <a:solidFill>
                  <a:srgbClr val="52645C"/>
                </a:solidFill>
                <a:latin typeface="Arial"/>
              </a:defRPr>
            </a:pPr>
            <a:r>
              <a:t>Integration + technical pitch</a:t>
            </a:r>
          </a:p>
        </p:txBody>
      </p:sp>
      <p:cxnSp>
        <p:nvCxnSpPr>
          <p:cNvPr id="12" name="Connector 11"/>
          <p:cNvCxnSpPr/>
          <p:nvPr/>
        </p:nvCxnSpPr>
        <p:spPr>
          <a:xfrm>
            <a:off x="4379976" y="2761488"/>
            <a:ext cx="3428999" cy="0"/>
          </a:xfrm>
          <a:prstGeom prst="line">
            <a:avLst/>
          </a:prstGeom>
          <a:ln w="8890">
            <a:solidFill>
              <a:srgbClr val="52645C"/>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379976" y="2898648"/>
            <a:ext cx="3429000" cy="384048"/>
          </a:xfrm>
          <a:prstGeom prst="rect">
            <a:avLst/>
          </a:prstGeom>
          <a:noFill/>
        </p:spPr>
        <p:txBody>
          <a:bodyPr wrap="square" tIns="0" bIns="0" lIns="0" rIns="0">
            <a:spAutoFit/>
          </a:bodyPr>
          <a:lstStyle/>
          <a:p>
            <a:pPr>
              <a:spcAft>
                <a:spcPts val="500"/>
              </a:spcAft>
              <a:defRPr sz="2500" b="1">
                <a:solidFill>
                  <a:srgbClr val="15211F"/>
                </a:solidFill>
                <a:latin typeface="Arial"/>
              </a:defRPr>
            </a:pPr>
            <a:r>
              <a:t>Gopreet</a:t>
            </a:r>
          </a:p>
        </p:txBody>
      </p:sp>
      <p:sp>
        <p:nvSpPr>
          <p:cNvPr id="14" name="TextBox 13"/>
          <p:cNvSpPr txBox="1"/>
          <p:nvPr/>
        </p:nvSpPr>
        <p:spPr>
          <a:xfrm>
            <a:off x="4379976" y="3374136"/>
            <a:ext cx="3429000" cy="329184"/>
          </a:xfrm>
          <a:prstGeom prst="rect">
            <a:avLst/>
          </a:prstGeom>
          <a:noFill/>
        </p:spPr>
        <p:txBody>
          <a:bodyPr wrap="square" tIns="0" bIns="0" lIns="0" rIns="0">
            <a:spAutoFit/>
          </a:bodyPr>
          <a:lstStyle/>
          <a:p>
            <a:pPr>
              <a:spcAft>
                <a:spcPts val="500"/>
              </a:spcAft>
              <a:defRPr sz="1800" b="0">
                <a:solidFill>
                  <a:srgbClr val="52645C"/>
                </a:solidFill>
                <a:latin typeface="Arial"/>
              </a:defRPr>
            </a:pPr>
            <a:r>
              <a:t>API + persistence</a:t>
            </a:r>
          </a:p>
        </p:txBody>
      </p:sp>
      <p:cxnSp>
        <p:nvCxnSpPr>
          <p:cNvPr id="15" name="Connector 14"/>
          <p:cNvCxnSpPr/>
          <p:nvPr/>
        </p:nvCxnSpPr>
        <p:spPr>
          <a:xfrm>
            <a:off x="8183880" y="2761488"/>
            <a:ext cx="3429000" cy="0"/>
          </a:xfrm>
          <a:prstGeom prst="line">
            <a:avLst/>
          </a:prstGeom>
          <a:ln w="8890">
            <a:solidFill>
              <a:srgbClr val="52645C"/>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183880" y="2898648"/>
            <a:ext cx="3429000" cy="384048"/>
          </a:xfrm>
          <a:prstGeom prst="rect">
            <a:avLst/>
          </a:prstGeom>
          <a:noFill/>
        </p:spPr>
        <p:txBody>
          <a:bodyPr wrap="square" tIns="0" bIns="0" lIns="0" rIns="0">
            <a:spAutoFit/>
          </a:bodyPr>
          <a:lstStyle/>
          <a:p>
            <a:pPr>
              <a:spcAft>
                <a:spcPts val="500"/>
              </a:spcAft>
              <a:defRPr sz="2500" b="1">
                <a:solidFill>
                  <a:srgbClr val="15211F"/>
                </a:solidFill>
                <a:latin typeface="Arial"/>
              </a:defRPr>
            </a:pPr>
            <a:r>
              <a:t>Hiranmayi</a:t>
            </a:r>
          </a:p>
        </p:txBody>
      </p:sp>
      <p:sp>
        <p:nvSpPr>
          <p:cNvPr id="17" name="TextBox 16"/>
          <p:cNvSpPr txBox="1"/>
          <p:nvPr/>
        </p:nvSpPr>
        <p:spPr>
          <a:xfrm>
            <a:off x="8183880" y="3374136"/>
            <a:ext cx="3429000" cy="329184"/>
          </a:xfrm>
          <a:prstGeom prst="rect">
            <a:avLst/>
          </a:prstGeom>
          <a:noFill/>
        </p:spPr>
        <p:txBody>
          <a:bodyPr wrap="square" tIns="0" bIns="0" lIns="0" rIns="0">
            <a:spAutoFit/>
          </a:bodyPr>
          <a:lstStyle/>
          <a:p>
            <a:pPr>
              <a:spcAft>
                <a:spcPts val="500"/>
              </a:spcAft>
              <a:defRPr sz="1800" b="0">
                <a:solidFill>
                  <a:srgbClr val="52645C"/>
                </a:solidFill>
                <a:latin typeface="Arial"/>
              </a:defRPr>
            </a:pPr>
            <a:r>
              <a:t>UX + accessibility</a:t>
            </a:r>
          </a:p>
        </p:txBody>
      </p:sp>
      <p:cxnSp>
        <p:nvCxnSpPr>
          <p:cNvPr id="18" name="Connector 17"/>
          <p:cNvCxnSpPr/>
          <p:nvPr/>
        </p:nvCxnSpPr>
        <p:spPr>
          <a:xfrm>
            <a:off x="576072" y="3794760"/>
            <a:ext cx="3429000" cy="0"/>
          </a:xfrm>
          <a:prstGeom prst="line">
            <a:avLst/>
          </a:prstGeom>
          <a:ln w="8890">
            <a:solidFill>
              <a:srgbClr val="52645C"/>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76072" y="3931920"/>
            <a:ext cx="3429000" cy="384048"/>
          </a:xfrm>
          <a:prstGeom prst="rect">
            <a:avLst/>
          </a:prstGeom>
          <a:noFill/>
        </p:spPr>
        <p:txBody>
          <a:bodyPr wrap="square" tIns="0" bIns="0" lIns="0" rIns="0">
            <a:spAutoFit/>
          </a:bodyPr>
          <a:lstStyle/>
          <a:p>
            <a:pPr>
              <a:spcAft>
                <a:spcPts val="500"/>
              </a:spcAft>
              <a:defRPr sz="2500" b="1">
                <a:solidFill>
                  <a:srgbClr val="15211F"/>
                </a:solidFill>
                <a:latin typeface="Arial"/>
              </a:defRPr>
            </a:pPr>
            <a:r>
              <a:t>Varun</a:t>
            </a:r>
          </a:p>
        </p:txBody>
      </p:sp>
      <p:sp>
        <p:nvSpPr>
          <p:cNvPr id="20" name="TextBox 19"/>
          <p:cNvSpPr txBox="1"/>
          <p:nvPr/>
        </p:nvSpPr>
        <p:spPr>
          <a:xfrm>
            <a:off x="576072" y="4407408"/>
            <a:ext cx="3429000" cy="329184"/>
          </a:xfrm>
          <a:prstGeom prst="rect">
            <a:avLst/>
          </a:prstGeom>
          <a:noFill/>
        </p:spPr>
        <p:txBody>
          <a:bodyPr wrap="square" tIns="0" bIns="0" lIns="0" rIns="0">
            <a:spAutoFit/>
          </a:bodyPr>
          <a:lstStyle/>
          <a:p>
            <a:pPr>
              <a:spcAft>
                <a:spcPts val="500"/>
              </a:spcAft>
              <a:defRPr sz="1800" b="0">
                <a:solidFill>
                  <a:srgbClr val="52645C"/>
                </a:solidFill>
                <a:latin typeface="Arial"/>
              </a:defRPr>
            </a:pPr>
            <a:r>
              <a:t>Domain implementation</a:t>
            </a:r>
          </a:p>
        </p:txBody>
      </p:sp>
      <p:cxnSp>
        <p:nvCxnSpPr>
          <p:cNvPr id="21" name="Connector 20"/>
          <p:cNvCxnSpPr/>
          <p:nvPr/>
        </p:nvCxnSpPr>
        <p:spPr>
          <a:xfrm>
            <a:off x="4379976" y="3794760"/>
            <a:ext cx="3428999" cy="0"/>
          </a:xfrm>
          <a:prstGeom prst="line">
            <a:avLst/>
          </a:prstGeom>
          <a:ln w="8890">
            <a:solidFill>
              <a:srgbClr val="52645C"/>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379976" y="3931920"/>
            <a:ext cx="3429000" cy="384048"/>
          </a:xfrm>
          <a:prstGeom prst="rect">
            <a:avLst/>
          </a:prstGeom>
          <a:noFill/>
        </p:spPr>
        <p:txBody>
          <a:bodyPr wrap="square" tIns="0" bIns="0" lIns="0" rIns="0">
            <a:spAutoFit/>
          </a:bodyPr>
          <a:lstStyle/>
          <a:p>
            <a:pPr>
              <a:spcAft>
                <a:spcPts val="500"/>
              </a:spcAft>
              <a:defRPr sz="2500" b="1">
                <a:solidFill>
                  <a:srgbClr val="15211F"/>
                </a:solidFill>
                <a:latin typeface="Arial"/>
              </a:defRPr>
            </a:pPr>
            <a:r>
              <a:t>Koushaik</a:t>
            </a:r>
          </a:p>
        </p:txBody>
      </p:sp>
      <p:sp>
        <p:nvSpPr>
          <p:cNvPr id="23" name="TextBox 22"/>
          <p:cNvSpPr txBox="1"/>
          <p:nvPr/>
        </p:nvSpPr>
        <p:spPr>
          <a:xfrm>
            <a:off x="4379976" y="4407408"/>
            <a:ext cx="3429000" cy="329184"/>
          </a:xfrm>
          <a:prstGeom prst="rect">
            <a:avLst/>
          </a:prstGeom>
          <a:noFill/>
        </p:spPr>
        <p:txBody>
          <a:bodyPr wrap="square" tIns="0" bIns="0" lIns="0" rIns="0">
            <a:spAutoFit/>
          </a:bodyPr>
          <a:lstStyle/>
          <a:p>
            <a:pPr>
              <a:spcAft>
                <a:spcPts val="500"/>
              </a:spcAft>
              <a:defRPr sz="1800" b="0">
                <a:solidFill>
                  <a:srgbClr val="52645C"/>
                </a:solidFill>
                <a:latin typeface="Arial"/>
              </a:defRPr>
            </a:pPr>
            <a:r>
              <a:t>Testing + reliability</a:t>
            </a:r>
          </a:p>
        </p:txBody>
      </p:sp>
      <p:cxnSp>
        <p:nvCxnSpPr>
          <p:cNvPr id="24" name="Connector 23"/>
          <p:cNvCxnSpPr/>
          <p:nvPr/>
        </p:nvCxnSpPr>
        <p:spPr>
          <a:xfrm>
            <a:off x="8183880" y="3794760"/>
            <a:ext cx="3429000" cy="0"/>
          </a:xfrm>
          <a:prstGeom prst="line">
            <a:avLst/>
          </a:prstGeom>
          <a:ln w="8890">
            <a:solidFill>
              <a:srgbClr val="52645C"/>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8183880" y="3931920"/>
            <a:ext cx="3429000" cy="384048"/>
          </a:xfrm>
          <a:prstGeom prst="rect">
            <a:avLst/>
          </a:prstGeom>
          <a:noFill/>
        </p:spPr>
        <p:txBody>
          <a:bodyPr wrap="square" tIns="0" bIns="0" lIns="0" rIns="0">
            <a:spAutoFit/>
          </a:bodyPr>
          <a:lstStyle/>
          <a:p>
            <a:pPr>
              <a:spcAft>
                <a:spcPts val="500"/>
              </a:spcAft>
              <a:defRPr sz="2500" b="1">
                <a:solidFill>
                  <a:srgbClr val="15211F"/>
                </a:solidFill>
                <a:latin typeface="Arial"/>
              </a:defRPr>
            </a:pPr>
            <a:r>
              <a:t>Niharika</a:t>
            </a:r>
          </a:p>
        </p:txBody>
      </p:sp>
      <p:sp>
        <p:nvSpPr>
          <p:cNvPr id="26" name="TextBox 25"/>
          <p:cNvSpPr txBox="1"/>
          <p:nvPr/>
        </p:nvSpPr>
        <p:spPr>
          <a:xfrm>
            <a:off x="8183880" y="4407408"/>
            <a:ext cx="3429000" cy="329184"/>
          </a:xfrm>
          <a:prstGeom prst="rect">
            <a:avLst/>
          </a:prstGeom>
          <a:noFill/>
        </p:spPr>
        <p:txBody>
          <a:bodyPr wrap="square" tIns="0" bIns="0" lIns="0" rIns="0">
            <a:spAutoFit/>
          </a:bodyPr>
          <a:lstStyle/>
          <a:p>
            <a:pPr>
              <a:spcAft>
                <a:spcPts val="500"/>
              </a:spcAft>
              <a:defRPr sz="1800" b="0">
                <a:solidFill>
                  <a:srgbClr val="52645C"/>
                </a:solidFill>
                <a:latin typeface="Arial"/>
              </a:defRPr>
            </a:pPr>
            <a:r>
              <a:t>Research + narrative</a:t>
            </a:r>
          </a:p>
        </p:txBody>
      </p:sp>
      <p:sp>
        <p:nvSpPr>
          <p:cNvPr id="27" name="Rectangle 26"/>
          <p:cNvSpPr/>
          <p:nvPr/>
        </p:nvSpPr>
        <p:spPr>
          <a:xfrm>
            <a:off x="576072" y="5166360"/>
            <a:ext cx="11036808" cy="576072"/>
          </a:xfrm>
          <a:prstGeom prst="rect">
            <a:avLst/>
          </a:prstGeom>
          <a:solidFill>
            <a:srgbClr val="D8F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8952" y="5349240"/>
            <a:ext cx="10671048" cy="283464"/>
          </a:xfrm>
          <a:prstGeom prst="rect">
            <a:avLst/>
          </a:prstGeom>
          <a:noFill/>
        </p:spPr>
        <p:txBody>
          <a:bodyPr wrap="square" tIns="0" bIns="0" lIns="0" rIns="0">
            <a:spAutoFit/>
          </a:bodyPr>
          <a:lstStyle/>
          <a:p>
            <a:pPr>
              <a:spcAft>
                <a:spcPts val="500"/>
              </a:spcAft>
              <a:defRPr sz="1600" b="1">
                <a:solidFill>
                  <a:srgbClr val="15211F"/>
                </a:solidFill>
                <a:latin typeface="Arial"/>
              </a:defRPr>
            </a:pPr>
            <a:r>
              <a:t>09 SEP  Build evidence    →    10 SEP  Validate + rehearse    →    11 SEP  Internal delivery</a:t>
            </a:r>
          </a:p>
        </p:txBody>
      </p:sp>
      <p:sp>
        <p:nvSpPr>
          <p:cNvPr id="29" name="TextBox 28"/>
          <p:cNvSpPr txBox="1"/>
          <p:nvPr/>
        </p:nvSpPr>
        <p:spPr>
          <a:xfrm>
            <a:off x="548640" y="5980176"/>
            <a:ext cx="11064240" cy="256032"/>
          </a:xfrm>
          <a:prstGeom prst="rect">
            <a:avLst/>
          </a:prstGeom>
          <a:noFill/>
        </p:spPr>
        <p:txBody>
          <a:bodyPr wrap="square" tIns="0" bIns="0" lIns="0" rIns="0">
            <a:spAutoFit/>
          </a:bodyPr>
          <a:lstStyle/>
          <a:p>
            <a:pPr>
              <a:spcAft>
                <a:spcPts val="500"/>
              </a:spcAft>
              <a:defRPr sz="1100" b="0">
                <a:solidFill>
                  <a:srgbClr val="52645C"/>
                </a:solidFill>
                <a:latin typeface="Arial"/>
              </a:defRPr>
            </a:pPr>
            <a:r>
              <a:t>User-supplied team names and institution. Registered team name/ID and consented portraits remain pending.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5211F"/>
        </a:solidFill>
        <a:effectLst/>
      </p:bgPr>
    </p:bg>
    <p:spTree>
      <p:nvGrpSpPr>
        <p:cNvPr id="1" name=""/>
        <p:cNvGrpSpPr/>
        <p:nvPr/>
      </p:nvGrpSpPr>
      <p:grpSpPr/>
      <p:sp>
        <p:nvSpPr>
          <p:cNvPr id="2" name="TextBox 1"/>
          <p:cNvSpPr txBox="1"/>
          <p:nvPr/>
        </p:nvSpPr>
        <p:spPr>
          <a:xfrm>
            <a:off x="548640" y="265176"/>
            <a:ext cx="8321040" cy="274320"/>
          </a:xfrm>
          <a:prstGeom prst="rect">
            <a:avLst/>
          </a:prstGeom>
          <a:noFill/>
        </p:spPr>
        <p:txBody>
          <a:bodyPr wrap="square" tIns="0" bIns="0" lIns="0" rIns="0">
            <a:spAutoFit/>
          </a:bodyPr>
          <a:lstStyle/>
          <a:p>
            <a:pPr>
              <a:spcAft>
                <a:spcPts val="500"/>
              </a:spcAft>
              <a:defRPr sz="1100" b="1">
                <a:solidFill>
                  <a:srgbClr val="D8F36A"/>
                </a:solidFill>
                <a:latin typeface="Arial"/>
              </a:defRPr>
            </a:pPr>
            <a:r>
              <a:t>RESEARCH  AND REFERENCES</a:t>
            </a:r>
          </a:p>
        </p:txBody>
      </p:sp>
      <p:sp>
        <p:nvSpPr>
          <p:cNvPr id="3" name="TextBox 2"/>
          <p:cNvSpPr txBox="1"/>
          <p:nvPr/>
        </p:nvSpPr>
        <p:spPr>
          <a:xfrm>
            <a:off x="9144000" y="265176"/>
            <a:ext cx="2514600" cy="274320"/>
          </a:xfrm>
          <a:prstGeom prst="rect">
            <a:avLst/>
          </a:prstGeom>
          <a:noFill/>
        </p:spPr>
        <p:txBody>
          <a:bodyPr wrap="square" tIns="0" bIns="0" lIns="0" rIns="0">
            <a:spAutoFit/>
          </a:bodyPr>
          <a:lstStyle/>
          <a:p>
            <a:pPr>
              <a:spcAft>
                <a:spcPts val="500"/>
              </a:spcAft>
              <a:defRPr sz="1100" b="1">
                <a:solidFill>
                  <a:srgbClr val="F3F1E7"/>
                </a:solidFill>
                <a:latin typeface="Arial"/>
              </a:defRPr>
            </a:pPr>
            <a:r>
              <a:t>DHRISTI / SIH26171</a:t>
            </a:r>
          </a:p>
        </p:txBody>
      </p:sp>
      <p:sp>
        <p:nvSpPr>
          <p:cNvPr id="4" name="TextBox 3"/>
          <p:cNvSpPr txBox="1"/>
          <p:nvPr/>
        </p:nvSpPr>
        <p:spPr>
          <a:xfrm>
            <a:off x="548640" y="868680"/>
            <a:ext cx="11064240" cy="1069848"/>
          </a:xfrm>
          <a:prstGeom prst="rect">
            <a:avLst/>
          </a:prstGeom>
          <a:noFill/>
        </p:spPr>
        <p:txBody>
          <a:bodyPr wrap="square" tIns="0" bIns="0" lIns="0" rIns="0">
            <a:spAutoFit/>
          </a:bodyPr>
          <a:lstStyle/>
          <a:p>
            <a:pPr>
              <a:spcAft>
                <a:spcPts val="500"/>
              </a:spcAft>
              <a:defRPr sz="4000" b="1">
                <a:solidFill>
                  <a:srgbClr val="F3F1E7"/>
                </a:solidFill>
                <a:latin typeface="Arial"/>
              </a:defRPr>
            </a:pPr>
            <a:r>
              <a:t>Useful context.</a:t>
            </a:r>
          </a:p>
          <a:p>
            <a:pPr>
              <a:spcAft>
                <a:spcPts val="500"/>
              </a:spcAft>
              <a:defRPr sz="4000" b="1">
                <a:solidFill>
                  <a:srgbClr val="F3F1E7"/>
                </a:solidFill>
                <a:latin typeface="Arial"/>
              </a:defRPr>
            </a:pPr>
            <a:r>
              <a:t>A smaller exposure.</a:t>
            </a:r>
          </a:p>
        </p:txBody>
      </p:sp>
      <p:sp>
        <p:nvSpPr>
          <p:cNvPr id="5" name="TextBox 4"/>
          <p:cNvSpPr txBox="1"/>
          <p:nvPr/>
        </p:nvSpPr>
        <p:spPr>
          <a:xfrm>
            <a:off x="576072" y="2267712"/>
            <a:ext cx="10972800" cy="566928"/>
          </a:xfrm>
          <a:prstGeom prst="rect">
            <a:avLst/>
          </a:prstGeom>
          <a:noFill/>
        </p:spPr>
        <p:txBody>
          <a:bodyPr wrap="square" tIns="0" bIns="0" lIns="0" rIns="0">
            <a:spAutoFit/>
          </a:bodyPr>
          <a:lstStyle/>
          <a:p>
            <a:pPr>
              <a:spcAft>
                <a:spcPts val="500"/>
              </a:spcAft>
              <a:defRPr sz="1800" b="0">
                <a:solidFill>
                  <a:srgbClr val="F3F1E7"/>
                </a:solidFill>
                <a:latin typeface="Arial"/>
              </a:defRPr>
            </a:pPr>
            <a:r>
              <a:t>Dhristi demonstrates a reviewed browser-agent loop; evaluation determines how far it can go.</a:t>
            </a:r>
          </a:p>
        </p:txBody>
      </p:sp>
      <p:cxnSp>
        <p:nvCxnSpPr>
          <p:cNvPr id="6" name="Connector 5"/>
          <p:cNvCxnSpPr/>
          <p:nvPr/>
        </p:nvCxnSpPr>
        <p:spPr>
          <a:xfrm>
            <a:off x="548640" y="6391656"/>
            <a:ext cx="11064240" cy="0"/>
          </a:xfrm>
          <a:prstGeom prst="line">
            <a:avLst/>
          </a:prstGeom>
          <a:ln w="8890">
            <a:solidFill>
              <a:srgbClr val="29473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528816"/>
            <a:ext cx="9144000" cy="201168"/>
          </a:xfrm>
          <a:prstGeom prst="rect">
            <a:avLst/>
          </a:prstGeom>
          <a:noFill/>
        </p:spPr>
        <p:txBody>
          <a:bodyPr wrap="square" tIns="0" bIns="0" lIns="0" rIns="0">
            <a:spAutoFit/>
          </a:bodyPr>
          <a:lstStyle/>
          <a:p>
            <a:pPr>
              <a:spcAft>
                <a:spcPts val="500"/>
              </a:spcAft>
              <a:defRPr sz="1000" b="0">
                <a:solidFill>
                  <a:srgbClr val="F3F1E7"/>
                </a:solidFill>
                <a:latin typeface="Arial"/>
              </a:defRPr>
            </a:pPr>
            <a:r>
              <a:t>RV UNIVERSITY · ENGINEERING CANDIDATE v0.1 · 11 SEP 2026</a:t>
            </a:r>
          </a:p>
        </p:txBody>
      </p:sp>
      <p:sp>
        <p:nvSpPr>
          <p:cNvPr id="8" name="TextBox 7"/>
          <p:cNvSpPr txBox="1"/>
          <p:nvPr/>
        </p:nvSpPr>
        <p:spPr>
          <a:xfrm>
            <a:off x="10881360" y="6528816"/>
            <a:ext cx="768096" cy="201168"/>
          </a:xfrm>
          <a:prstGeom prst="rect">
            <a:avLst/>
          </a:prstGeom>
          <a:noFill/>
        </p:spPr>
        <p:txBody>
          <a:bodyPr wrap="square" tIns="0" bIns="0" lIns="0" rIns="0">
            <a:spAutoFit/>
          </a:bodyPr>
          <a:lstStyle/>
          <a:p>
            <a:pPr>
              <a:spcAft>
                <a:spcPts val="500"/>
              </a:spcAft>
              <a:defRPr sz="1000" b="0">
                <a:solidFill>
                  <a:srgbClr val="F3F1E7"/>
                </a:solidFill>
                <a:latin typeface="Arial"/>
              </a:defRPr>
            </a:pPr>
            <a:r>
              <a:t>15 / 15</a:t>
            </a:r>
          </a:p>
        </p:txBody>
      </p:sp>
      <p:sp>
        <p:nvSpPr>
          <p:cNvPr id="9" name="Rectangle 8"/>
          <p:cNvSpPr/>
          <p:nvPr/>
        </p:nvSpPr>
        <p:spPr>
          <a:xfrm>
            <a:off x="576072" y="3246120"/>
            <a:ext cx="11036808" cy="1115568"/>
          </a:xfrm>
          <a:prstGeom prst="rect">
            <a:avLst/>
          </a:prstGeom>
          <a:solidFill>
            <a:srgbClr val="D8F3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547872"/>
            <a:ext cx="10552176" cy="621792"/>
          </a:xfrm>
          <a:prstGeom prst="rect">
            <a:avLst/>
          </a:prstGeom>
          <a:noFill/>
        </p:spPr>
        <p:txBody>
          <a:bodyPr wrap="square" tIns="0" bIns="0" lIns="0" rIns="0">
            <a:spAutoFit/>
          </a:bodyPr>
          <a:lstStyle/>
          <a:p>
            <a:pPr>
              <a:spcAft>
                <a:spcPts val="500"/>
              </a:spcAft>
              <a:defRPr sz="3200" b="1">
                <a:solidFill>
                  <a:srgbClr val="15211F"/>
                </a:solidFill>
                <a:latin typeface="Arial"/>
              </a:defRPr>
            </a:pPr>
            <a:r>
              <a:t>Next decision: test the boundary on held-out tasks.</a:t>
            </a:r>
          </a:p>
        </p:txBody>
      </p:sp>
      <p:sp>
        <p:nvSpPr>
          <p:cNvPr id="11" name="TextBox 10"/>
          <p:cNvSpPr txBox="1"/>
          <p:nvPr/>
        </p:nvSpPr>
        <p:spPr>
          <a:xfrm>
            <a:off x="585216" y="4937760"/>
            <a:ext cx="10972800" cy="603504"/>
          </a:xfrm>
          <a:prstGeom prst="rect">
            <a:avLst/>
          </a:prstGeom>
          <a:noFill/>
        </p:spPr>
        <p:txBody>
          <a:bodyPr wrap="square" tIns="0" bIns="0" lIns="0" rIns="0">
            <a:spAutoFit/>
          </a:bodyPr>
          <a:lstStyle/>
          <a:p>
            <a:pPr>
              <a:spcAft>
                <a:spcPts val="500"/>
              </a:spcAft>
              <a:defRPr sz="2700" b="1">
                <a:solidFill>
                  <a:srgbClr val="F3F1E7"/>
                </a:solidFill>
                <a:latin typeface="Arial"/>
              </a:defRPr>
            </a:pPr>
            <a:r>
              <a:t>Inspect the context. Challenge the action. Measure the trade-off.</a:t>
            </a:r>
          </a:p>
        </p:txBody>
      </p:sp>
      <p:sp>
        <p:nvSpPr>
          <p:cNvPr id="12" name="TextBox 11"/>
          <p:cNvSpPr txBox="1"/>
          <p:nvPr/>
        </p:nvSpPr>
        <p:spPr>
          <a:xfrm>
            <a:off x="548640" y="5980176"/>
            <a:ext cx="11064240" cy="256032"/>
          </a:xfrm>
          <a:prstGeom prst="rect">
            <a:avLst/>
          </a:prstGeom>
          <a:noFill/>
        </p:spPr>
        <p:txBody>
          <a:bodyPr wrap="square" tIns="0" bIns="0" lIns="0" rIns="0">
            <a:spAutoFit/>
          </a:bodyPr>
          <a:lstStyle/>
          <a:p>
            <a:pPr>
              <a:spcAft>
                <a:spcPts val="500"/>
              </a:spcAft>
              <a:defRPr sz="1100" b="0">
                <a:solidFill>
                  <a:srgbClr val="F3F1E7"/>
                </a:solidFill>
                <a:latin typeface="Arial"/>
              </a:defRPr>
            </a:pPr>
            <a:r>
              <a:t>Run locally: Prototype/README.md · Evidence: Benchmarks/results/ · Source ledger: Wiki/source-index.md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Dhristi | SIH26171 | 15-slide technical pitch</dc:title>
  <dc:subject>Implemented candidate with measured integration evidence and explicit limits</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