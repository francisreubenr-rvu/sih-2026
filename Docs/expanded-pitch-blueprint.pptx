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 NOT SUBMISSION READY</a:t>
            </a:r>
          </a:p>
          <a:p>
            <a:r>
              <a:t>Planned slot: 25 seconds. Timing is an allocation, not a measured rehearsal.</a:t>
            </a:r>
          </a:p>
          <a:p/>
          <a:p>
            <a:r>
              <a:t>This file is an expanded preparation blueprint, not a completed competition pitch. The supplied identifier is SIH2171. Its official problem title, theme, category and edition have not been verified. The team facts come from Francis’s brief. Before presenting this as a solution, replace these open fields with the exact organizer-issued statement and registered team details. The separate submission deck must follow the supplied six-slide format.</a:t>
            </a:r>
          </a:p>
          <a:p/>
          <a:p>
            <a:r>
              <a:t>Sources / provenance:</a:t>
            </a:r>
          </a:p>
          <a:p>
            <a:r>
              <a:t>User brief; Docs/team-plan.md; supplied SIH2025-IDEA-Presentation-Format (2).pptx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 NOT SUBMISSION READY</a:t>
            </a:r>
          </a:p>
          <a:p>
            <a:r>
              <a:t>Planned slot: 40 seconds. Timing is an allocation, not a measured rehearsal.</a:t>
            </a:r>
          </a:p>
          <a:p/>
          <a:p>
            <a:r>
              <a:t>Open the eventual pitch with one burden that matters to a defined user. Name the population, location and timeframe; explain the denominator behind any percentage. Use a primary source or a documented observation, and place its citation on the slide. Do not borrow a national statistic as proof of a local pain point without showing the connection. Today those domain fields are intentionally empty. The completion task is to verify the problem and establish a baseline, not to invent a compelling number. Once populated, state what changes for the user if the bottleneck is removed.</a:t>
            </a:r>
          </a:p>
          <a:p/>
          <a:p>
            <a:r>
              <a:t>Provenance: authored planning framework; no measured outcome claimed.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 NOT SUBMISSION READY</a:t>
            </a:r>
          </a:p>
          <a:p>
            <a:r>
              <a:t>Planned slot: 40 seconds. Timing is an allocation, not a measured rehearsal.</a:t>
            </a:r>
          </a:p>
          <a:p/>
          <a:p>
            <a:r>
              <a:t>Use a single representative task from the verified domain. Walk from the initial need through the current action to the exact failure and its consequence. The four boxes are a research scaffold, not a discovered user journey. Support each material step with an interview record, operational source or observed task once available. Explain why the bottleneck matters rather than describing every screen. This slide should make the next design choice feel necessary. If the team cannot state where the workflow fails, return to the evidence before adding functionality.</a:t>
            </a:r>
          </a:p>
          <a:p/>
          <a:p>
            <a:r>
              <a:t>Provenance: authored planning framework; no measured outcome claimed.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 NOT SUBMISSION READY</a:t>
            </a:r>
          </a:p>
          <a:p>
            <a:r>
              <a:t>Planned slot: 45 seconds. Timing is an allocation, not a measured rehearsal.</a:t>
            </a:r>
          </a:p>
          <a:p/>
          <a:p>
            <a:r>
              <a:t>Select actual competing approaches only after the domain is known. Include the incumbent manual workflow when it is a realistic alternative. Compare a small number of material dimensions: completion of the primary task, operating conditions, failure behavior and cost, for example. Verify claims in first-party documentation or by reproducible tests. Do not mark a competitor as lacking a feature because its website is silent. Unknown stays unknown. The future differentiation sentence must identify a demonstrated improvement and the conditions under which it holds. At this stage no competitor or novelty claim is established.</a:t>
            </a:r>
          </a:p>
          <a:p/>
          <a:p>
            <a:r>
              <a:t>Provenance: authored planning framework; no measured outcome claimed.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 NOT SUBMISSION READY</a:t>
            </a:r>
          </a:p>
          <a:p>
            <a:r>
              <a:t>Planned slot: 40 seconds. Timing is an allocation, not a measured rehearsal.</a:t>
            </a:r>
          </a:p>
          <a:p/>
          <a:p>
            <a:r>
              <a:t>Use this sentence to constrain the eventual prototype. Identify a verified user, the outcome they need and the implemented mechanism that produces it. Name a success condition that can be tested end to end. Add a boundary so judges understand the limits of the claim and the team has a defensible scope. The bracketed fields are deliberate evidence slots. They do not describe a chosen domain or working product. Once identity is resolved, replace the sentence with concrete nouns and verbs, then remove any feature that does not contribute to that primary outcome.</a:t>
            </a:r>
          </a:p>
          <a:p/>
          <a:p>
            <a:r>
              <a:t>Provenance: authored planning framework; no measured outcome claimed.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 NOT SUBMISSION READY</a:t>
            </a:r>
          </a:p>
          <a:p>
            <a:r>
              <a:t>Planned slot: 55 seconds. Timing is an allocation, not a measured rehearsal.</a:t>
            </a:r>
          </a:p>
          <a:p/>
          <a:p>
            <a:r>
              <a:t>This diagram is a generic planning model, not the architecture of a completed SIH2171 prototype. When the domain is verified, choose the simplest stack that meets the real data, security and deployment constraints. Trace one input through validation, core processing, required persistence and an explainable result. Identify trust boundaries, external services and any simulated component. Explain the hardest implemented mechanism in plain language and make its correctness test visible. If persistence is unnecessary, remove that box. If the problem requires hardware, regulated data or offline operation, redesign the path rather than forcing it into this diagram.</a:t>
            </a:r>
          </a:p>
          <a:p/>
          <a:p>
            <a:r>
              <a:t>Provenance: authored planning framework; no measured outcome claimed.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 NOT SUBMISSION READY</a:t>
            </a:r>
          </a:p>
          <a:p>
            <a:r>
              <a:t>Planned slot: 90 seconds. Timing is an allocation, not a measured rehearsal.</a:t>
            </a:r>
          </a:p>
          <a:p/>
          <a:p>
            <a:r>
              <a:t>Reserve this slot for a working demonstration, not a description of future screens. Before rehearsal, prepare deterministic seed data and record the build version. Begin at the known start state, perform the core action and verify the result independently where possible. Explain what the user sees and why the output matters. Keep the narration synchronized with the visible application. This blueprint currently contains no prototype capture and must not be presented as if it does. After implementation, replace the slot with the live flow or an explicitly labeled recording of the same tested build. Allow roughly forty seconds of this slot for the operator to perform the task.</a:t>
            </a:r>
          </a:p>
          <a:p/>
          <a:p>
            <a:r>
              <a:t>Provenance: authored planning framework; no measured outcome claimed.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 NOT SUBMISSION READY</a:t>
            </a:r>
          </a:p>
          <a:p>
            <a:r>
              <a:t>Planned slot: 45 seconds. Timing is an allocation, not a measured rehearsal.</a:t>
            </a:r>
          </a:p>
          <a:p/>
          <a:p>
            <a:r>
              <a:t>A happy path alone cannot demonstrate reliability. Choose one invalid input and one unavailable dependency that can be exercised safely. Check that errors identify the problem, preserve useful input and offer a meaningful next step. On retry, verify that the system does not create duplicate state. All of these are planned checks, not passing results. For the presentation itself, keep a local recording of the tested build and a static storyboard, then test playback without internet. State which fallback is being used. A recording proves a prior run of that build; it does not prove live uptime or a real external integration.</a:t>
            </a:r>
          </a:p>
          <a:p/>
          <a:p>
            <a:r>
              <a:t>Provenance: authored planning framework; no measured outcome claimed.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 NOT SUBMISSION READY</a:t>
            </a:r>
          </a:p>
          <a:p>
            <a:r>
              <a:t>Planned slot: 50 seconds. Timing is an allocation, not a measured rehearsal.</a:t>
            </a:r>
          </a:p>
          <a:p/>
          <a:p>
            <a:r>
              <a:t>Separate acceptance thresholds from observations. The brief requests sub-two-hundred-millisecond core flows, Lighthouse scores above ninety in every category and WCAG 2.1 AA accessibility. These are targets. This slide does not claim that a domain product has passed them. The separate preparation site has local Lighthouse results in Docs/verification.md; those do not establish solution performance. Replace each open status with the actual report, environment, sample size and test scope after validation. Lighthouse accessibility is not a complete conformance assessment. Include manual keyboard and screen-reader review as appropriate. Judge persuasion probability cannot be estimated from the current research; a checklist score must not be relabeled as a chance of winning. Report failures and fixes as part of the engineering evidence.</a:t>
            </a:r>
          </a:p>
          <a:p/>
          <a:p>
            <a:r>
              <a:t>Sources / provenance:</a:t>
            </a:r>
          </a:p>
          <a:p>
            <a:r>
              <a:t>User-requested budgets; Guardrails/; Benchmarks/; Wiki/pitch-strategy.md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 NOT SUBMISSION READY</a:t>
            </a:r>
          </a:p>
          <a:p>
            <a:r>
              <a:t>Planned slot: 45 seconds. Timing is an allocation, not a measured rehearsal.</a:t>
            </a:r>
          </a:p>
          <a:p/>
          <a:p>
            <a:r>
              <a:t>Explain how another team member can start, reset and recover the application from the README. Keep credentials outside version control and restrict access to the minimum required privileges. The final security scope depends on the actual domain and data classification, which are not yet known. A working localhost demonstration is not proof of production readiness. Capacity claims need load conditions, observed behavior and a stated limit. Cost estimates need a dated tariff source, a workload assumption and a support owner. Favor reversible choices and avoid services that add operational work without improving the primary task.</a:t>
            </a:r>
          </a:p>
          <a:p/>
          <a:p>
            <a:r>
              <a:t>Provenance: authored planning framework; no measured outcome claimed.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 NOT SUBMISSION READY</a:t>
            </a:r>
          </a:p>
          <a:p>
            <a:r>
              <a:t>Planned slot: 45 seconds. Timing is an allocation, not a measured rehearsal.</a:t>
            </a:r>
          </a:p>
          <a:p/>
          <a:p>
            <a:r>
              <a:t>These names and the university affiliation were supplied in the brief. The responsibilities are proposed ownership, not claims about existing skills or consented commitments. Francis integrates the work and technical explanation; Gopreet owns the API and persistence; Hiranmayi owns UX and accessibility; Varun owns the domain mechanism; Koushaik owns reliability evidence; and Niharika owns research and narrative. Each role should be backed by a real artifact before rehearsal. The internal target is eleven September, with the actual institutional cutoff time still unknown. Verification remains the first dependency. If it arrives late, remove optional features before cutting correctness or evidence.</a:t>
            </a:r>
          </a:p>
          <a:p/>
          <a:p>
            <a:r>
              <a:t>Sources / provenance:</a:t>
            </a:r>
          </a:p>
          <a:p>
            <a:r>
              <a:t>Docs/team-plan.md; user brief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 NOT SUBMISSION READY</a:t>
            </a:r>
          </a:p>
          <a:p>
            <a:r>
              <a:t>Planned slot: 45 seconds. Timing is an allocation, not a measured rehearsal.</a:t>
            </a:r>
          </a:p>
          <a:p/>
          <a:p>
            <a:r>
              <a:t>Once the domain is verified, choose an outcome that corresponds to the stated pain: time spent, task success, cost or another defensible measure. Define the baseline before the intervention, keep the task and population comparable and report the observation period. The subtraction shown here is a template for an outcome where lower is better; reverse or replace it when the domain requires a different metric. Do not treat account registrations as demonstrated benefit. Report uncertainty, accessibility differences and unintended consequences. No pilot population, observed improvement or social-impact percentage is available at this stage.</a:t>
            </a:r>
          </a:p>
          <a:p/>
          <a:p>
            <a:r>
              <a:t>Provenance: authored planning framework; no measured outcome claimed.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 NOT SUBMISSION READY</a:t>
            </a:r>
          </a:p>
          <a:p>
            <a:r>
              <a:t>Planned slot: 40 seconds. Timing is an allocation, not a measured rehearsal.</a:t>
            </a:r>
          </a:p>
          <a:p/>
          <a:p>
            <a:r>
              <a:t>A sustainable proposal describes who will operate the solution after the hackathon and why they would adopt it. Identify a potential organization through evidence; do not invent a partnership or letter of support. Estimate operating cost per relevant task, including support and necessary external services. State whether funding would come from procurement, a subscription, a grant or another route only when the domain supports that model. Before a pilot begins, define a threshold for success and a rule for revising or stopping it. These are unfilled design tasks today, not a business case that has been validated.</a:t>
            </a:r>
          </a:p>
          <a:p/>
          <a:p>
            <a:r>
              <a:t>Provenance: authored planning framework; no measured outcome claimed.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 NOT SUBMISSION READY</a:t>
            </a:r>
          </a:p>
          <a:p>
            <a:r>
              <a:t>Planned slot: 50 seconds. Timing is an allocation, not a measured rehearsal.</a:t>
            </a:r>
          </a:p>
          <a:p/>
          <a:p>
            <a:r>
              <a:t>The competition research uses an official historical guideline, institutional award reports, sponsor records and labeled participant anecdotes. It is a purposive sample, not a census of winners. The official SIH PDF was indexed but direct retrieval returned a forbidden response, so current-year applicability remains unverified. The MathWorks winner interview provides an attributed account of prototype and presentation work; it does not establish that those practices caused winning. Technical literature, comparator documentation and problem-domain statistics still depend on the missing statement identity. Keep the Raw register with attribution and access limitations. Update this slide with the actual domain sources before any solution pitch.</a:t>
            </a:r>
          </a:p>
          <a:p/>
          <a:p>
            <a:r>
              <a:t>Sources / provenance:</a:t>
            </a:r>
          </a:p>
          <a:p>
            <a:r>
              <a:t>https://sih.gov.in/letters/Guidelines-College-SPOC.pdf</a:t>
            </a:r>
          </a:p>
          <a:p>
            <a:r>
              <a:t>https://blogs.mathworks.com/student-lounge/2025/06/13/innovation-meets-excellence-solar-masters-winning-journey-at-smart-india-hackathon-2024/</a:t>
            </a:r>
          </a:p>
          <a:p>
            <a:r>
              <a:t>https://www.mathworks.com/academia/students/competitions/hackathons/winners.html</a:t>
            </a:r>
          </a:p>
          <a:p>
            <a:r>
              <a:t>Raw/competition-sources.json; Wiki/competition-intelligence.md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 NOT SUBMISSION READY</a:t>
            </a:r>
          </a:p>
          <a:p>
            <a:r>
              <a:t>Planned slot: 45 seconds. Timing is an allocation, not a measured rehearsal.</a:t>
            </a:r>
          </a:p>
          <a:p/>
          <a:p>
            <a:r>
              <a:t>The eventual closing should ask for one concrete next decision, such as a bounded pilot evaluated against transparent measures. That ask must follow demonstrated functionality and a verified problem. Today the actionable next step is to resolve SIH2171’s identity, implement the core task and collect real validation. Do not remove the not-submission-ready label until the unresolved fields are replaced and the artifacts are checked. Keep the expanded presentation separate from the supplied six-slide submission format. The planned slots total eleven minutes and forty seconds, with twenty seconds allowed for transitions; this has not been rehearsed.</a:t>
            </a:r>
          </a:p>
          <a:p/>
          <a:p>
            <a:r>
              <a:t>Provenance: authored planning framework; no measured outcome claimed.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11F"/>
        </a:solidFill>
        <a:effectLst/>
      </p:bgPr>
    </p:bg>
    <p:spTree>
      <p:nvGrpSpPr>
        <p:cNvPr id="1" name=""/>
        <p:cNvGrpSpPr/>
        <p:nvPr/>
      </p:nvGrpSpPr>
      <p:grpSpPr/>
      <p:sp>
        <p:nvSpPr>
          <p:cNvPr id="2" name="TextBox 1"/>
          <p:cNvSpPr txBox="1"/>
          <p:nvPr/>
        </p:nvSpPr>
        <p:spPr>
          <a:xfrm>
            <a:off x="502920" y="292608"/>
            <a:ext cx="7315200" cy="237744"/>
          </a:xfrm>
          <a:prstGeom prst="rect">
            <a:avLst/>
          </a:prstGeom>
          <a:noFill/>
        </p:spPr>
        <p:txBody>
          <a:bodyPr wrap="square" lIns="0" rIns="0" tIns="0" bIns="0">
            <a:spAutoFit/>
          </a:bodyPr>
          <a:lstStyle/>
          <a:p>
            <a:pPr>
              <a:spcAft>
                <a:spcPts val="500"/>
              </a:spcAft>
              <a:defRPr sz="1100" b="1">
                <a:solidFill>
                  <a:srgbClr val="D8F36A"/>
                </a:solidFill>
                <a:latin typeface="Arial"/>
              </a:defRPr>
            </a:pPr>
            <a:r>
              <a:t>TITLE PAGE</a:t>
            </a:r>
          </a:p>
        </p:txBody>
      </p:sp>
      <p:sp>
        <p:nvSpPr>
          <p:cNvPr id="3" name="Rectangle 2"/>
          <p:cNvSpPr/>
          <p:nvPr/>
        </p:nvSpPr>
        <p:spPr>
          <a:xfrm>
            <a:off x="8668512" y="210312"/>
            <a:ext cx="3017520" cy="39319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23960" y="292608"/>
            <a:ext cx="2743200" cy="201168"/>
          </a:xfrm>
          <a:prstGeom prst="rect">
            <a:avLst/>
          </a:prstGeom>
          <a:noFill/>
        </p:spPr>
        <p:txBody>
          <a:bodyPr wrap="square" lIns="0" rIns="0" tIns="0" bIns="0">
            <a:spAutoFit/>
          </a:bodyPr>
          <a:lstStyle/>
          <a:p>
            <a:pPr>
              <a:spcAft>
                <a:spcPts val="500"/>
              </a:spcAft>
              <a:defRPr sz="1200" b="1">
                <a:solidFill>
                  <a:srgbClr val="15211F"/>
                </a:solidFill>
                <a:latin typeface="Arial"/>
              </a:defRPr>
            </a:pPr>
            <a:r>
              <a:t>NOT SUBMISSION READY</a:t>
            </a:r>
          </a:p>
        </p:txBody>
      </p:sp>
      <p:sp>
        <p:nvSpPr>
          <p:cNvPr id="5" name="TextBox 4"/>
          <p:cNvSpPr txBox="1"/>
          <p:nvPr/>
        </p:nvSpPr>
        <p:spPr>
          <a:xfrm>
            <a:off x="502920" y="859536"/>
            <a:ext cx="11064240" cy="1325880"/>
          </a:xfrm>
          <a:prstGeom prst="rect">
            <a:avLst/>
          </a:prstGeom>
          <a:noFill/>
        </p:spPr>
        <p:txBody>
          <a:bodyPr wrap="square" lIns="0" rIns="0" tIns="0" bIns="0">
            <a:spAutoFit/>
          </a:bodyPr>
          <a:lstStyle/>
          <a:p>
            <a:pPr>
              <a:spcAft>
                <a:spcPts val="500"/>
              </a:spcAft>
              <a:defRPr sz="3600" b="1">
                <a:solidFill>
                  <a:srgbClr val="F3F1E7"/>
                </a:solidFill>
                <a:latin typeface="Arial"/>
              </a:defRPr>
            </a:pPr>
            <a:r>
              <a:t>An entry begins with</a:t>
            </a:r>
          </a:p>
          <a:p>
            <a:pPr>
              <a:spcAft>
                <a:spcPts val="500"/>
              </a:spcAft>
              <a:defRPr sz="3600" b="1">
                <a:solidFill>
                  <a:srgbClr val="F3F1E7"/>
                </a:solidFill>
                <a:latin typeface="Arial"/>
              </a:defRPr>
            </a:pPr>
            <a:r>
              <a:t>a verified problem.</a:t>
            </a:r>
          </a:p>
        </p:txBody>
      </p:sp>
      <p:sp>
        <p:nvSpPr>
          <p:cNvPr id="6" name="TextBox 5"/>
          <p:cNvSpPr txBox="1"/>
          <p:nvPr/>
        </p:nvSpPr>
        <p:spPr>
          <a:xfrm>
            <a:off x="530352" y="2267712"/>
            <a:ext cx="11064240" cy="548640"/>
          </a:xfrm>
          <a:prstGeom prst="rect">
            <a:avLst/>
          </a:prstGeom>
          <a:noFill/>
        </p:spPr>
        <p:txBody>
          <a:bodyPr wrap="square" lIns="0" rIns="0" tIns="0" bIns="0">
            <a:spAutoFit/>
          </a:bodyPr>
          <a:lstStyle/>
          <a:p>
            <a:pPr>
              <a:spcAft>
                <a:spcPts val="500"/>
              </a:spcAft>
              <a:defRPr sz="1800" b="0">
                <a:solidFill>
                  <a:srgbClr val="F3F1E7"/>
                </a:solidFill>
                <a:latin typeface="Arial"/>
              </a:defRPr>
            </a:pPr>
            <a:r>
              <a:t>SIH 2026 preparation · RV University · Six-person second-year B.Tech CSE team</a:t>
            </a:r>
          </a:p>
        </p:txBody>
      </p:sp>
      <p:cxnSp>
        <p:nvCxnSpPr>
          <p:cNvPr id="7" name="Connector 6"/>
          <p:cNvCxnSpPr/>
          <p:nvPr/>
        </p:nvCxnSpPr>
        <p:spPr>
          <a:xfrm>
            <a:off x="502920" y="6364224"/>
            <a:ext cx="11183112" cy="0"/>
          </a:xfrm>
          <a:prstGeom prst="line">
            <a:avLst/>
          </a:prstGeom>
          <a:ln w="8890">
            <a:solidFill>
              <a:srgbClr val="29473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10528"/>
            <a:ext cx="9144000" cy="182880"/>
          </a:xfrm>
          <a:prstGeom prst="rect">
            <a:avLst/>
          </a:prstGeom>
          <a:noFill/>
        </p:spPr>
        <p:txBody>
          <a:bodyPr wrap="square" lIns="0" rIns="0" tIns="0" bIns="0">
            <a:spAutoFit/>
          </a:bodyPr>
          <a:lstStyle/>
          <a:p>
            <a:pPr>
              <a:spcAft>
                <a:spcPts val="500"/>
              </a:spcAft>
              <a:defRPr sz="1000" b="0">
                <a:solidFill>
                  <a:srgbClr val="F3F1E7"/>
                </a:solidFill>
                <a:latin typeface="Arial"/>
              </a:defRPr>
            </a:pPr>
            <a:r>
              <a:t>SIH2171 · IDENTITY UNVERIFIED  /  EXPANDED BLUEPRINT</a:t>
            </a:r>
          </a:p>
        </p:txBody>
      </p:sp>
      <p:sp>
        <p:nvSpPr>
          <p:cNvPr id="9" name="TextBox 8"/>
          <p:cNvSpPr txBox="1"/>
          <p:nvPr/>
        </p:nvSpPr>
        <p:spPr>
          <a:xfrm>
            <a:off x="10881360" y="6510528"/>
            <a:ext cx="822960" cy="182880"/>
          </a:xfrm>
          <a:prstGeom prst="rect">
            <a:avLst/>
          </a:prstGeom>
          <a:noFill/>
        </p:spPr>
        <p:txBody>
          <a:bodyPr wrap="square" lIns="0" rIns="0" tIns="0" bIns="0">
            <a:spAutoFit/>
          </a:bodyPr>
          <a:lstStyle/>
          <a:p>
            <a:pPr>
              <a:spcAft>
                <a:spcPts val="500"/>
              </a:spcAft>
              <a:defRPr sz="1000" b="0">
                <a:solidFill>
                  <a:srgbClr val="F3F1E7"/>
                </a:solidFill>
                <a:latin typeface="Arial"/>
              </a:defRPr>
            </a:pPr>
            <a:r>
              <a:t>01 / 15</a:t>
            </a:r>
          </a:p>
        </p:txBody>
      </p:sp>
      <p:sp>
        <p:nvSpPr>
          <p:cNvPr id="10" name="Rectangle 9"/>
          <p:cNvSpPr/>
          <p:nvPr/>
        </p:nvSpPr>
        <p:spPr>
          <a:xfrm>
            <a:off x="530352" y="2971800"/>
            <a:ext cx="6903720" cy="2468880"/>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182112"/>
            <a:ext cx="6400800" cy="731520"/>
          </a:xfrm>
          <a:prstGeom prst="rect">
            <a:avLst/>
          </a:prstGeom>
          <a:noFill/>
        </p:spPr>
        <p:txBody>
          <a:bodyPr wrap="square" lIns="0" rIns="0" tIns="0" bIns="0">
            <a:spAutoFit/>
          </a:bodyPr>
          <a:lstStyle/>
          <a:p>
            <a:pPr>
              <a:spcAft>
                <a:spcPts val="500"/>
              </a:spcAft>
              <a:defRPr sz="5600" b="1">
                <a:solidFill>
                  <a:srgbClr val="15211F"/>
                </a:solidFill>
                <a:latin typeface="Arial"/>
              </a:defRPr>
            </a:pPr>
            <a:r>
              <a:t>SIH2171</a:t>
            </a:r>
          </a:p>
        </p:txBody>
      </p:sp>
      <p:sp>
        <p:nvSpPr>
          <p:cNvPr id="12" name="TextBox 11"/>
          <p:cNvSpPr txBox="1"/>
          <p:nvPr/>
        </p:nvSpPr>
        <p:spPr>
          <a:xfrm>
            <a:off x="795528" y="4178808"/>
            <a:ext cx="6126480" cy="914400"/>
          </a:xfrm>
          <a:prstGeom prst="rect">
            <a:avLst/>
          </a:prstGeom>
          <a:noFill/>
        </p:spPr>
        <p:txBody>
          <a:bodyPr wrap="square" lIns="0" rIns="0" tIns="0" bIns="0">
            <a:spAutoFit/>
          </a:bodyPr>
          <a:lstStyle/>
          <a:p>
            <a:pPr>
              <a:spcAft>
                <a:spcPts val="500"/>
              </a:spcAft>
              <a:defRPr sz="2300" b="0">
                <a:solidFill>
                  <a:srgbClr val="15211F"/>
                </a:solidFill>
                <a:latin typeface="Arial"/>
              </a:defRPr>
            </a:pPr>
            <a:r>
              <a:t>Requested ID. Official title, theme and category remain unverified.</a:t>
            </a:r>
          </a:p>
        </p:txBody>
      </p:sp>
      <p:sp>
        <p:nvSpPr>
          <p:cNvPr id="13" name="TextBox 12"/>
          <p:cNvSpPr txBox="1"/>
          <p:nvPr/>
        </p:nvSpPr>
        <p:spPr>
          <a:xfrm>
            <a:off x="7973568" y="3182112"/>
            <a:ext cx="3474720" cy="457200"/>
          </a:xfrm>
          <a:prstGeom prst="rect">
            <a:avLst/>
          </a:prstGeom>
          <a:noFill/>
        </p:spPr>
        <p:txBody>
          <a:bodyPr wrap="square" lIns="0" rIns="0" tIns="0" bIns="0">
            <a:spAutoFit/>
          </a:bodyPr>
          <a:lstStyle/>
          <a:p>
            <a:pPr>
              <a:spcAft>
                <a:spcPts val="500"/>
              </a:spcAft>
              <a:defRPr sz="2200" b="1">
                <a:solidFill>
                  <a:srgbClr val="F3F1E7"/>
                </a:solidFill>
                <a:latin typeface="Arial"/>
              </a:defRPr>
            </a:pPr>
            <a:r>
              <a:t>Before this becomes a pitch</a:t>
            </a:r>
          </a:p>
        </p:txBody>
      </p:sp>
      <p:sp>
        <p:nvSpPr>
          <p:cNvPr id="14" name="TextBox 13"/>
          <p:cNvSpPr txBox="1"/>
          <p:nvPr/>
        </p:nvSpPr>
        <p:spPr>
          <a:xfrm>
            <a:off x="7973568" y="3886200"/>
            <a:ext cx="3474720" cy="1508760"/>
          </a:xfrm>
          <a:prstGeom prst="rect">
            <a:avLst/>
          </a:prstGeom>
          <a:noFill/>
        </p:spPr>
        <p:txBody>
          <a:bodyPr wrap="square" lIns="0" rIns="0" tIns="0" bIns="0">
            <a:spAutoFit/>
          </a:bodyPr>
          <a:lstStyle/>
          <a:p>
            <a:pPr>
              <a:spcAft>
                <a:spcPts val="500"/>
              </a:spcAft>
              <a:defRPr sz="2100" b="0">
                <a:solidFill>
                  <a:srgbClr val="F3F1E7"/>
                </a:solidFill>
                <a:latin typeface="Arial"/>
              </a:defRPr>
            </a:pPr>
            <a:r>
              <a:t>Confirm statement identity</a:t>
            </a:r>
          </a:p>
          <a:p>
            <a:pPr>
              <a:spcAft>
                <a:spcPts val="500"/>
              </a:spcAft>
              <a:defRPr sz="2100" b="0">
                <a:solidFill>
                  <a:srgbClr val="F3F1E7"/>
                </a:solidFill>
                <a:latin typeface="Arial"/>
              </a:defRPr>
            </a:pPr>
            <a:r>
              <a:t>Confirm registered team details</a:t>
            </a:r>
          </a:p>
          <a:p>
            <a:pPr>
              <a:spcAft>
                <a:spcPts val="500"/>
              </a:spcAft>
              <a:defRPr sz="2100" b="0">
                <a:solidFill>
                  <a:srgbClr val="F3F1E7"/>
                </a:solidFill>
                <a:latin typeface="Arial"/>
              </a:defRPr>
            </a:pPr>
            <a:r>
              <a:t>Replace evidence slots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02920" y="292608"/>
            <a:ext cx="7315200" cy="237744"/>
          </a:xfrm>
          <a:prstGeom prst="rect">
            <a:avLst/>
          </a:prstGeom>
          <a:noFill/>
        </p:spPr>
        <p:txBody>
          <a:bodyPr wrap="square" lIns="0" rIns="0" tIns="0" bIns="0">
            <a:spAutoFit/>
          </a:bodyPr>
          <a:lstStyle/>
          <a:p>
            <a:pPr>
              <a:spcAft>
                <a:spcPts val="500"/>
              </a:spcAft>
              <a:defRPr sz="1100" b="1">
                <a:solidFill>
                  <a:srgbClr val="29473F"/>
                </a:solidFill>
                <a:latin typeface="Arial"/>
              </a:defRPr>
            </a:pPr>
            <a:r>
              <a:t>IDEA TITLE</a:t>
            </a:r>
          </a:p>
        </p:txBody>
      </p:sp>
      <p:sp>
        <p:nvSpPr>
          <p:cNvPr id="3" name="Rectangle 2"/>
          <p:cNvSpPr/>
          <p:nvPr/>
        </p:nvSpPr>
        <p:spPr>
          <a:xfrm>
            <a:off x="8668512" y="210312"/>
            <a:ext cx="3017520" cy="39319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23960" y="292608"/>
            <a:ext cx="2743200" cy="201168"/>
          </a:xfrm>
          <a:prstGeom prst="rect">
            <a:avLst/>
          </a:prstGeom>
          <a:noFill/>
        </p:spPr>
        <p:txBody>
          <a:bodyPr wrap="square" lIns="0" rIns="0" tIns="0" bIns="0">
            <a:spAutoFit/>
          </a:bodyPr>
          <a:lstStyle/>
          <a:p>
            <a:pPr>
              <a:spcAft>
                <a:spcPts val="500"/>
              </a:spcAft>
              <a:defRPr sz="1200" b="1">
                <a:solidFill>
                  <a:srgbClr val="15211F"/>
                </a:solidFill>
                <a:latin typeface="Arial"/>
              </a:defRPr>
            </a:pPr>
            <a:r>
              <a:t>NOT SUBMISSION READY</a:t>
            </a:r>
          </a:p>
        </p:txBody>
      </p:sp>
      <p:sp>
        <p:nvSpPr>
          <p:cNvPr id="5" name="TextBox 4"/>
          <p:cNvSpPr txBox="1"/>
          <p:nvPr/>
        </p:nvSpPr>
        <p:spPr>
          <a:xfrm>
            <a:off x="502920" y="859536"/>
            <a:ext cx="11064240" cy="1024128"/>
          </a:xfrm>
          <a:prstGeom prst="rect">
            <a:avLst/>
          </a:prstGeom>
          <a:noFill/>
        </p:spPr>
        <p:txBody>
          <a:bodyPr wrap="square" lIns="0" rIns="0" tIns="0" bIns="0">
            <a:spAutoFit/>
          </a:bodyPr>
          <a:lstStyle/>
          <a:p>
            <a:pPr>
              <a:spcAft>
                <a:spcPts val="500"/>
              </a:spcAft>
              <a:defRPr sz="3900" b="1">
                <a:solidFill>
                  <a:srgbClr val="15211F"/>
                </a:solidFill>
                <a:latin typeface="Arial"/>
              </a:defRPr>
            </a:pPr>
            <a:r>
              <a:t>Make the problem measurable.</a:t>
            </a:r>
          </a:p>
        </p:txBody>
      </p:sp>
      <p:sp>
        <p:nvSpPr>
          <p:cNvPr id="6" name="TextBox 5"/>
          <p:cNvSpPr txBox="1"/>
          <p:nvPr/>
        </p:nvSpPr>
        <p:spPr>
          <a:xfrm>
            <a:off x="530352" y="1901952"/>
            <a:ext cx="11064240" cy="548640"/>
          </a:xfrm>
          <a:prstGeom prst="rect">
            <a:avLst/>
          </a:prstGeom>
          <a:noFill/>
        </p:spPr>
        <p:txBody>
          <a:bodyPr wrap="square" lIns="0" rIns="0" tIns="0" bIns="0">
            <a:spAutoFit/>
          </a:bodyPr>
          <a:lstStyle/>
          <a:p>
            <a:pPr>
              <a:spcAft>
                <a:spcPts val="500"/>
              </a:spcAft>
              <a:defRPr sz="1800" b="0">
                <a:solidFill>
                  <a:srgbClr val="52645C"/>
                </a:solidFill>
                <a:latin typeface="Arial"/>
              </a:defRPr>
            </a:pPr>
            <a:r>
              <a:t>A population, a burden and a baseline — all three need sources.</a:t>
            </a:r>
          </a:p>
        </p:txBody>
      </p:sp>
      <p:cxnSp>
        <p:nvCxnSpPr>
          <p:cNvPr id="7" name="Connector 6"/>
          <p:cNvCxnSpPr/>
          <p:nvPr/>
        </p:nvCxnSpPr>
        <p:spPr>
          <a:xfrm>
            <a:off x="502920" y="6364224"/>
            <a:ext cx="11183112"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10528"/>
            <a:ext cx="914400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SIH2171 · IDENTITY UNVERIFIED  /  EXPANDED BLUEPRINT</a:t>
            </a:r>
          </a:p>
        </p:txBody>
      </p:sp>
      <p:sp>
        <p:nvSpPr>
          <p:cNvPr id="9" name="TextBox 8"/>
          <p:cNvSpPr txBox="1"/>
          <p:nvPr/>
        </p:nvSpPr>
        <p:spPr>
          <a:xfrm>
            <a:off x="10881360" y="6510528"/>
            <a:ext cx="82296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02 / 15</a:t>
            </a:r>
          </a:p>
        </p:txBody>
      </p:sp>
      <p:sp>
        <p:nvSpPr>
          <p:cNvPr id="10" name="Rectangle 9"/>
          <p:cNvSpPr/>
          <p:nvPr/>
        </p:nvSpPr>
        <p:spPr>
          <a:xfrm>
            <a:off x="530352" y="2798064"/>
            <a:ext cx="3520440" cy="2670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19" y="2962656"/>
            <a:ext cx="3118104" cy="256032"/>
          </a:xfrm>
          <a:prstGeom prst="rect">
            <a:avLst/>
          </a:prstGeom>
          <a:noFill/>
        </p:spPr>
        <p:txBody>
          <a:bodyPr wrap="square" lIns="0" rIns="0" tIns="0" bIns="0">
            <a:spAutoFit/>
          </a:bodyPr>
          <a:lstStyle/>
          <a:p>
            <a:pPr>
              <a:spcAft>
                <a:spcPts val="500"/>
              </a:spcAft>
              <a:defRPr sz="1100" b="1">
                <a:solidFill>
                  <a:srgbClr val="70420B"/>
                </a:solidFill>
                <a:latin typeface="Arial"/>
              </a:defRPr>
            </a:pPr>
            <a:r>
              <a:t>EVIDENCE SLOT</a:t>
            </a:r>
          </a:p>
        </p:txBody>
      </p:sp>
      <p:sp>
        <p:nvSpPr>
          <p:cNvPr id="12" name="TextBox 11"/>
          <p:cNvSpPr txBox="1"/>
          <p:nvPr/>
        </p:nvSpPr>
        <p:spPr>
          <a:xfrm>
            <a:off x="731519" y="3401568"/>
            <a:ext cx="3118104" cy="594360"/>
          </a:xfrm>
          <a:prstGeom prst="rect">
            <a:avLst/>
          </a:prstGeom>
          <a:noFill/>
        </p:spPr>
        <p:txBody>
          <a:bodyPr wrap="square" lIns="0" rIns="0" tIns="0" bIns="0">
            <a:spAutoFit/>
          </a:bodyPr>
          <a:lstStyle/>
          <a:p>
            <a:pPr>
              <a:spcAft>
                <a:spcPts val="500"/>
              </a:spcAft>
              <a:defRPr sz="2400" b="1">
                <a:solidFill>
                  <a:srgbClr val="15211F"/>
                </a:solidFill>
                <a:latin typeface="Arial"/>
              </a:defRPr>
            </a:pPr>
            <a:r>
              <a:t>WHO</a:t>
            </a:r>
          </a:p>
        </p:txBody>
      </p:sp>
      <p:sp>
        <p:nvSpPr>
          <p:cNvPr id="13" name="TextBox 12"/>
          <p:cNvSpPr txBox="1"/>
          <p:nvPr/>
        </p:nvSpPr>
        <p:spPr>
          <a:xfrm>
            <a:off x="731519" y="4151376"/>
            <a:ext cx="3118104" cy="1207007"/>
          </a:xfrm>
          <a:prstGeom prst="rect">
            <a:avLst/>
          </a:prstGeom>
          <a:noFill/>
        </p:spPr>
        <p:txBody>
          <a:bodyPr wrap="square" lIns="0" rIns="0" tIns="0" bIns="0">
            <a:spAutoFit/>
          </a:bodyPr>
          <a:lstStyle/>
          <a:p>
            <a:pPr>
              <a:spcAft>
                <a:spcPts val="500"/>
              </a:spcAft>
              <a:defRPr sz="1800" b="0">
                <a:solidFill>
                  <a:srgbClr val="52645C"/>
                </a:solidFill>
                <a:latin typeface="Arial"/>
              </a:defRPr>
            </a:pPr>
            <a:r>
              <a:t>Target audience</a:t>
            </a:r>
          </a:p>
          <a:p>
            <a:pPr>
              <a:spcAft>
                <a:spcPts val="500"/>
              </a:spcAft>
              <a:defRPr sz="1800" b="0">
                <a:solidFill>
                  <a:srgbClr val="52645C"/>
                </a:solidFill>
                <a:latin typeface="Arial"/>
              </a:defRPr>
            </a:pPr>
            <a:r>
              <a:t>Geography and context</a:t>
            </a:r>
          </a:p>
          <a:p>
            <a:pPr>
              <a:spcAft>
                <a:spcPts val="500"/>
              </a:spcAft>
              <a:defRPr sz="1800" b="0">
                <a:solidFill>
                  <a:srgbClr val="52645C"/>
                </a:solidFill>
                <a:latin typeface="Arial"/>
              </a:defRPr>
            </a:pPr>
            <a:r>
              <a:t>Source + date</a:t>
            </a:r>
          </a:p>
        </p:txBody>
      </p:sp>
      <p:sp>
        <p:nvSpPr>
          <p:cNvPr id="14" name="Rectangle 13"/>
          <p:cNvSpPr/>
          <p:nvPr/>
        </p:nvSpPr>
        <p:spPr>
          <a:xfrm>
            <a:off x="4315968" y="2798064"/>
            <a:ext cx="3520440" cy="2670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962656"/>
            <a:ext cx="3118104" cy="256032"/>
          </a:xfrm>
          <a:prstGeom prst="rect">
            <a:avLst/>
          </a:prstGeom>
          <a:noFill/>
        </p:spPr>
        <p:txBody>
          <a:bodyPr wrap="square" lIns="0" rIns="0" tIns="0" bIns="0">
            <a:spAutoFit/>
          </a:bodyPr>
          <a:lstStyle/>
          <a:p>
            <a:pPr>
              <a:spcAft>
                <a:spcPts val="500"/>
              </a:spcAft>
              <a:defRPr sz="1100" b="1">
                <a:solidFill>
                  <a:srgbClr val="70420B"/>
                </a:solidFill>
                <a:latin typeface="Arial"/>
              </a:defRPr>
            </a:pPr>
            <a:r>
              <a:t>EVIDENCE SLOT</a:t>
            </a:r>
          </a:p>
        </p:txBody>
      </p:sp>
      <p:sp>
        <p:nvSpPr>
          <p:cNvPr id="16" name="TextBox 15"/>
          <p:cNvSpPr txBox="1"/>
          <p:nvPr/>
        </p:nvSpPr>
        <p:spPr>
          <a:xfrm>
            <a:off x="4517136" y="3401568"/>
            <a:ext cx="3118104" cy="594360"/>
          </a:xfrm>
          <a:prstGeom prst="rect">
            <a:avLst/>
          </a:prstGeom>
          <a:noFill/>
        </p:spPr>
        <p:txBody>
          <a:bodyPr wrap="square" lIns="0" rIns="0" tIns="0" bIns="0">
            <a:spAutoFit/>
          </a:bodyPr>
          <a:lstStyle/>
          <a:p>
            <a:pPr>
              <a:spcAft>
                <a:spcPts val="500"/>
              </a:spcAft>
              <a:defRPr sz="2400" b="1">
                <a:solidFill>
                  <a:srgbClr val="15211F"/>
                </a:solidFill>
                <a:latin typeface="Arial"/>
              </a:defRPr>
            </a:pPr>
            <a:r>
              <a:t>WHAT IT COSTS</a:t>
            </a:r>
          </a:p>
        </p:txBody>
      </p:sp>
      <p:sp>
        <p:nvSpPr>
          <p:cNvPr id="17" name="TextBox 16"/>
          <p:cNvSpPr txBox="1"/>
          <p:nvPr/>
        </p:nvSpPr>
        <p:spPr>
          <a:xfrm>
            <a:off x="4517136" y="4151376"/>
            <a:ext cx="3118104" cy="1207007"/>
          </a:xfrm>
          <a:prstGeom prst="rect">
            <a:avLst/>
          </a:prstGeom>
          <a:noFill/>
        </p:spPr>
        <p:txBody>
          <a:bodyPr wrap="square" lIns="0" rIns="0" tIns="0" bIns="0">
            <a:spAutoFit/>
          </a:bodyPr>
          <a:lstStyle/>
          <a:p>
            <a:pPr>
              <a:spcAft>
                <a:spcPts val="500"/>
              </a:spcAft>
              <a:defRPr sz="1800" b="0">
                <a:solidFill>
                  <a:srgbClr val="52645C"/>
                </a:solidFill>
                <a:latin typeface="Arial"/>
              </a:defRPr>
            </a:pPr>
            <a:r>
              <a:t>Time, money or access</a:t>
            </a:r>
          </a:p>
          <a:p>
            <a:pPr>
              <a:spcAft>
                <a:spcPts val="500"/>
              </a:spcAft>
              <a:defRPr sz="1800" b="0">
                <a:solidFill>
                  <a:srgbClr val="52645C"/>
                </a:solidFill>
                <a:latin typeface="Arial"/>
              </a:defRPr>
            </a:pPr>
            <a:r>
              <a:t>Unit and denominator</a:t>
            </a:r>
          </a:p>
          <a:p>
            <a:pPr>
              <a:spcAft>
                <a:spcPts val="500"/>
              </a:spcAft>
              <a:defRPr sz="1800" b="0">
                <a:solidFill>
                  <a:srgbClr val="52645C"/>
                </a:solidFill>
                <a:latin typeface="Arial"/>
              </a:defRPr>
            </a:pPr>
            <a:r>
              <a:t>Measurement method</a:t>
            </a:r>
          </a:p>
        </p:txBody>
      </p:sp>
      <p:sp>
        <p:nvSpPr>
          <p:cNvPr id="18" name="Rectangle 17"/>
          <p:cNvSpPr/>
          <p:nvPr/>
        </p:nvSpPr>
        <p:spPr>
          <a:xfrm>
            <a:off x="8101583" y="2798064"/>
            <a:ext cx="3520440" cy="2670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2752" y="2962656"/>
            <a:ext cx="3118104" cy="256032"/>
          </a:xfrm>
          <a:prstGeom prst="rect">
            <a:avLst/>
          </a:prstGeom>
          <a:noFill/>
        </p:spPr>
        <p:txBody>
          <a:bodyPr wrap="square" lIns="0" rIns="0" tIns="0" bIns="0">
            <a:spAutoFit/>
          </a:bodyPr>
          <a:lstStyle/>
          <a:p>
            <a:pPr>
              <a:spcAft>
                <a:spcPts val="500"/>
              </a:spcAft>
              <a:defRPr sz="1100" b="1">
                <a:solidFill>
                  <a:srgbClr val="70420B"/>
                </a:solidFill>
                <a:latin typeface="Arial"/>
              </a:defRPr>
            </a:pPr>
            <a:r>
              <a:t>EVIDENCE SLOT</a:t>
            </a:r>
          </a:p>
        </p:txBody>
      </p:sp>
      <p:sp>
        <p:nvSpPr>
          <p:cNvPr id="20" name="TextBox 19"/>
          <p:cNvSpPr txBox="1"/>
          <p:nvPr/>
        </p:nvSpPr>
        <p:spPr>
          <a:xfrm>
            <a:off x="8302752" y="3401568"/>
            <a:ext cx="3118104" cy="594360"/>
          </a:xfrm>
          <a:prstGeom prst="rect">
            <a:avLst/>
          </a:prstGeom>
          <a:noFill/>
        </p:spPr>
        <p:txBody>
          <a:bodyPr wrap="square" lIns="0" rIns="0" tIns="0" bIns="0">
            <a:spAutoFit/>
          </a:bodyPr>
          <a:lstStyle/>
          <a:p>
            <a:pPr>
              <a:spcAft>
                <a:spcPts val="500"/>
              </a:spcAft>
              <a:defRPr sz="2400" b="1">
                <a:solidFill>
                  <a:srgbClr val="15211F"/>
                </a:solidFill>
                <a:latin typeface="Arial"/>
              </a:defRPr>
            </a:pPr>
            <a:r>
              <a:t>WHAT EXISTS</a:t>
            </a:r>
          </a:p>
        </p:txBody>
      </p:sp>
      <p:sp>
        <p:nvSpPr>
          <p:cNvPr id="21" name="TextBox 20"/>
          <p:cNvSpPr txBox="1"/>
          <p:nvPr/>
        </p:nvSpPr>
        <p:spPr>
          <a:xfrm>
            <a:off x="8302752" y="4151376"/>
            <a:ext cx="3118104" cy="1207007"/>
          </a:xfrm>
          <a:prstGeom prst="rect">
            <a:avLst/>
          </a:prstGeom>
          <a:noFill/>
        </p:spPr>
        <p:txBody>
          <a:bodyPr wrap="square" lIns="0" rIns="0" tIns="0" bIns="0">
            <a:spAutoFit/>
          </a:bodyPr>
          <a:lstStyle/>
          <a:p>
            <a:pPr>
              <a:spcAft>
                <a:spcPts val="500"/>
              </a:spcAft>
              <a:defRPr sz="1800" b="0">
                <a:solidFill>
                  <a:srgbClr val="52645C"/>
                </a:solidFill>
                <a:latin typeface="Arial"/>
              </a:defRPr>
            </a:pPr>
            <a:r>
              <a:t>Present workflow</a:t>
            </a:r>
          </a:p>
          <a:p>
            <a:pPr>
              <a:spcAft>
                <a:spcPts val="500"/>
              </a:spcAft>
              <a:defRPr sz="1800" b="0">
                <a:solidFill>
                  <a:srgbClr val="52645C"/>
                </a:solidFill>
                <a:latin typeface="Arial"/>
              </a:defRPr>
            </a:pPr>
            <a:r>
              <a:t>Baseline result</a:t>
            </a:r>
          </a:p>
          <a:p>
            <a:pPr>
              <a:spcAft>
                <a:spcPts val="500"/>
              </a:spcAft>
              <a:defRPr sz="1800" b="0">
                <a:solidFill>
                  <a:srgbClr val="52645C"/>
                </a:solidFill>
                <a:latin typeface="Arial"/>
              </a:defRPr>
            </a:pPr>
            <a:r>
              <a:t>Known limitations</a:t>
            </a:r>
          </a:p>
        </p:txBody>
      </p:sp>
      <p:sp>
        <p:nvSpPr>
          <p:cNvPr id="22" name="TextBox 21"/>
          <p:cNvSpPr txBox="1"/>
          <p:nvPr/>
        </p:nvSpPr>
        <p:spPr>
          <a:xfrm>
            <a:off x="548640" y="5806440"/>
            <a:ext cx="10972800" cy="274320"/>
          </a:xfrm>
          <a:prstGeom prst="rect">
            <a:avLst/>
          </a:prstGeom>
          <a:noFill/>
        </p:spPr>
        <p:txBody>
          <a:bodyPr wrap="square" lIns="0" rIns="0" tIns="0" bIns="0">
            <a:spAutoFit/>
          </a:bodyPr>
          <a:lstStyle/>
          <a:p>
            <a:pPr>
              <a:spcAft>
                <a:spcPts val="500"/>
              </a:spcAft>
              <a:defRPr sz="1600" b="0">
                <a:solidFill>
                  <a:srgbClr val="70420B"/>
                </a:solidFill>
                <a:latin typeface="Arial"/>
              </a:defRPr>
            </a:pPr>
            <a:r>
              <a:t>No domain statistic has been inserted. The problem must be verified first.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02920" y="292608"/>
            <a:ext cx="7315200" cy="237744"/>
          </a:xfrm>
          <a:prstGeom prst="rect">
            <a:avLst/>
          </a:prstGeom>
          <a:noFill/>
        </p:spPr>
        <p:txBody>
          <a:bodyPr wrap="square" lIns="0" rIns="0" tIns="0" bIns="0">
            <a:spAutoFit/>
          </a:bodyPr>
          <a:lstStyle/>
          <a:p>
            <a:pPr>
              <a:spcAft>
                <a:spcPts val="500"/>
              </a:spcAft>
              <a:defRPr sz="1100" b="1">
                <a:solidFill>
                  <a:srgbClr val="29473F"/>
                </a:solidFill>
                <a:latin typeface="Arial"/>
              </a:defRPr>
            </a:pPr>
            <a:r>
              <a:t>IDEA TITLE</a:t>
            </a:r>
          </a:p>
        </p:txBody>
      </p:sp>
      <p:sp>
        <p:nvSpPr>
          <p:cNvPr id="3" name="Rectangle 2"/>
          <p:cNvSpPr/>
          <p:nvPr/>
        </p:nvSpPr>
        <p:spPr>
          <a:xfrm>
            <a:off x="8668512" y="210312"/>
            <a:ext cx="3017520" cy="39319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23960" y="292608"/>
            <a:ext cx="2743200" cy="201168"/>
          </a:xfrm>
          <a:prstGeom prst="rect">
            <a:avLst/>
          </a:prstGeom>
          <a:noFill/>
        </p:spPr>
        <p:txBody>
          <a:bodyPr wrap="square" lIns="0" rIns="0" tIns="0" bIns="0">
            <a:spAutoFit/>
          </a:bodyPr>
          <a:lstStyle/>
          <a:p>
            <a:pPr>
              <a:spcAft>
                <a:spcPts val="500"/>
              </a:spcAft>
              <a:defRPr sz="1200" b="1">
                <a:solidFill>
                  <a:srgbClr val="15211F"/>
                </a:solidFill>
                <a:latin typeface="Arial"/>
              </a:defRPr>
            </a:pPr>
            <a:r>
              <a:t>NOT SUBMISSION READY</a:t>
            </a:r>
          </a:p>
        </p:txBody>
      </p:sp>
      <p:sp>
        <p:nvSpPr>
          <p:cNvPr id="5" name="TextBox 4"/>
          <p:cNvSpPr txBox="1"/>
          <p:nvPr/>
        </p:nvSpPr>
        <p:spPr>
          <a:xfrm>
            <a:off x="502920" y="859536"/>
            <a:ext cx="11064240" cy="1024128"/>
          </a:xfrm>
          <a:prstGeom prst="rect">
            <a:avLst/>
          </a:prstGeom>
          <a:noFill/>
        </p:spPr>
        <p:txBody>
          <a:bodyPr wrap="square" lIns="0" rIns="0" tIns="0" bIns="0">
            <a:spAutoFit/>
          </a:bodyPr>
          <a:lstStyle/>
          <a:p>
            <a:pPr>
              <a:spcAft>
                <a:spcPts val="500"/>
              </a:spcAft>
              <a:defRPr sz="3900" b="1">
                <a:solidFill>
                  <a:srgbClr val="15211F"/>
                </a:solidFill>
                <a:latin typeface="Arial"/>
              </a:defRPr>
            </a:pPr>
            <a:r>
              <a:t>Locate the moment that breaks.</a:t>
            </a:r>
          </a:p>
        </p:txBody>
      </p:sp>
      <p:sp>
        <p:nvSpPr>
          <p:cNvPr id="6" name="TextBox 5"/>
          <p:cNvSpPr txBox="1"/>
          <p:nvPr/>
        </p:nvSpPr>
        <p:spPr>
          <a:xfrm>
            <a:off x="530352" y="1901952"/>
            <a:ext cx="11064240" cy="548640"/>
          </a:xfrm>
          <a:prstGeom prst="rect">
            <a:avLst/>
          </a:prstGeom>
          <a:noFill/>
        </p:spPr>
        <p:txBody>
          <a:bodyPr wrap="square" lIns="0" rIns="0" tIns="0" bIns="0">
            <a:spAutoFit/>
          </a:bodyPr>
          <a:lstStyle/>
          <a:p>
            <a:pPr>
              <a:spcAft>
                <a:spcPts val="500"/>
              </a:spcAft>
              <a:defRPr sz="1800" b="0">
                <a:solidFill>
                  <a:srgbClr val="52645C"/>
                </a:solidFill>
                <a:latin typeface="Arial"/>
              </a:defRPr>
            </a:pPr>
            <a:r>
              <a:t>Map a real user journey before choosing a feature list.</a:t>
            </a:r>
          </a:p>
        </p:txBody>
      </p:sp>
      <p:cxnSp>
        <p:nvCxnSpPr>
          <p:cNvPr id="7" name="Connector 6"/>
          <p:cNvCxnSpPr/>
          <p:nvPr/>
        </p:nvCxnSpPr>
        <p:spPr>
          <a:xfrm>
            <a:off x="502920" y="6364224"/>
            <a:ext cx="11183112"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10528"/>
            <a:ext cx="914400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SIH2171 · IDENTITY UNVERIFIED  /  EXPANDED BLUEPRINT</a:t>
            </a:r>
          </a:p>
        </p:txBody>
      </p:sp>
      <p:sp>
        <p:nvSpPr>
          <p:cNvPr id="9" name="TextBox 8"/>
          <p:cNvSpPr txBox="1"/>
          <p:nvPr/>
        </p:nvSpPr>
        <p:spPr>
          <a:xfrm>
            <a:off x="10881360" y="6510528"/>
            <a:ext cx="82296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03 / 15</a:t>
            </a:r>
          </a:p>
        </p:txBody>
      </p:sp>
      <p:sp>
        <p:nvSpPr>
          <p:cNvPr id="10" name="Rectangle 9"/>
          <p:cNvSpPr/>
          <p:nvPr/>
        </p:nvSpPr>
        <p:spPr>
          <a:xfrm>
            <a:off x="530352" y="3090672"/>
            <a:ext cx="246888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3246120"/>
            <a:ext cx="2103120" cy="329184"/>
          </a:xfrm>
          <a:prstGeom prst="rect">
            <a:avLst/>
          </a:prstGeom>
          <a:noFill/>
        </p:spPr>
        <p:txBody>
          <a:bodyPr wrap="square" lIns="0" rIns="0" tIns="0" bIns="0">
            <a:spAutoFit/>
          </a:bodyPr>
          <a:lstStyle/>
          <a:p>
            <a:pPr>
              <a:spcAft>
                <a:spcPts val="500"/>
              </a:spcAft>
              <a:defRPr sz="1800" b="1">
                <a:solidFill>
                  <a:srgbClr val="29473F"/>
                </a:solidFill>
                <a:latin typeface="Arial"/>
              </a:defRPr>
            </a:pPr>
            <a:r>
              <a:t>01</a:t>
            </a:r>
          </a:p>
        </p:txBody>
      </p:sp>
      <p:sp>
        <p:nvSpPr>
          <p:cNvPr id="12" name="TextBox 11"/>
          <p:cNvSpPr txBox="1"/>
          <p:nvPr/>
        </p:nvSpPr>
        <p:spPr>
          <a:xfrm>
            <a:off x="713232" y="3794760"/>
            <a:ext cx="2103120" cy="640080"/>
          </a:xfrm>
          <a:prstGeom prst="rect">
            <a:avLst/>
          </a:prstGeom>
          <a:noFill/>
        </p:spPr>
        <p:txBody>
          <a:bodyPr wrap="square" lIns="0" rIns="0" tIns="0" bIns="0">
            <a:spAutoFit/>
          </a:bodyPr>
          <a:lstStyle/>
          <a:p>
            <a:pPr>
              <a:spcAft>
                <a:spcPts val="500"/>
              </a:spcAft>
              <a:defRPr sz="2400" b="1">
                <a:solidFill>
                  <a:srgbClr val="15211F"/>
                </a:solidFill>
                <a:latin typeface="Arial"/>
              </a:defRPr>
            </a:pPr>
            <a:r>
              <a:t>Need arises</a:t>
            </a:r>
          </a:p>
        </p:txBody>
      </p:sp>
      <p:sp>
        <p:nvSpPr>
          <p:cNvPr id="13" name="Rectangle 12"/>
          <p:cNvSpPr/>
          <p:nvPr/>
        </p:nvSpPr>
        <p:spPr>
          <a:xfrm>
            <a:off x="3401568" y="3090672"/>
            <a:ext cx="246888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84448" y="3246120"/>
            <a:ext cx="2103120" cy="329184"/>
          </a:xfrm>
          <a:prstGeom prst="rect">
            <a:avLst/>
          </a:prstGeom>
          <a:noFill/>
        </p:spPr>
        <p:txBody>
          <a:bodyPr wrap="square" lIns="0" rIns="0" tIns="0" bIns="0">
            <a:spAutoFit/>
          </a:bodyPr>
          <a:lstStyle/>
          <a:p>
            <a:pPr>
              <a:spcAft>
                <a:spcPts val="500"/>
              </a:spcAft>
              <a:defRPr sz="1800" b="1">
                <a:solidFill>
                  <a:srgbClr val="29473F"/>
                </a:solidFill>
                <a:latin typeface="Arial"/>
              </a:defRPr>
            </a:pPr>
            <a:r>
              <a:t>02</a:t>
            </a:r>
          </a:p>
        </p:txBody>
      </p:sp>
      <p:sp>
        <p:nvSpPr>
          <p:cNvPr id="15" name="TextBox 14"/>
          <p:cNvSpPr txBox="1"/>
          <p:nvPr/>
        </p:nvSpPr>
        <p:spPr>
          <a:xfrm>
            <a:off x="3584448" y="3794760"/>
            <a:ext cx="2103120" cy="640080"/>
          </a:xfrm>
          <a:prstGeom prst="rect">
            <a:avLst/>
          </a:prstGeom>
          <a:noFill/>
        </p:spPr>
        <p:txBody>
          <a:bodyPr wrap="square" lIns="0" rIns="0" tIns="0" bIns="0">
            <a:spAutoFit/>
          </a:bodyPr>
          <a:lstStyle/>
          <a:p>
            <a:pPr>
              <a:spcAft>
                <a:spcPts val="500"/>
              </a:spcAft>
              <a:defRPr sz="2400" b="1">
                <a:solidFill>
                  <a:srgbClr val="15211F"/>
                </a:solidFill>
                <a:latin typeface="Arial"/>
              </a:defRPr>
            </a:pPr>
            <a:r>
              <a:t>Current action</a:t>
            </a:r>
          </a:p>
        </p:txBody>
      </p:sp>
      <p:sp>
        <p:nvSpPr>
          <p:cNvPr id="16" name="Rectangle 15"/>
          <p:cNvSpPr/>
          <p:nvPr/>
        </p:nvSpPr>
        <p:spPr>
          <a:xfrm>
            <a:off x="6272784" y="3090672"/>
            <a:ext cx="2468880" cy="1737360"/>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3246120"/>
            <a:ext cx="2103120" cy="329184"/>
          </a:xfrm>
          <a:prstGeom prst="rect">
            <a:avLst/>
          </a:prstGeom>
          <a:noFill/>
        </p:spPr>
        <p:txBody>
          <a:bodyPr wrap="square" lIns="0" rIns="0" tIns="0" bIns="0">
            <a:spAutoFit/>
          </a:bodyPr>
          <a:lstStyle/>
          <a:p>
            <a:pPr>
              <a:spcAft>
                <a:spcPts val="500"/>
              </a:spcAft>
              <a:defRPr sz="1800" b="1">
                <a:solidFill>
                  <a:srgbClr val="29473F"/>
                </a:solidFill>
                <a:latin typeface="Arial"/>
              </a:defRPr>
            </a:pPr>
            <a:r>
              <a:t>03</a:t>
            </a:r>
          </a:p>
        </p:txBody>
      </p:sp>
      <p:sp>
        <p:nvSpPr>
          <p:cNvPr id="18" name="TextBox 17"/>
          <p:cNvSpPr txBox="1"/>
          <p:nvPr/>
        </p:nvSpPr>
        <p:spPr>
          <a:xfrm>
            <a:off x="6455664" y="3794760"/>
            <a:ext cx="2103120" cy="640080"/>
          </a:xfrm>
          <a:prstGeom prst="rect">
            <a:avLst/>
          </a:prstGeom>
          <a:noFill/>
        </p:spPr>
        <p:txBody>
          <a:bodyPr wrap="square" lIns="0" rIns="0" tIns="0" bIns="0">
            <a:spAutoFit/>
          </a:bodyPr>
          <a:lstStyle/>
          <a:p>
            <a:pPr>
              <a:spcAft>
                <a:spcPts val="500"/>
              </a:spcAft>
              <a:defRPr sz="2400" b="1">
                <a:solidFill>
                  <a:srgbClr val="15211F"/>
                </a:solidFill>
                <a:latin typeface="Arial"/>
              </a:defRPr>
            </a:pPr>
            <a:r>
              <a:t>Bottleneck</a:t>
            </a:r>
          </a:p>
        </p:txBody>
      </p:sp>
      <p:sp>
        <p:nvSpPr>
          <p:cNvPr id="19" name="Rectangle 18"/>
          <p:cNvSpPr/>
          <p:nvPr/>
        </p:nvSpPr>
        <p:spPr>
          <a:xfrm>
            <a:off x="9144000" y="3090672"/>
            <a:ext cx="246888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3246120"/>
            <a:ext cx="2103120" cy="329184"/>
          </a:xfrm>
          <a:prstGeom prst="rect">
            <a:avLst/>
          </a:prstGeom>
          <a:noFill/>
        </p:spPr>
        <p:txBody>
          <a:bodyPr wrap="square" lIns="0" rIns="0" tIns="0" bIns="0">
            <a:spAutoFit/>
          </a:bodyPr>
          <a:lstStyle/>
          <a:p>
            <a:pPr>
              <a:spcAft>
                <a:spcPts val="500"/>
              </a:spcAft>
              <a:defRPr sz="1800" b="1">
                <a:solidFill>
                  <a:srgbClr val="29473F"/>
                </a:solidFill>
                <a:latin typeface="Arial"/>
              </a:defRPr>
            </a:pPr>
            <a:r>
              <a:t>04</a:t>
            </a:r>
          </a:p>
        </p:txBody>
      </p:sp>
      <p:sp>
        <p:nvSpPr>
          <p:cNvPr id="21" name="TextBox 20"/>
          <p:cNvSpPr txBox="1"/>
          <p:nvPr/>
        </p:nvSpPr>
        <p:spPr>
          <a:xfrm>
            <a:off x="9326880" y="3794760"/>
            <a:ext cx="2103120" cy="640080"/>
          </a:xfrm>
          <a:prstGeom prst="rect">
            <a:avLst/>
          </a:prstGeom>
          <a:noFill/>
        </p:spPr>
        <p:txBody>
          <a:bodyPr wrap="square" lIns="0" rIns="0" tIns="0" bIns="0">
            <a:spAutoFit/>
          </a:bodyPr>
          <a:lstStyle/>
          <a:p>
            <a:pPr>
              <a:spcAft>
                <a:spcPts val="500"/>
              </a:spcAft>
              <a:defRPr sz="2400" b="1">
                <a:solidFill>
                  <a:srgbClr val="15211F"/>
                </a:solidFill>
                <a:latin typeface="Arial"/>
              </a:defRPr>
            </a:pPr>
            <a:r>
              <a:t>Consequence</a:t>
            </a:r>
          </a:p>
        </p:txBody>
      </p:sp>
      <p:sp>
        <p:nvSpPr>
          <p:cNvPr id="22" name="Chevron 21"/>
          <p:cNvSpPr/>
          <p:nvPr/>
        </p:nvSpPr>
        <p:spPr>
          <a:xfrm>
            <a:off x="3063240" y="3849624"/>
            <a:ext cx="256032" cy="228600"/>
          </a:xfrm>
          <a:prstGeom prst="chevron">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evron 22"/>
          <p:cNvSpPr/>
          <p:nvPr/>
        </p:nvSpPr>
        <p:spPr>
          <a:xfrm>
            <a:off x="5934456" y="3849624"/>
            <a:ext cx="256032" cy="228600"/>
          </a:xfrm>
          <a:prstGeom prst="chevron">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hevron 23"/>
          <p:cNvSpPr/>
          <p:nvPr/>
        </p:nvSpPr>
        <p:spPr>
          <a:xfrm>
            <a:off x="8805672" y="3849624"/>
            <a:ext cx="256032" cy="228600"/>
          </a:xfrm>
          <a:prstGeom prst="chevron">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294376"/>
            <a:ext cx="10881360" cy="566928"/>
          </a:xfrm>
          <a:prstGeom prst="rect">
            <a:avLst/>
          </a:prstGeom>
          <a:noFill/>
        </p:spPr>
        <p:txBody>
          <a:bodyPr wrap="square" lIns="0" rIns="0" tIns="0" bIns="0">
            <a:spAutoFit/>
          </a:bodyPr>
          <a:lstStyle/>
          <a:p>
            <a:pPr>
              <a:spcAft>
                <a:spcPts val="500"/>
              </a:spcAft>
              <a:defRPr sz="2200" b="0">
                <a:solidFill>
                  <a:srgbClr val="52645C"/>
                </a:solidFill>
                <a:latin typeface="Arial"/>
              </a:defRPr>
            </a:pPr>
            <a:r>
              <a:t>Complete with an observed task, a source and the actual failure condition.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02920" y="292608"/>
            <a:ext cx="7315200" cy="237744"/>
          </a:xfrm>
          <a:prstGeom prst="rect">
            <a:avLst/>
          </a:prstGeom>
          <a:noFill/>
        </p:spPr>
        <p:txBody>
          <a:bodyPr wrap="square" lIns="0" rIns="0" tIns="0" bIns="0">
            <a:spAutoFit/>
          </a:bodyPr>
          <a:lstStyle/>
          <a:p>
            <a:pPr>
              <a:spcAft>
                <a:spcPts val="500"/>
              </a:spcAft>
              <a:defRPr sz="1100" b="1">
                <a:solidFill>
                  <a:srgbClr val="29473F"/>
                </a:solidFill>
                <a:latin typeface="Arial"/>
              </a:defRPr>
            </a:pPr>
            <a:r>
              <a:t>IDEA TITLE</a:t>
            </a:r>
          </a:p>
        </p:txBody>
      </p:sp>
      <p:sp>
        <p:nvSpPr>
          <p:cNvPr id="3" name="Rectangle 2"/>
          <p:cNvSpPr/>
          <p:nvPr/>
        </p:nvSpPr>
        <p:spPr>
          <a:xfrm>
            <a:off x="8668512" y="210312"/>
            <a:ext cx="3017520" cy="39319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23960" y="292608"/>
            <a:ext cx="2743200" cy="201168"/>
          </a:xfrm>
          <a:prstGeom prst="rect">
            <a:avLst/>
          </a:prstGeom>
          <a:noFill/>
        </p:spPr>
        <p:txBody>
          <a:bodyPr wrap="square" lIns="0" rIns="0" tIns="0" bIns="0">
            <a:spAutoFit/>
          </a:bodyPr>
          <a:lstStyle/>
          <a:p>
            <a:pPr>
              <a:spcAft>
                <a:spcPts val="500"/>
              </a:spcAft>
              <a:defRPr sz="1200" b="1">
                <a:solidFill>
                  <a:srgbClr val="15211F"/>
                </a:solidFill>
                <a:latin typeface="Arial"/>
              </a:defRPr>
            </a:pPr>
            <a:r>
              <a:t>NOT SUBMISSION READY</a:t>
            </a:r>
          </a:p>
        </p:txBody>
      </p:sp>
      <p:sp>
        <p:nvSpPr>
          <p:cNvPr id="5" name="TextBox 4"/>
          <p:cNvSpPr txBox="1"/>
          <p:nvPr/>
        </p:nvSpPr>
        <p:spPr>
          <a:xfrm>
            <a:off x="502920" y="859536"/>
            <a:ext cx="11064240" cy="1024128"/>
          </a:xfrm>
          <a:prstGeom prst="rect">
            <a:avLst/>
          </a:prstGeom>
          <a:noFill/>
        </p:spPr>
        <p:txBody>
          <a:bodyPr wrap="square" lIns="0" rIns="0" tIns="0" bIns="0">
            <a:spAutoFit/>
          </a:bodyPr>
          <a:lstStyle/>
          <a:p>
            <a:pPr>
              <a:spcAft>
                <a:spcPts val="500"/>
              </a:spcAft>
              <a:defRPr sz="3900" b="1">
                <a:solidFill>
                  <a:srgbClr val="15211F"/>
                </a:solidFill>
                <a:latin typeface="Arial"/>
              </a:defRPr>
            </a:pPr>
            <a:r>
              <a:t>A gap needs a fair comparison.</a:t>
            </a:r>
          </a:p>
        </p:txBody>
      </p:sp>
      <p:sp>
        <p:nvSpPr>
          <p:cNvPr id="6" name="TextBox 5"/>
          <p:cNvSpPr txBox="1"/>
          <p:nvPr/>
        </p:nvSpPr>
        <p:spPr>
          <a:xfrm>
            <a:off x="530352" y="1901952"/>
            <a:ext cx="11064240" cy="548640"/>
          </a:xfrm>
          <a:prstGeom prst="rect">
            <a:avLst/>
          </a:prstGeom>
          <a:noFill/>
        </p:spPr>
        <p:txBody>
          <a:bodyPr wrap="square" lIns="0" rIns="0" tIns="0" bIns="0">
            <a:spAutoFit/>
          </a:bodyPr>
          <a:lstStyle/>
          <a:p>
            <a:pPr>
              <a:spcAft>
                <a:spcPts val="500"/>
              </a:spcAft>
              <a:defRPr sz="1800" b="0">
                <a:solidFill>
                  <a:srgbClr val="52645C"/>
                </a:solidFill>
                <a:latin typeface="Arial"/>
              </a:defRPr>
            </a:pPr>
            <a:r>
              <a:t>Compare the same task under the same conditions; unknown is a valid result.</a:t>
            </a:r>
          </a:p>
        </p:txBody>
      </p:sp>
      <p:cxnSp>
        <p:nvCxnSpPr>
          <p:cNvPr id="7" name="Connector 6"/>
          <p:cNvCxnSpPr/>
          <p:nvPr/>
        </p:nvCxnSpPr>
        <p:spPr>
          <a:xfrm>
            <a:off x="502920" y="6364224"/>
            <a:ext cx="11183112"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10528"/>
            <a:ext cx="914400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SIH2171 · IDENTITY UNVERIFIED  /  EXPANDED BLUEPRINT</a:t>
            </a:r>
          </a:p>
        </p:txBody>
      </p:sp>
      <p:sp>
        <p:nvSpPr>
          <p:cNvPr id="9" name="TextBox 8"/>
          <p:cNvSpPr txBox="1"/>
          <p:nvPr/>
        </p:nvSpPr>
        <p:spPr>
          <a:xfrm>
            <a:off x="10881360" y="6510528"/>
            <a:ext cx="82296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04 / 15</a:t>
            </a:r>
          </a:p>
        </p:txBody>
      </p:sp>
      <p:sp>
        <p:nvSpPr>
          <p:cNvPr id="10" name="Rectangle 9"/>
          <p:cNvSpPr/>
          <p:nvPr/>
        </p:nvSpPr>
        <p:spPr>
          <a:xfrm>
            <a:off x="530352" y="2798064"/>
            <a:ext cx="2898648" cy="566928"/>
          </a:xfrm>
          <a:prstGeom prst="rect">
            <a:avLst/>
          </a:prstGeom>
          <a:solidFill>
            <a:srgbClr val="1521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2935224"/>
            <a:ext cx="2670048" cy="365760"/>
          </a:xfrm>
          <a:prstGeom prst="rect">
            <a:avLst/>
          </a:prstGeom>
          <a:noFill/>
        </p:spPr>
        <p:txBody>
          <a:bodyPr wrap="square" lIns="0" rIns="0" tIns="0" bIns="0">
            <a:spAutoFit/>
          </a:bodyPr>
          <a:lstStyle/>
          <a:p>
            <a:pPr>
              <a:spcAft>
                <a:spcPts val="500"/>
              </a:spcAft>
              <a:defRPr sz="1400" b="1">
                <a:solidFill>
                  <a:srgbClr val="F3F1E7"/>
                </a:solidFill>
                <a:latin typeface="Arial"/>
              </a:defRPr>
            </a:pPr>
            <a:r>
              <a:t>APPROACH</a:t>
            </a:r>
          </a:p>
        </p:txBody>
      </p:sp>
      <p:sp>
        <p:nvSpPr>
          <p:cNvPr id="12" name="Rectangle 11"/>
          <p:cNvSpPr/>
          <p:nvPr/>
        </p:nvSpPr>
        <p:spPr>
          <a:xfrm>
            <a:off x="3456432" y="2798064"/>
            <a:ext cx="2532888" cy="566928"/>
          </a:xfrm>
          <a:prstGeom prst="rect">
            <a:avLst/>
          </a:prstGeom>
          <a:solidFill>
            <a:srgbClr val="1521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2736" y="2935224"/>
            <a:ext cx="2304287" cy="365760"/>
          </a:xfrm>
          <a:prstGeom prst="rect">
            <a:avLst/>
          </a:prstGeom>
          <a:noFill/>
        </p:spPr>
        <p:txBody>
          <a:bodyPr wrap="square" lIns="0" rIns="0" tIns="0" bIns="0">
            <a:spAutoFit/>
          </a:bodyPr>
          <a:lstStyle/>
          <a:p>
            <a:pPr>
              <a:spcAft>
                <a:spcPts val="500"/>
              </a:spcAft>
              <a:defRPr sz="1400" b="1">
                <a:solidFill>
                  <a:srgbClr val="F3F1E7"/>
                </a:solidFill>
                <a:latin typeface="Arial"/>
              </a:defRPr>
            </a:pPr>
            <a:r>
              <a:t>CORE TASK</a:t>
            </a:r>
          </a:p>
        </p:txBody>
      </p:sp>
      <p:sp>
        <p:nvSpPr>
          <p:cNvPr id="14" name="Rectangle 13"/>
          <p:cNvSpPr/>
          <p:nvPr/>
        </p:nvSpPr>
        <p:spPr>
          <a:xfrm>
            <a:off x="6016752" y="2798064"/>
            <a:ext cx="2715768" cy="566928"/>
          </a:xfrm>
          <a:prstGeom prst="rect">
            <a:avLst/>
          </a:prstGeom>
          <a:solidFill>
            <a:srgbClr val="1521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63056" y="2935224"/>
            <a:ext cx="2487168" cy="365760"/>
          </a:xfrm>
          <a:prstGeom prst="rect">
            <a:avLst/>
          </a:prstGeom>
          <a:noFill/>
        </p:spPr>
        <p:txBody>
          <a:bodyPr wrap="square" lIns="0" rIns="0" tIns="0" bIns="0">
            <a:spAutoFit/>
          </a:bodyPr>
          <a:lstStyle/>
          <a:p>
            <a:pPr>
              <a:spcAft>
                <a:spcPts val="500"/>
              </a:spcAft>
              <a:defRPr sz="1400" b="1">
                <a:solidFill>
                  <a:srgbClr val="F3F1E7"/>
                </a:solidFill>
                <a:latin typeface="Arial"/>
              </a:defRPr>
            </a:pPr>
            <a:r>
              <a:t>LIMITATION</a:t>
            </a:r>
          </a:p>
        </p:txBody>
      </p:sp>
      <p:sp>
        <p:nvSpPr>
          <p:cNvPr id="16" name="Rectangle 15"/>
          <p:cNvSpPr/>
          <p:nvPr/>
        </p:nvSpPr>
        <p:spPr>
          <a:xfrm>
            <a:off x="8759952" y="2798064"/>
            <a:ext cx="2395728" cy="566928"/>
          </a:xfrm>
          <a:prstGeom prst="rect">
            <a:avLst/>
          </a:prstGeom>
          <a:solidFill>
            <a:srgbClr val="1521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06256" y="2935224"/>
            <a:ext cx="2167128" cy="365760"/>
          </a:xfrm>
          <a:prstGeom prst="rect">
            <a:avLst/>
          </a:prstGeom>
          <a:noFill/>
        </p:spPr>
        <p:txBody>
          <a:bodyPr wrap="square" lIns="0" rIns="0" tIns="0" bIns="0">
            <a:spAutoFit/>
          </a:bodyPr>
          <a:lstStyle/>
          <a:p>
            <a:pPr>
              <a:spcAft>
                <a:spcPts val="500"/>
              </a:spcAft>
              <a:defRPr sz="1400" b="1">
                <a:solidFill>
                  <a:srgbClr val="F3F1E7"/>
                </a:solidFill>
                <a:latin typeface="Arial"/>
              </a:defRPr>
            </a:pPr>
            <a:r>
              <a:t>SOURCE</a:t>
            </a:r>
          </a:p>
        </p:txBody>
      </p:sp>
      <p:sp>
        <p:nvSpPr>
          <p:cNvPr id="18" name="Rectangle 17"/>
          <p:cNvSpPr/>
          <p:nvPr/>
        </p:nvSpPr>
        <p:spPr>
          <a:xfrm>
            <a:off x="530352" y="3401568"/>
            <a:ext cx="2898648"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3538728"/>
            <a:ext cx="2670048" cy="365760"/>
          </a:xfrm>
          <a:prstGeom prst="rect">
            <a:avLst/>
          </a:prstGeom>
          <a:noFill/>
        </p:spPr>
        <p:txBody>
          <a:bodyPr wrap="square" lIns="0" rIns="0" tIns="0" bIns="0">
            <a:spAutoFit/>
          </a:bodyPr>
          <a:lstStyle/>
          <a:p>
            <a:pPr>
              <a:spcAft>
                <a:spcPts val="500"/>
              </a:spcAft>
              <a:defRPr sz="1800" b="0">
                <a:solidFill>
                  <a:srgbClr val="15211F"/>
                </a:solidFill>
                <a:latin typeface="Arial"/>
              </a:defRPr>
            </a:pPr>
            <a:r>
              <a:t>Existing tool A</a:t>
            </a:r>
          </a:p>
        </p:txBody>
      </p:sp>
      <p:sp>
        <p:nvSpPr>
          <p:cNvPr id="20" name="Rectangle 19"/>
          <p:cNvSpPr/>
          <p:nvPr/>
        </p:nvSpPr>
        <p:spPr>
          <a:xfrm>
            <a:off x="3456432" y="3401568"/>
            <a:ext cx="2532888"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2736" y="3538728"/>
            <a:ext cx="2304287" cy="365760"/>
          </a:xfrm>
          <a:prstGeom prst="rect">
            <a:avLst/>
          </a:prstGeom>
          <a:noFill/>
        </p:spPr>
        <p:txBody>
          <a:bodyPr wrap="square" lIns="0" rIns="0" tIns="0" bIns="0">
            <a:spAutoFit/>
          </a:bodyPr>
          <a:lstStyle/>
          <a:p>
            <a:pPr>
              <a:spcAft>
                <a:spcPts val="500"/>
              </a:spcAft>
              <a:defRPr sz="1800" b="0">
                <a:solidFill>
                  <a:srgbClr val="15211F"/>
                </a:solidFill>
                <a:latin typeface="Arial"/>
              </a:defRPr>
            </a:pPr>
            <a:r>
              <a:t>Unverified</a:t>
            </a:r>
          </a:p>
        </p:txBody>
      </p:sp>
      <p:sp>
        <p:nvSpPr>
          <p:cNvPr id="22" name="Rectangle 21"/>
          <p:cNvSpPr/>
          <p:nvPr/>
        </p:nvSpPr>
        <p:spPr>
          <a:xfrm>
            <a:off x="6016752" y="3401568"/>
            <a:ext cx="2715768"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63056" y="3538728"/>
            <a:ext cx="2487168" cy="365760"/>
          </a:xfrm>
          <a:prstGeom prst="rect">
            <a:avLst/>
          </a:prstGeom>
          <a:noFill/>
        </p:spPr>
        <p:txBody>
          <a:bodyPr wrap="square" lIns="0" rIns="0" tIns="0" bIns="0">
            <a:spAutoFit/>
          </a:bodyPr>
          <a:lstStyle/>
          <a:p>
            <a:pPr>
              <a:spcAft>
                <a:spcPts val="500"/>
              </a:spcAft>
              <a:defRPr sz="1800" b="0">
                <a:solidFill>
                  <a:srgbClr val="15211F"/>
                </a:solidFill>
                <a:latin typeface="Arial"/>
              </a:defRPr>
            </a:pPr>
            <a:r>
              <a:t>Unverified</a:t>
            </a:r>
          </a:p>
        </p:txBody>
      </p:sp>
      <p:sp>
        <p:nvSpPr>
          <p:cNvPr id="24" name="Rectangle 23"/>
          <p:cNvSpPr/>
          <p:nvPr/>
        </p:nvSpPr>
        <p:spPr>
          <a:xfrm>
            <a:off x="8759952" y="3401568"/>
            <a:ext cx="2395728"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06256" y="3538728"/>
            <a:ext cx="2167128" cy="365760"/>
          </a:xfrm>
          <a:prstGeom prst="rect">
            <a:avLst/>
          </a:prstGeom>
          <a:noFill/>
        </p:spPr>
        <p:txBody>
          <a:bodyPr wrap="square" lIns="0" rIns="0" tIns="0" bIns="0">
            <a:spAutoFit/>
          </a:bodyPr>
          <a:lstStyle/>
          <a:p>
            <a:pPr>
              <a:spcAft>
                <a:spcPts val="500"/>
              </a:spcAft>
              <a:defRPr sz="1800" b="0">
                <a:solidFill>
                  <a:srgbClr val="15211F"/>
                </a:solidFill>
                <a:latin typeface="Arial"/>
              </a:defRPr>
            </a:pPr>
            <a:r>
              <a:t>Required</a:t>
            </a:r>
          </a:p>
        </p:txBody>
      </p:sp>
      <p:sp>
        <p:nvSpPr>
          <p:cNvPr id="26" name="Rectangle 25"/>
          <p:cNvSpPr/>
          <p:nvPr/>
        </p:nvSpPr>
        <p:spPr>
          <a:xfrm>
            <a:off x="530352" y="4005072"/>
            <a:ext cx="2898648"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 y="4142232"/>
            <a:ext cx="2670048" cy="365760"/>
          </a:xfrm>
          <a:prstGeom prst="rect">
            <a:avLst/>
          </a:prstGeom>
          <a:noFill/>
        </p:spPr>
        <p:txBody>
          <a:bodyPr wrap="square" lIns="0" rIns="0" tIns="0" bIns="0">
            <a:spAutoFit/>
          </a:bodyPr>
          <a:lstStyle/>
          <a:p>
            <a:pPr>
              <a:spcAft>
                <a:spcPts val="500"/>
              </a:spcAft>
              <a:defRPr sz="1800" b="0">
                <a:solidFill>
                  <a:srgbClr val="15211F"/>
                </a:solidFill>
                <a:latin typeface="Arial"/>
              </a:defRPr>
            </a:pPr>
            <a:r>
              <a:t>Existing tool B</a:t>
            </a:r>
          </a:p>
        </p:txBody>
      </p:sp>
      <p:sp>
        <p:nvSpPr>
          <p:cNvPr id="28" name="Rectangle 27"/>
          <p:cNvSpPr/>
          <p:nvPr/>
        </p:nvSpPr>
        <p:spPr>
          <a:xfrm>
            <a:off x="3456432" y="4005072"/>
            <a:ext cx="2532888"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02736" y="4142232"/>
            <a:ext cx="2304287" cy="365760"/>
          </a:xfrm>
          <a:prstGeom prst="rect">
            <a:avLst/>
          </a:prstGeom>
          <a:noFill/>
        </p:spPr>
        <p:txBody>
          <a:bodyPr wrap="square" lIns="0" rIns="0" tIns="0" bIns="0">
            <a:spAutoFit/>
          </a:bodyPr>
          <a:lstStyle/>
          <a:p>
            <a:pPr>
              <a:spcAft>
                <a:spcPts val="500"/>
              </a:spcAft>
              <a:defRPr sz="1800" b="0">
                <a:solidFill>
                  <a:srgbClr val="15211F"/>
                </a:solidFill>
                <a:latin typeface="Arial"/>
              </a:defRPr>
            </a:pPr>
            <a:r>
              <a:t>Unverified</a:t>
            </a:r>
          </a:p>
        </p:txBody>
      </p:sp>
      <p:sp>
        <p:nvSpPr>
          <p:cNvPr id="30" name="Rectangle 29"/>
          <p:cNvSpPr/>
          <p:nvPr/>
        </p:nvSpPr>
        <p:spPr>
          <a:xfrm>
            <a:off x="6016752" y="4005072"/>
            <a:ext cx="2715768"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63056" y="4142232"/>
            <a:ext cx="2487168" cy="365760"/>
          </a:xfrm>
          <a:prstGeom prst="rect">
            <a:avLst/>
          </a:prstGeom>
          <a:noFill/>
        </p:spPr>
        <p:txBody>
          <a:bodyPr wrap="square" lIns="0" rIns="0" tIns="0" bIns="0">
            <a:spAutoFit/>
          </a:bodyPr>
          <a:lstStyle/>
          <a:p>
            <a:pPr>
              <a:spcAft>
                <a:spcPts val="500"/>
              </a:spcAft>
              <a:defRPr sz="1800" b="0">
                <a:solidFill>
                  <a:srgbClr val="15211F"/>
                </a:solidFill>
                <a:latin typeface="Arial"/>
              </a:defRPr>
            </a:pPr>
            <a:r>
              <a:t>Unverified</a:t>
            </a:r>
          </a:p>
        </p:txBody>
      </p:sp>
      <p:sp>
        <p:nvSpPr>
          <p:cNvPr id="32" name="Rectangle 31"/>
          <p:cNvSpPr/>
          <p:nvPr/>
        </p:nvSpPr>
        <p:spPr>
          <a:xfrm>
            <a:off x="8759952" y="4005072"/>
            <a:ext cx="2395728"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06256" y="4142232"/>
            <a:ext cx="2167128" cy="365760"/>
          </a:xfrm>
          <a:prstGeom prst="rect">
            <a:avLst/>
          </a:prstGeom>
          <a:noFill/>
        </p:spPr>
        <p:txBody>
          <a:bodyPr wrap="square" lIns="0" rIns="0" tIns="0" bIns="0">
            <a:spAutoFit/>
          </a:bodyPr>
          <a:lstStyle/>
          <a:p>
            <a:pPr>
              <a:spcAft>
                <a:spcPts val="500"/>
              </a:spcAft>
              <a:defRPr sz="1800" b="0">
                <a:solidFill>
                  <a:srgbClr val="15211F"/>
                </a:solidFill>
                <a:latin typeface="Arial"/>
              </a:defRPr>
            </a:pPr>
            <a:r>
              <a:t>Required</a:t>
            </a:r>
          </a:p>
        </p:txBody>
      </p:sp>
      <p:sp>
        <p:nvSpPr>
          <p:cNvPr id="34" name="Rectangle 33"/>
          <p:cNvSpPr/>
          <p:nvPr/>
        </p:nvSpPr>
        <p:spPr>
          <a:xfrm>
            <a:off x="530352" y="4608576"/>
            <a:ext cx="2898648"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4745736"/>
            <a:ext cx="2670048" cy="365760"/>
          </a:xfrm>
          <a:prstGeom prst="rect">
            <a:avLst/>
          </a:prstGeom>
          <a:noFill/>
        </p:spPr>
        <p:txBody>
          <a:bodyPr wrap="square" lIns="0" rIns="0" tIns="0" bIns="0">
            <a:spAutoFit/>
          </a:bodyPr>
          <a:lstStyle/>
          <a:p>
            <a:pPr>
              <a:spcAft>
                <a:spcPts val="500"/>
              </a:spcAft>
              <a:defRPr sz="1800" b="0">
                <a:solidFill>
                  <a:srgbClr val="15211F"/>
                </a:solidFill>
                <a:latin typeface="Arial"/>
              </a:defRPr>
            </a:pPr>
            <a:r>
              <a:t>Proposed approach</a:t>
            </a:r>
          </a:p>
        </p:txBody>
      </p:sp>
      <p:sp>
        <p:nvSpPr>
          <p:cNvPr id="36" name="Rectangle 35"/>
          <p:cNvSpPr/>
          <p:nvPr/>
        </p:nvSpPr>
        <p:spPr>
          <a:xfrm>
            <a:off x="3456432" y="4608576"/>
            <a:ext cx="2532888"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02736" y="4745736"/>
            <a:ext cx="2304287" cy="365760"/>
          </a:xfrm>
          <a:prstGeom prst="rect">
            <a:avLst/>
          </a:prstGeom>
          <a:noFill/>
        </p:spPr>
        <p:txBody>
          <a:bodyPr wrap="square" lIns="0" rIns="0" tIns="0" bIns="0">
            <a:spAutoFit/>
          </a:bodyPr>
          <a:lstStyle/>
          <a:p>
            <a:pPr>
              <a:spcAft>
                <a:spcPts val="500"/>
              </a:spcAft>
              <a:defRPr sz="1800" b="0">
                <a:solidFill>
                  <a:srgbClr val="15211F"/>
                </a:solidFill>
                <a:latin typeface="Arial"/>
              </a:defRPr>
            </a:pPr>
            <a:r>
              <a:t>Not defined</a:t>
            </a:r>
          </a:p>
        </p:txBody>
      </p:sp>
      <p:sp>
        <p:nvSpPr>
          <p:cNvPr id="38" name="Rectangle 37"/>
          <p:cNvSpPr/>
          <p:nvPr/>
        </p:nvSpPr>
        <p:spPr>
          <a:xfrm>
            <a:off x="6016752" y="4608576"/>
            <a:ext cx="2715768"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63056" y="4745736"/>
            <a:ext cx="2487168" cy="365760"/>
          </a:xfrm>
          <a:prstGeom prst="rect">
            <a:avLst/>
          </a:prstGeom>
          <a:noFill/>
        </p:spPr>
        <p:txBody>
          <a:bodyPr wrap="square" lIns="0" rIns="0" tIns="0" bIns="0">
            <a:spAutoFit/>
          </a:bodyPr>
          <a:lstStyle/>
          <a:p>
            <a:pPr>
              <a:spcAft>
                <a:spcPts val="500"/>
              </a:spcAft>
              <a:defRPr sz="1800" b="0">
                <a:solidFill>
                  <a:srgbClr val="15211F"/>
                </a:solidFill>
                <a:latin typeface="Arial"/>
              </a:defRPr>
            </a:pPr>
            <a:r>
              <a:t>Not tested</a:t>
            </a:r>
          </a:p>
        </p:txBody>
      </p:sp>
      <p:sp>
        <p:nvSpPr>
          <p:cNvPr id="40" name="Rectangle 39"/>
          <p:cNvSpPr/>
          <p:nvPr/>
        </p:nvSpPr>
        <p:spPr>
          <a:xfrm>
            <a:off x="8759952" y="4608576"/>
            <a:ext cx="2395728"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06256" y="4745736"/>
            <a:ext cx="2167128" cy="365760"/>
          </a:xfrm>
          <a:prstGeom prst="rect">
            <a:avLst/>
          </a:prstGeom>
          <a:noFill/>
        </p:spPr>
        <p:txBody>
          <a:bodyPr wrap="square" lIns="0" rIns="0" tIns="0" bIns="0">
            <a:spAutoFit/>
          </a:bodyPr>
          <a:lstStyle/>
          <a:p>
            <a:pPr>
              <a:spcAft>
                <a:spcPts val="500"/>
              </a:spcAft>
              <a:defRPr sz="1800" b="0">
                <a:solidFill>
                  <a:srgbClr val="15211F"/>
                </a:solidFill>
                <a:latin typeface="Arial"/>
              </a:defRPr>
            </a:pPr>
            <a:r>
              <a:t>Future evidence</a:t>
            </a:r>
          </a:p>
        </p:txBody>
      </p:sp>
      <p:sp>
        <p:nvSpPr>
          <p:cNvPr id="42" name="TextBox 41"/>
          <p:cNvSpPr txBox="1"/>
          <p:nvPr/>
        </p:nvSpPr>
        <p:spPr>
          <a:xfrm>
            <a:off x="548640" y="5687568"/>
            <a:ext cx="10972800" cy="329184"/>
          </a:xfrm>
          <a:prstGeom prst="rect">
            <a:avLst/>
          </a:prstGeom>
          <a:noFill/>
        </p:spPr>
        <p:txBody>
          <a:bodyPr wrap="square" lIns="0" rIns="0" tIns="0" bIns="0">
            <a:spAutoFit/>
          </a:bodyPr>
          <a:lstStyle/>
          <a:p>
            <a:pPr>
              <a:spcAft>
                <a:spcPts val="500"/>
              </a:spcAft>
              <a:defRPr sz="2000" b="0">
                <a:solidFill>
                  <a:srgbClr val="70420B"/>
                </a:solidFill>
                <a:latin typeface="Arial"/>
              </a:defRPr>
            </a:pPr>
            <a:r>
              <a:t>Novelty claim: pending a sourced, domain-specific competitor 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5211F"/>
        </a:solidFill>
        <a:effectLst/>
      </p:bgPr>
    </p:bg>
    <p:spTree>
      <p:nvGrpSpPr>
        <p:cNvPr id="1" name=""/>
        <p:cNvGrpSpPr/>
        <p:nvPr/>
      </p:nvGrpSpPr>
      <p:grpSpPr/>
      <p:sp>
        <p:nvSpPr>
          <p:cNvPr id="2" name="TextBox 1"/>
          <p:cNvSpPr txBox="1"/>
          <p:nvPr/>
        </p:nvSpPr>
        <p:spPr>
          <a:xfrm>
            <a:off x="502920" y="292608"/>
            <a:ext cx="7315200" cy="237744"/>
          </a:xfrm>
          <a:prstGeom prst="rect">
            <a:avLst/>
          </a:prstGeom>
          <a:noFill/>
        </p:spPr>
        <p:txBody>
          <a:bodyPr wrap="square" lIns="0" rIns="0" tIns="0" bIns="0">
            <a:spAutoFit/>
          </a:bodyPr>
          <a:lstStyle/>
          <a:p>
            <a:pPr>
              <a:spcAft>
                <a:spcPts val="500"/>
              </a:spcAft>
              <a:defRPr sz="1100" b="1">
                <a:solidFill>
                  <a:srgbClr val="D8F36A"/>
                </a:solidFill>
                <a:latin typeface="Arial"/>
              </a:defRPr>
            </a:pPr>
            <a:r>
              <a:t>IDEA TITLE</a:t>
            </a:r>
          </a:p>
        </p:txBody>
      </p:sp>
      <p:sp>
        <p:nvSpPr>
          <p:cNvPr id="3" name="Rectangle 2"/>
          <p:cNvSpPr/>
          <p:nvPr/>
        </p:nvSpPr>
        <p:spPr>
          <a:xfrm>
            <a:off x="8668512" y="210312"/>
            <a:ext cx="3017520" cy="39319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23960" y="292608"/>
            <a:ext cx="2743200" cy="201168"/>
          </a:xfrm>
          <a:prstGeom prst="rect">
            <a:avLst/>
          </a:prstGeom>
          <a:noFill/>
        </p:spPr>
        <p:txBody>
          <a:bodyPr wrap="square" lIns="0" rIns="0" tIns="0" bIns="0">
            <a:spAutoFit/>
          </a:bodyPr>
          <a:lstStyle/>
          <a:p>
            <a:pPr>
              <a:spcAft>
                <a:spcPts val="500"/>
              </a:spcAft>
              <a:defRPr sz="1200" b="1">
                <a:solidFill>
                  <a:srgbClr val="15211F"/>
                </a:solidFill>
                <a:latin typeface="Arial"/>
              </a:defRPr>
            </a:pPr>
            <a:r>
              <a:t>NOT SUBMISSION READY</a:t>
            </a:r>
          </a:p>
        </p:txBody>
      </p:sp>
      <p:sp>
        <p:nvSpPr>
          <p:cNvPr id="5" name="TextBox 4"/>
          <p:cNvSpPr txBox="1"/>
          <p:nvPr/>
        </p:nvSpPr>
        <p:spPr>
          <a:xfrm>
            <a:off x="502920" y="859536"/>
            <a:ext cx="11064240" cy="1024128"/>
          </a:xfrm>
          <a:prstGeom prst="rect">
            <a:avLst/>
          </a:prstGeom>
          <a:noFill/>
        </p:spPr>
        <p:txBody>
          <a:bodyPr wrap="square" lIns="0" rIns="0" tIns="0" bIns="0">
            <a:spAutoFit/>
          </a:bodyPr>
          <a:lstStyle/>
          <a:p>
            <a:pPr>
              <a:spcAft>
                <a:spcPts val="500"/>
              </a:spcAft>
              <a:defRPr sz="3900" b="1">
                <a:solidFill>
                  <a:srgbClr val="F3F1E7"/>
                </a:solidFill>
                <a:latin typeface="Arial"/>
              </a:defRPr>
            </a:pPr>
            <a:r>
              <a:t>One promise. One mechanism.</a:t>
            </a:r>
          </a:p>
        </p:txBody>
      </p:sp>
      <p:sp>
        <p:nvSpPr>
          <p:cNvPr id="6" name="TextBox 5"/>
          <p:cNvSpPr txBox="1"/>
          <p:nvPr/>
        </p:nvSpPr>
        <p:spPr>
          <a:xfrm>
            <a:off x="530352" y="1901952"/>
            <a:ext cx="11064240" cy="548640"/>
          </a:xfrm>
          <a:prstGeom prst="rect">
            <a:avLst/>
          </a:prstGeom>
          <a:noFill/>
        </p:spPr>
        <p:txBody>
          <a:bodyPr wrap="square" lIns="0" rIns="0" tIns="0" bIns="0">
            <a:spAutoFit/>
          </a:bodyPr>
          <a:lstStyle/>
          <a:p>
            <a:pPr>
              <a:spcAft>
                <a:spcPts val="500"/>
              </a:spcAft>
              <a:defRPr sz="1800" b="0">
                <a:solidFill>
                  <a:srgbClr val="F3F1E7"/>
                </a:solidFill>
                <a:latin typeface="Arial"/>
              </a:defRPr>
            </a:pPr>
            <a:r>
              <a:t>Define the minimum complete solution after the problem identity is confirmed.</a:t>
            </a:r>
          </a:p>
        </p:txBody>
      </p:sp>
      <p:cxnSp>
        <p:nvCxnSpPr>
          <p:cNvPr id="7" name="Connector 6"/>
          <p:cNvCxnSpPr/>
          <p:nvPr/>
        </p:nvCxnSpPr>
        <p:spPr>
          <a:xfrm>
            <a:off x="502920" y="6364224"/>
            <a:ext cx="11183112" cy="0"/>
          </a:xfrm>
          <a:prstGeom prst="line">
            <a:avLst/>
          </a:prstGeom>
          <a:ln w="8890">
            <a:solidFill>
              <a:srgbClr val="29473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10528"/>
            <a:ext cx="9144000" cy="182880"/>
          </a:xfrm>
          <a:prstGeom prst="rect">
            <a:avLst/>
          </a:prstGeom>
          <a:noFill/>
        </p:spPr>
        <p:txBody>
          <a:bodyPr wrap="square" lIns="0" rIns="0" tIns="0" bIns="0">
            <a:spAutoFit/>
          </a:bodyPr>
          <a:lstStyle/>
          <a:p>
            <a:pPr>
              <a:spcAft>
                <a:spcPts val="500"/>
              </a:spcAft>
              <a:defRPr sz="1000" b="0">
                <a:solidFill>
                  <a:srgbClr val="F3F1E7"/>
                </a:solidFill>
                <a:latin typeface="Arial"/>
              </a:defRPr>
            </a:pPr>
            <a:r>
              <a:t>SIH2171 · IDENTITY UNVERIFIED  /  EXPANDED BLUEPRINT</a:t>
            </a:r>
          </a:p>
        </p:txBody>
      </p:sp>
      <p:sp>
        <p:nvSpPr>
          <p:cNvPr id="9" name="TextBox 8"/>
          <p:cNvSpPr txBox="1"/>
          <p:nvPr/>
        </p:nvSpPr>
        <p:spPr>
          <a:xfrm>
            <a:off x="10881360" y="6510528"/>
            <a:ext cx="822960" cy="182880"/>
          </a:xfrm>
          <a:prstGeom prst="rect">
            <a:avLst/>
          </a:prstGeom>
          <a:noFill/>
        </p:spPr>
        <p:txBody>
          <a:bodyPr wrap="square" lIns="0" rIns="0" tIns="0" bIns="0">
            <a:spAutoFit/>
          </a:bodyPr>
          <a:lstStyle/>
          <a:p>
            <a:pPr>
              <a:spcAft>
                <a:spcPts val="500"/>
              </a:spcAft>
              <a:defRPr sz="1000" b="0">
                <a:solidFill>
                  <a:srgbClr val="F3F1E7"/>
                </a:solidFill>
                <a:latin typeface="Arial"/>
              </a:defRPr>
            </a:pPr>
            <a:r>
              <a:t>05 / 15</a:t>
            </a:r>
          </a:p>
        </p:txBody>
      </p:sp>
      <p:sp>
        <p:nvSpPr>
          <p:cNvPr id="10" name="TextBox 9"/>
          <p:cNvSpPr txBox="1"/>
          <p:nvPr/>
        </p:nvSpPr>
        <p:spPr>
          <a:xfrm>
            <a:off x="576072" y="2944368"/>
            <a:ext cx="7315200" cy="365760"/>
          </a:xfrm>
          <a:prstGeom prst="rect">
            <a:avLst/>
          </a:prstGeom>
          <a:noFill/>
        </p:spPr>
        <p:txBody>
          <a:bodyPr wrap="square" lIns="0" rIns="0" tIns="0" bIns="0">
            <a:spAutoFit/>
          </a:bodyPr>
          <a:lstStyle/>
          <a:p>
            <a:pPr>
              <a:spcAft>
                <a:spcPts val="500"/>
              </a:spcAft>
              <a:defRPr sz="1500" b="1">
                <a:solidFill>
                  <a:srgbClr val="D8F36A"/>
                </a:solidFill>
                <a:latin typeface="Arial"/>
              </a:defRPr>
            </a:pPr>
            <a:r>
              <a:t>FOR [VERIFIED USER]</a:t>
            </a:r>
          </a:p>
        </p:txBody>
      </p:sp>
      <p:sp>
        <p:nvSpPr>
          <p:cNvPr id="11" name="TextBox 10"/>
          <p:cNvSpPr txBox="1"/>
          <p:nvPr/>
        </p:nvSpPr>
        <p:spPr>
          <a:xfrm>
            <a:off x="576072" y="3529584"/>
            <a:ext cx="10789920" cy="1600200"/>
          </a:xfrm>
          <a:prstGeom prst="rect">
            <a:avLst/>
          </a:prstGeom>
          <a:noFill/>
        </p:spPr>
        <p:txBody>
          <a:bodyPr wrap="square" lIns="0" rIns="0" tIns="0" bIns="0">
            <a:spAutoFit/>
          </a:bodyPr>
          <a:lstStyle/>
          <a:p>
            <a:pPr>
              <a:spcAft>
                <a:spcPts val="500"/>
              </a:spcAft>
              <a:defRPr sz="3600" b="1">
                <a:solidFill>
                  <a:srgbClr val="F3F1E7"/>
                </a:solidFill>
                <a:latin typeface="Arial"/>
              </a:defRPr>
            </a:pPr>
            <a:r>
              <a:t>Enable [specific outcome]</a:t>
            </a:r>
          </a:p>
          <a:p>
            <a:pPr>
              <a:spcAft>
                <a:spcPts val="500"/>
              </a:spcAft>
              <a:defRPr sz="3600" b="1">
                <a:solidFill>
                  <a:srgbClr val="F3F1E7"/>
                </a:solidFill>
                <a:latin typeface="Arial"/>
              </a:defRPr>
            </a:pPr>
            <a:r>
              <a:t>through [testable mechanism].</a:t>
            </a:r>
          </a:p>
        </p:txBody>
      </p:sp>
      <p:sp>
        <p:nvSpPr>
          <p:cNvPr id="12" name="TextBox 11"/>
          <p:cNvSpPr txBox="1"/>
          <p:nvPr/>
        </p:nvSpPr>
        <p:spPr>
          <a:xfrm>
            <a:off x="576072" y="5541264"/>
            <a:ext cx="10972800" cy="457200"/>
          </a:xfrm>
          <a:prstGeom prst="rect">
            <a:avLst/>
          </a:prstGeom>
          <a:noFill/>
        </p:spPr>
        <p:txBody>
          <a:bodyPr wrap="square" lIns="0" rIns="0" tIns="0" bIns="0">
            <a:spAutoFit/>
          </a:bodyPr>
          <a:lstStyle/>
          <a:p>
            <a:pPr>
              <a:spcAft>
                <a:spcPts val="500"/>
              </a:spcAft>
              <a:defRPr sz="1900" b="0">
                <a:solidFill>
                  <a:srgbClr val="F3F1E7"/>
                </a:solidFill>
                <a:latin typeface="Arial"/>
              </a:defRPr>
            </a:pPr>
            <a:r>
              <a:t>Success condition → [measurable task result]     Boundary → [explicit exclusion]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02920" y="292608"/>
            <a:ext cx="7315200" cy="237744"/>
          </a:xfrm>
          <a:prstGeom prst="rect">
            <a:avLst/>
          </a:prstGeom>
          <a:noFill/>
        </p:spPr>
        <p:txBody>
          <a:bodyPr wrap="square" lIns="0" rIns="0" tIns="0" bIns="0">
            <a:spAutoFit/>
          </a:bodyPr>
          <a:lstStyle/>
          <a:p>
            <a:pPr>
              <a:spcAft>
                <a:spcPts val="500"/>
              </a:spcAft>
              <a:defRPr sz="1100" b="1">
                <a:solidFill>
                  <a:srgbClr val="29473F"/>
                </a:solidFill>
                <a:latin typeface="Arial"/>
              </a:defRPr>
            </a:pPr>
            <a:r>
              <a:t>TECHNICAL APPROACH</a:t>
            </a:r>
          </a:p>
        </p:txBody>
      </p:sp>
      <p:sp>
        <p:nvSpPr>
          <p:cNvPr id="3" name="Rectangle 2"/>
          <p:cNvSpPr/>
          <p:nvPr/>
        </p:nvSpPr>
        <p:spPr>
          <a:xfrm>
            <a:off x="8668512" y="210312"/>
            <a:ext cx="3017520" cy="39319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23960" y="292608"/>
            <a:ext cx="2743200" cy="201168"/>
          </a:xfrm>
          <a:prstGeom prst="rect">
            <a:avLst/>
          </a:prstGeom>
          <a:noFill/>
        </p:spPr>
        <p:txBody>
          <a:bodyPr wrap="square" lIns="0" rIns="0" tIns="0" bIns="0">
            <a:spAutoFit/>
          </a:bodyPr>
          <a:lstStyle/>
          <a:p>
            <a:pPr>
              <a:spcAft>
                <a:spcPts val="500"/>
              </a:spcAft>
              <a:defRPr sz="1200" b="1">
                <a:solidFill>
                  <a:srgbClr val="15211F"/>
                </a:solidFill>
                <a:latin typeface="Arial"/>
              </a:defRPr>
            </a:pPr>
            <a:r>
              <a:t>NOT SUBMISSION READY</a:t>
            </a:r>
          </a:p>
        </p:txBody>
      </p:sp>
      <p:sp>
        <p:nvSpPr>
          <p:cNvPr id="5" name="TextBox 4"/>
          <p:cNvSpPr txBox="1"/>
          <p:nvPr/>
        </p:nvSpPr>
        <p:spPr>
          <a:xfrm>
            <a:off x="502920" y="859536"/>
            <a:ext cx="11064240" cy="1024128"/>
          </a:xfrm>
          <a:prstGeom prst="rect">
            <a:avLst/>
          </a:prstGeom>
          <a:noFill/>
        </p:spPr>
        <p:txBody>
          <a:bodyPr wrap="square" lIns="0" rIns="0" tIns="0" bIns="0">
            <a:spAutoFit/>
          </a:bodyPr>
          <a:lstStyle/>
          <a:p>
            <a:pPr>
              <a:spcAft>
                <a:spcPts val="500"/>
              </a:spcAft>
              <a:defRPr sz="3900" b="1">
                <a:solidFill>
                  <a:srgbClr val="15211F"/>
                </a:solidFill>
                <a:latin typeface="Arial"/>
              </a:defRPr>
            </a:pPr>
            <a:r>
              <a:t>Show the path from input to action.</a:t>
            </a:r>
          </a:p>
        </p:txBody>
      </p:sp>
      <p:sp>
        <p:nvSpPr>
          <p:cNvPr id="6" name="TextBox 5"/>
          <p:cNvSpPr txBox="1"/>
          <p:nvPr/>
        </p:nvSpPr>
        <p:spPr>
          <a:xfrm>
            <a:off x="530352" y="1901952"/>
            <a:ext cx="11064240" cy="548640"/>
          </a:xfrm>
          <a:prstGeom prst="rect">
            <a:avLst/>
          </a:prstGeom>
          <a:noFill/>
        </p:spPr>
        <p:txBody>
          <a:bodyPr wrap="square" lIns="0" rIns="0" tIns="0" bIns="0">
            <a:spAutoFit/>
          </a:bodyPr>
          <a:lstStyle/>
          <a:p>
            <a:pPr>
              <a:spcAft>
                <a:spcPts val="500"/>
              </a:spcAft>
              <a:defRPr sz="1800" b="0">
                <a:solidFill>
                  <a:srgbClr val="52645C"/>
                </a:solidFill>
                <a:latin typeface="Arial"/>
              </a:defRPr>
            </a:pPr>
            <a:r>
              <a:t>Illustrative architecture only. Every component below is proposed, not implemented.</a:t>
            </a:r>
          </a:p>
        </p:txBody>
      </p:sp>
      <p:cxnSp>
        <p:nvCxnSpPr>
          <p:cNvPr id="7" name="Connector 6"/>
          <p:cNvCxnSpPr/>
          <p:nvPr/>
        </p:nvCxnSpPr>
        <p:spPr>
          <a:xfrm>
            <a:off x="502920" y="6364224"/>
            <a:ext cx="11183112"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10528"/>
            <a:ext cx="914400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SIH2171 · IDENTITY UNVERIFIED  /  EXPANDED BLUEPRINT</a:t>
            </a:r>
          </a:p>
        </p:txBody>
      </p:sp>
      <p:sp>
        <p:nvSpPr>
          <p:cNvPr id="9" name="TextBox 8"/>
          <p:cNvSpPr txBox="1"/>
          <p:nvPr/>
        </p:nvSpPr>
        <p:spPr>
          <a:xfrm>
            <a:off x="10881360" y="6510528"/>
            <a:ext cx="82296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06 / 15</a:t>
            </a:r>
          </a:p>
        </p:txBody>
      </p:sp>
      <p:sp>
        <p:nvSpPr>
          <p:cNvPr id="10" name="Rectangle 9"/>
          <p:cNvSpPr/>
          <p:nvPr/>
        </p:nvSpPr>
        <p:spPr>
          <a:xfrm>
            <a:off x="530352" y="2926080"/>
            <a:ext cx="2487168"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19" y="3090672"/>
            <a:ext cx="2084832" cy="256032"/>
          </a:xfrm>
          <a:prstGeom prst="rect">
            <a:avLst/>
          </a:prstGeom>
          <a:noFill/>
        </p:spPr>
        <p:txBody>
          <a:bodyPr wrap="square" lIns="0" rIns="0" tIns="0" bIns="0">
            <a:spAutoFit/>
          </a:bodyPr>
          <a:lstStyle/>
          <a:p>
            <a:pPr>
              <a:spcAft>
                <a:spcPts val="500"/>
              </a:spcAft>
              <a:defRPr sz="1100" b="1">
                <a:solidFill>
                  <a:srgbClr val="70420B"/>
                </a:solidFill>
                <a:latin typeface="Arial"/>
              </a:defRPr>
            </a:pPr>
            <a:r>
              <a:t>PROPOSED</a:t>
            </a:r>
          </a:p>
        </p:txBody>
      </p:sp>
      <p:sp>
        <p:nvSpPr>
          <p:cNvPr id="12" name="TextBox 11"/>
          <p:cNvSpPr txBox="1"/>
          <p:nvPr/>
        </p:nvSpPr>
        <p:spPr>
          <a:xfrm>
            <a:off x="731519" y="3529584"/>
            <a:ext cx="2084832" cy="594360"/>
          </a:xfrm>
          <a:prstGeom prst="rect">
            <a:avLst/>
          </a:prstGeom>
          <a:noFill/>
        </p:spPr>
        <p:txBody>
          <a:bodyPr wrap="square" lIns="0" rIns="0" tIns="0" bIns="0">
            <a:spAutoFit/>
          </a:bodyPr>
          <a:lstStyle/>
          <a:p>
            <a:pPr>
              <a:spcAft>
                <a:spcPts val="500"/>
              </a:spcAft>
              <a:defRPr sz="2400" b="1">
                <a:solidFill>
                  <a:srgbClr val="15211F"/>
                </a:solidFill>
                <a:latin typeface="Arial"/>
              </a:defRPr>
            </a:pPr>
            <a:r>
              <a:t>Interface</a:t>
            </a:r>
          </a:p>
        </p:txBody>
      </p:sp>
      <p:sp>
        <p:nvSpPr>
          <p:cNvPr id="13" name="TextBox 12"/>
          <p:cNvSpPr txBox="1"/>
          <p:nvPr/>
        </p:nvSpPr>
        <p:spPr>
          <a:xfrm>
            <a:off x="731519" y="4279392"/>
            <a:ext cx="2084832" cy="868679"/>
          </a:xfrm>
          <a:prstGeom prst="rect">
            <a:avLst/>
          </a:prstGeom>
          <a:noFill/>
        </p:spPr>
        <p:txBody>
          <a:bodyPr wrap="square" lIns="0" rIns="0" tIns="0" bIns="0">
            <a:spAutoFit/>
          </a:bodyPr>
          <a:lstStyle/>
          <a:p>
            <a:pPr>
              <a:spcAft>
                <a:spcPts val="500"/>
              </a:spcAft>
              <a:defRPr sz="1800" b="0">
                <a:solidFill>
                  <a:srgbClr val="52645C"/>
                </a:solidFill>
                <a:latin typeface="Arial"/>
              </a:defRPr>
            </a:pPr>
            <a:r>
              <a:t>Accessible task input</a:t>
            </a:r>
          </a:p>
        </p:txBody>
      </p:sp>
      <p:sp>
        <p:nvSpPr>
          <p:cNvPr id="14" name="Rectangle 13"/>
          <p:cNvSpPr/>
          <p:nvPr/>
        </p:nvSpPr>
        <p:spPr>
          <a:xfrm>
            <a:off x="3401568" y="2926080"/>
            <a:ext cx="2487168"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2736" y="3090672"/>
            <a:ext cx="2084832" cy="256032"/>
          </a:xfrm>
          <a:prstGeom prst="rect">
            <a:avLst/>
          </a:prstGeom>
          <a:noFill/>
        </p:spPr>
        <p:txBody>
          <a:bodyPr wrap="square" lIns="0" rIns="0" tIns="0" bIns="0">
            <a:spAutoFit/>
          </a:bodyPr>
          <a:lstStyle/>
          <a:p>
            <a:pPr>
              <a:spcAft>
                <a:spcPts val="500"/>
              </a:spcAft>
              <a:defRPr sz="1100" b="1">
                <a:solidFill>
                  <a:srgbClr val="70420B"/>
                </a:solidFill>
                <a:latin typeface="Arial"/>
              </a:defRPr>
            </a:pPr>
            <a:r>
              <a:t>PROPOSED</a:t>
            </a:r>
          </a:p>
        </p:txBody>
      </p:sp>
      <p:sp>
        <p:nvSpPr>
          <p:cNvPr id="16" name="TextBox 15"/>
          <p:cNvSpPr txBox="1"/>
          <p:nvPr/>
        </p:nvSpPr>
        <p:spPr>
          <a:xfrm>
            <a:off x="3602736" y="3529584"/>
            <a:ext cx="2084832" cy="594360"/>
          </a:xfrm>
          <a:prstGeom prst="rect">
            <a:avLst/>
          </a:prstGeom>
          <a:noFill/>
        </p:spPr>
        <p:txBody>
          <a:bodyPr wrap="square" lIns="0" rIns="0" tIns="0" bIns="0">
            <a:spAutoFit/>
          </a:bodyPr>
          <a:lstStyle/>
          <a:p>
            <a:pPr>
              <a:spcAft>
                <a:spcPts val="500"/>
              </a:spcAft>
              <a:defRPr sz="2400" b="1">
                <a:solidFill>
                  <a:srgbClr val="15211F"/>
                </a:solidFill>
                <a:latin typeface="Arial"/>
              </a:defRPr>
            </a:pPr>
            <a:r>
              <a:t>API / rules</a:t>
            </a:r>
          </a:p>
        </p:txBody>
      </p:sp>
      <p:sp>
        <p:nvSpPr>
          <p:cNvPr id="17" name="TextBox 16"/>
          <p:cNvSpPr txBox="1"/>
          <p:nvPr/>
        </p:nvSpPr>
        <p:spPr>
          <a:xfrm>
            <a:off x="3602736" y="4279392"/>
            <a:ext cx="2084832" cy="868679"/>
          </a:xfrm>
          <a:prstGeom prst="rect">
            <a:avLst/>
          </a:prstGeom>
          <a:noFill/>
        </p:spPr>
        <p:txBody>
          <a:bodyPr wrap="square" lIns="0" rIns="0" tIns="0" bIns="0">
            <a:spAutoFit/>
          </a:bodyPr>
          <a:lstStyle/>
          <a:p>
            <a:pPr>
              <a:spcAft>
                <a:spcPts val="500"/>
              </a:spcAft>
              <a:defRPr sz="1800" b="0">
                <a:solidFill>
                  <a:srgbClr val="52645C"/>
                </a:solidFill>
                <a:latin typeface="Arial"/>
              </a:defRPr>
            </a:pPr>
            <a:r>
              <a:t>Validate and process</a:t>
            </a:r>
          </a:p>
        </p:txBody>
      </p:sp>
      <p:sp>
        <p:nvSpPr>
          <p:cNvPr id="18" name="Rectangle 17"/>
          <p:cNvSpPr/>
          <p:nvPr/>
        </p:nvSpPr>
        <p:spPr>
          <a:xfrm>
            <a:off x="6272784" y="2926080"/>
            <a:ext cx="2487168"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3090672"/>
            <a:ext cx="2084832" cy="256032"/>
          </a:xfrm>
          <a:prstGeom prst="rect">
            <a:avLst/>
          </a:prstGeom>
          <a:noFill/>
        </p:spPr>
        <p:txBody>
          <a:bodyPr wrap="square" lIns="0" rIns="0" tIns="0" bIns="0">
            <a:spAutoFit/>
          </a:bodyPr>
          <a:lstStyle/>
          <a:p>
            <a:pPr>
              <a:spcAft>
                <a:spcPts val="500"/>
              </a:spcAft>
              <a:defRPr sz="1100" b="1">
                <a:solidFill>
                  <a:srgbClr val="70420B"/>
                </a:solidFill>
                <a:latin typeface="Arial"/>
              </a:defRPr>
            </a:pPr>
            <a:r>
              <a:t>PROPOSED</a:t>
            </a:r>
          </a:p>
        </p:txBody>
      </p:sp>
      <p:sp>
        <p:nvSpPr>
          <p:cNvPr id="20" name="TextBox 19"/>
          <p:cNvSpPr txBox="1"/>
          <p:nvPr/>
        </p:nvSpPr>
        <p:spPr>
          <a:xfrm>
            <a:off x="6473952" y="3529584"/>
            <a:ext cx="2084832" cy="594360"/>
          </a:xfrm>
          <a:prstGeom prst="rect">
            <a:avLst/>
          </a:prstGeom>
          <a:noFill/>
        </p:spPr>
        <p:txBody>
          <a:bodyPr wrap="square" lIns="0" rIns="0" tIns="0" bIns="0">
            <a:spAutoFit/>
          </a:bodyPr>
          <a:lstStyle/>
          <a:p>
            <a:pPr>
              <a:spcAft>
                <a:spcPts val="500"/>
              </a:spcAft>
              <a:defRPr sz="2400" b="1">
                <a:solidFill>
                  <a:srgbClr val="15211F"/>
                </a:solidFill>
                <a:latin typeface="Arial"/>
              </a:defRPr>
            </a:pPr>
            <a:r>
              <a:t>Persistence</a:t>
            </a:r>
          </a:p>
        </p:txBody>
      </p:sp>
      <p:sp>
        <p:nvSpPr>
          <p:cNvPr id="21" name="TextBox 20"/>
          <p:cNvSpPr txBox="1"/>
          <p:nvPr/>
        </p:nvSpPr>
        <p:spPr>
          <a:xfrm>
            <a:off x="6473952" y="4279392"/>
            <a:ext cx="2084832" cy="868679"/>
          </a:xfrm>
          <a:prstGeom prst="rect">
            <a:avLst/>
          </a:prstGeom>
          <a:noFill/>
        </p:spPr>
        <p:txBody>
          <a:bodyPr wrap="square" lIns="0" rIns="0" tIns="0" bIns="0">
            <a:spAutoFit/>
          </a:bodyPr>
          <a:lstStyle/>
          <a:p>
            <a:pPr>
              <a:spcAft>
                <a:spcPts val="500"/>
              </a:spcAft>
              <a:defRPr sz="1800" b="0">
                <a:solidFill>
                  <a:srgbClr val="52645C"/>
                </a:solidFill>
                <a:latin typeface="Arial"/>
              </a:defRPr>
            </a:pPr>
            <a:r>
              <a:t>Store required state</a:t>
            </a:r>
          </a:p>
        </p:txBody>
      </p:sp>
      <p:sp>
        <p:nvSpPr>
          <p:cNvPr id="22" name="Rectangle 21"/>
          <p:cNvSpPr/>
          <p:nvPr/>
        </p:nvSpPr>
        <p:spPr>
          <a:xfrm>
            <a:off x="9144000" y="2926080"/>
            <a:ext cx="2487168"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45168" y="3090672"/>
            <a:ext cx="2084832" cy="256032"/>
          </a:xfrm>
          <a:prstGeom prst="rect">
            <a:avLst/>
          </a:prstGeom>
          <a:noFill/>
        </p:spPr>
        <p:txBody>
          <a:bodyPr wrap="square" lIns="0" rIns="0" tIns="0" bIns="0">
            <a:spAutoFit/>
          </a:bodyPr>
          <a:lstStyle/>
          <a:p>
            <a:pPr>
              <a:spcAft>
                <a:spcPts val="500"/>
              </a:spcAft>
              <a:defRPr sz="1100" b="1">
                <a:solidFill>
                  <a:srgbClr val="70420B"/>
                </a:solidFill>
                <a:latin typeface="Arial"/>
              </a:defRPr>
            </a:pPr>
            <a:r>
              <a:t>PROPOSED</a:t>
            </a:r>
          </a:p>
        </p:txBody>
      </p:sp>
      <p:sp>
        <p:nvSpPr>
          <p:cNvPr id="24" name="TextBox 23"/>
          <p:cNvSpPr txBox="1"/>
          <p:nvPr/>
        </p:nvSpPr>
        <p:spPr>
          <a:xfrm>
            <a:off x="9345168" y="3529584"/>
            <a:ext cx="2084832" cy="594360"/>
          </a:xfrm>
          <a:prstGeom prst="rect">
            <a:avLst/>
          </a:prstGeom>
          <a:noFill/>
        </p:spPr>
        <p:txBody>
          <a:bodyPr wrap="square" lIns="0" rIns="0" tIns="0" bIns="0">
            <a:spAutoFit/>
          </a:bodyPr>
          <a:lstStyle/>
          <a:p>
            <a:pPr>
              <a:spcAft>
                <a:spcPts val="500"/>
              </a:spcAft>
              <a:defRPr sz="2400" b="1">
                <a:solidFill>
                  <a:srgbClr val="15211F"/>
                </a:solidFill>
                <a:latin typeface="Arial"/>
              </a:defRPr>
            </a:pPr>
            <a:r>
              <a:t>Result</a:t>
            </a:r>
          </a:p>
        </p:txBody>
      </p:sp>
      <p:sp>
        <p:nvSpPr>
          <p:cNvPr id="25" name="TextBox 24"/>
          <p:cNvSpPr txBox="1"/>
          <p:nvPr/>
        </p:nvSpPr>
        <p:spPr>
          <a:xfrm>
            <a:off x="9345168" y="4279392"/>
            <a:ext cx="2084832" cy="868679"/>
          </a:xfrm>
          <a:prstGeom prst="rect">
            <a:avLst/>
          </a:prstGeom>
          <a:noFill/>
        </p:spPr>
        <p:txBody>
          <a:bodyPr wrap="square" lIns="0" rIns="0" tIns="0" bIns="0">
            <a:spAutoFit/>
          </a:bodyPr>
          <a:lstStyle/>
          <a:p>
            <a:pPr>
              <a:spcAft>
                <a:spcPts val="500"/>
              </a:spcAft>
              <a:defRPr sz="1800" b="0">
                <a:solidFill>
                  <a:srgbClr val="52645C"/>
                </a:solidFill>
                <a:latin typeface="Arial"/>
              </a:defRPr>
            </a:pPr>
            <a:r>
              <a:t>Explain next action</a:t>
            </a:r>
          </a:p>
        </p:txBody>
      </p:sp>
      <p:sp>
        <p:nvSpPr>
          <p:cNvPr id="26" name="Chevron 25"/>
          <p:cNvSpPr/>
          <p:nvPr/>
        </p:nvSpPr>
        <p:spPr>
          <a:xfrm>
            <a:off x="3063240" y="4050791"/>
            <a:ext cx="256032" cy="228600"/>
          </a:xfrm>
          <a:prstGeom prst="chevron">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hevron 26"/>
          <p:cNvSpPr/>
          <p:nvPr/>
        </p:nvSpPr>
        <p:spPr>
          <a:xfrm>
            <a:off x="5934456" y="4050791"/>
            <a:ext cx="256032" cy="228600"/>
          </a:xfrm>
          <a:prstGeom prst="chevron">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hevron 27"/>
          <p:cNvSpPr/>
          <p:nvPr/>
        </p:nvSpPr>
        <p:spPr>
          <a:xfrm>
            <a:off x="8805672" y="4050791"/>
            <a:ext cx="256032" cy="228600"/>
          </a:xfrm>
          <a:prstGeom prst="chevron">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705856"/>
            <a:ext cx="10972800" cy="384048"/>
          </a:xfrm>
          <a:prstGeom prst="rect">
            <a:avLst/>
          </a:prstGeom>
          <a:noFill/>
        </p:spPr>
        <p:txBody>
          <a:bodyPr wrap="square" lIns="0" rIns="0" tIns="0" bIns="0">
            <a:spAutoFit/>
          </a:bodyPr>
          <a:lstStyle/>
          <a:p>
            <a:pPr>
              <a:spcAft>
                <a:spcPts val="500"/>
              </a:spcAft>
              <a:defRPr sz="1800" b="0">
                <a:solidFill>
                  <a:srgbClr val="52645C"/>
                </a:solidFill>
                <a:latin typeface="Arial"/>
              </a:defRPr>
            </a:pPr>
            <a:r>
              <a:t>Choose stack after domain review. Add trust boundaries, data rights and failure paths.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02920" y="292608"/>
            <a:ext cx="7315200" cy="237744"/>
          </a:xfrm>
          <a:prstGeom prst="rect">
            <a:avLst/>
          </a:prstGeom>
          <a:noFill/>
        </p:spPr>
        <p:txBody>
          <a:bodyPr wrap="square" lIns="0" rIns="0" tIns="0" bIns="0">
            <a:spAutoFit/>
          </a:bodyPr>
          <a:lstStyle/>
          <a:p>
            <a:pPr>
              <a:spcAft>
                <a:spcPts val="500"/>
              </a:spcAft>
              <a:defRPr sz="1100" b="1">
                <a:solidFill>
                  <a:srgbClr val="29473F"/>
                </a:solidFill>
                <a:latin typeface="Arial"/>
              </a:defRPr>
            </a:pPr>
            <a:r>
              <a:t>TECHNICAL APPROACH</a:t>
            </a:r>
          </a:p>
        </p:txBody>
      </p:sp>
      <p:sp>
        <p:nvSpPr>
          <p:cNvPr id="3" name="Rectangle 2"/>
          <p:cNvSpPr/>
          <p:nvPr/>
        </p:nvSpPr>
        <p:spPr>
          <a:xfrm>
            <a:off x="8668512" y="210312"/>
            <a:ext cx="3017520" cy="39319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23960" y="292608"/>
            <a:ext cx="2743200" cy="201168"/>
          </a:xfrm>
          <a:prstGeom prst="rect">
            <a:avLst/>
          </a:prstGeom>
          <a:noFill/>
        </p:spPr>
        <p:txBody>
          <a:bodyPr wrap="square" lIns="0" rIns="0" tIns="0" bIns="0">
            <a:spAutoFit/>
          </a:bodyPr>
          <a:lstStyle/>
          <a:p>
            <a:pPr>
              <a:spcAft>
                <a:spcPts val="500"/>
              </a:spcAft>
              <a:defRPr sz="1200" b="1">
                <a:solidFill>
                  <a:srgbClr val="15211F"/>
                </a:solidFill>
                <a:latin typeface="Arial"/>
              </a:defRPr>
            </a:pPr>
            <a:r>
              <a:t>NOT SUBMISSION READY</a:t>
            </a:r>
          </a:p>
        </p:txBody>
      </p:sp>
      <p:sp>
        <p:nvSpPr>
          <p:cNvPr id="5" name="TextBox 4"/>
          <p:cNvSpPr txBox="1"/>
          <p:nvPr/>
        </p:nvSpPr>
        <p:spPr>
          <a:xfrm>
            <a:off x="502920" y="859536"/>
            <a:ext cx="11064240" cy="1024128"/>
          </a:xfrm>
          <a:prstGeom prst="rect">
            <a:avLst/>
          </a:prstGeom>
          <a:noFill/>
        </p:spPr>
        <p:txBody>
          <a:bodyPr wrap="square" lIns="0" rIns="0" tIns="0" bIns="0">
            <a:spAutoFit/>
          </a:bodyPr>
          <a:lstStyle/>
          <a:p>
            <a:pPr>
              <a:spcAft>
                <a:spcPts val="500"/>
              </a:spcAft>
              <a:defRPr sz="3900" b="1">
                <a:solidFill>
                  <a:srgbClr val="15211F"/>
                </a:solidFill>
                <a:latin typeface="Arial"/>
              </a:defRPr>
            </a:pPr>
            <a:r>
              <a:t>Demonstrate a complete task.</a:t>
            </a:r>
          </a:p>
        </p:txBody>
      </p:sp>
      <p:sp>
        <p:nvSpPr>
          <p:cNvPr id="6" name="TextBox 5"/>
          <p:cNvSpPr txBox="1"/>
          <p:nvPr/>
        </p:nvSpPr>
        <p:spPr>
          <a:xfrm>
            <a:off x="530352" y="1901952"/>
            <a:ext cx="11064240" cy="548640"/>
          </a:xfrm>
          <a:prstGeom prst="rect">
            <a:avLst/>
          </a:prstGeom>
          <a:noFill/>
        </p:spPr>
        <p:txBody>
          <a:bodyPr wrap="square" lIns="0" rIns="0" tIns="0" bIns="0">
            <a:spAutoFit/>
          </a:bodyPr>
          <a:lstStyle/>
          <a:p>
            <a:pPr>
              <a:spcAft>
                <a:spcPts val="500"/>
              </a:spcAft>
              <a:defRPr sz="1800" b="0">
                <a:solidFill>
                  <a:srgbClr val="52645C"/>
                </a:solidFill>
                <a:latin typeface="Arial"/>
              </a:defRPr>
            </a:pPr>
            <a:r>
              <a:t>A screen is not evidence of a workflow. Capture the actual delivered build.</a:t>
            </a:r>
          </a:p>
        </p:txBody>
      </p:sp>
      <p:cxnSp>
        <p:nvCxnSpPr>
          <p:cNvPr id="7" name="Connector 6"/>
          <p:cNvCxnSpPr/>
          <p:nvPr/>
        </p:nvCxnSpPr>
        <p:spPr>
          <a:xfrm>
            <a:off x="502920" y="6364224"/>
            <a:ext cx="11183112"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10528"/>
            <a:ext cx="914400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SIH2171 · IDENTITY UNVERIFIED  /  EXPANDED BLUEPRINT</a:t>
            </a:r>
          </a:p>
        </p:txBody>
      </p:sp>
      <p:sp>
        <p:nvSpPr>
          <p:cNvPr id="9" name="TextBox 8"/>
          <p:cNvSpPr txBox="1"/>
          <p:nvPr/>
        </p:nvSpPr>
        <p:spPr>
          <a:xfrm>
            <a:off x="10881360" y="6510528"/>
            <a:ext cx="82296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07 / 15</a:t>
            </a:r>
          </a:p>
        </p:txBody>
      </p:sp>
      <p:sp>
        <p:nvSpPr>
          <p:cNvPr id="10" name="Rectangle 9"/>
          <p:cNvSpPr/>
          <p:nvPr/>
        </p:nvSpPr>
        <p:spPr>
          <a:xfrm>
            <a:off x="530352" y="2761488"/>
            <a:ext cx="7086600" cy="3108960"/>
          </a:xfrm>
          <a:prstGeom prst="rect">
            <a:avLst/>
          </a:prstGeom>
          <a:solidFill>
            <a:srgbClr val="FFFFFF"/>
          </a:solidFill>
          <a:ln>
            <a:solidFill>
              <a:srgbClr val="294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063240"/>
            <a:ext cx="6583680" cy="365760"/>
          </a:xfrm>
          <a:prstGeom prst="rect">
            <a:avLst/>
          </a:prstGeom>
          <a:noFill/>
        </p:spPr>
        <p:txBody>
          <a:bodyPr wrap="square" lIns="0" rIns="0" tIns="0" bIns="0">
            <a:spAutoFit/>
          </a:bodyPr>
          <a:lstStyle/>
          <a:p>
            <a:pPr>
              <a:spcAft>
                <a:spcPts val="500"/>
              </a:spcAft>
              <a:defRPr sz="1600" b="1">
                <a:solidFill>
                  <a:srgbClr val="70420B"/>
                </a:solidFill>
                <a:latin typeface="Arial"/>
              </a:defRPr>
            </a:pPr>
            <a:r>
              <a:t>DEMO CAPTURE SLOT</a:t>
            </a:r>
          </a:p>
        </p:txBody>
      </p:sp>
      <p:sp>
        <p:nvSpPr>
          <p:cNvPr id="12" name="TextBox 11"/>
          <p:cNvSpPr txBox="1"/>
          <p:nvPr/>
        </p:nvSpPr>
        <p:spPr>
          <a:xfrm>
            <a:off x="777240" y="3776472"/>
            <a:ext cx="6400800" cy="1042415"/>
          </a:xfrm>
          <a:prstGeom prst="rect">
            <a:avLst/>
          </a:prstGeom>
          <a:noFill/>
        </p:spPr>
        <p:txBody>
          <a:bodyPr wrap="square" lIns="0" rIns="0" tIns="0" bIns="0">
            <a:spAutoFit/>
          </a:bodyPr>
          <a:lstStyle/>
          <a:p>
            <a:pPr>
              <a:spcAft>
                <a:spcPts val="500"/>
              </a:spcAft>
              <a:defRPr sz="3100" b="1">
                <a:solidFill>
                  <a:srgbClr val="15211F"/>
                </a:solidFill>
                <a:latin typeface="Arial"/>
              </a:defRPr>
            </a:pPr>
            <a:r>
              <a:t>No prototype screenshot</a:t>
            </a:r>
          </a:p>
          <a:p>
            <a:pPr>
              <a:spcAft>
                <a:spcPts val="500"/>
              </a:spcAft>
              <a:defRPr sz="3100" b="1">
                <a:solidFill>
                  <a:srgbClr val="15211F"/>
                </a:solidFill>
                <a:latin typeface="Arial"/>
              </a:defRPr>
            </a:pPr>
            <a:r>
              <a:t>or video available.</a:t>
            </a:r>
          </a:p>
        </p:txBody>
      </p:sp>
      <p:sp>
        <p:nvSpPr>
          <p:cNvPr id="13" name="TextBox 12"/>
          <p:cNvSpPr txBox="1"/>
          <p:nvPr/>
        </p:nvSpPr>
        <p:spPr>
          <a:xfrm>
            <a:off x="777240" y="5138928"/>
            <a:ext cx="6400800" cy="502920"/>
          </a:xfrm>
          <a:prstGeom prst="rect">
            <a:avLst/>
          </a:prstGeom>
          <a:noFill/>
        </p:spPr>
        <p:txBody>
          <a:bodyPr wrap="square" lIns="0" rIns="0" tIns="0" bIns="0">
            <a:spAutoFit/>
          </a:bodyPr>
          <a:lstStyle/>
          <a:p>
            <a:pPr>
              <a:spcAft>
                <a:spcPts val="500"/>
              </a:spcAft>
              <a:defRPr sz="1800" b="0">
                <a:solidFill>
                  <a:srgbClr val="52645C"/>
                </a:solidFill>
                <a:latin typeface="Arial"/>
              </a:defRPr>
            </a:pPr>
            <a:r>
              <a:t>Replace with a real workflow capture after functional validation.</a:t>
            </a:r>
          </a:p>
        </p:txBody>
      </p:sp>
      <p:sp>
        <p:nvSpPr>
          <p:cNvPr id="14" name="TextBox 13"/>
          <p:cNvSpPr txBox="1"/>
          <p:nvPr/>
        </p:nvSpPr>
        <p:spPr>
          <a:xfrm>
            <a:off x="8129016" y="3063240"/>
            <a:ext cx="3520440" cy="2542032"/>
          </a:xfrm>
          <a:prstGeom prst="rect">
            <a:avLst/>
          </a:prstGeom>
          <a:noFill/>
        </p:spPr>
        <p:txBody>
          <a:bodyPr wrap="square" lIns="0" rIns="0" tIns="0" bIns="0">
            <a:spAutoFit/>
          </a:bodyPr>
          <a:lstStyle/>
          <a:p>
            <a:pPr>
              <a:spcAft>
                <a:spcPts val="500"/>
              </a:spcAft>
              <a:defRPr sz="2200" b="1">
                <a:solidFill>
                  <a:srgbClr val="15211F"/>
                </a:solidFill>
                <a:latin typeface="Arial"/>
              </a:defRPr>
            </a:pPr>
            <a:r>
              <a:t>01  Start from known data</a:t>
            </a:r>
          </a:p>
          <a:p>
            <a:pPr>
              <a:spcAft>
                <a:spcPts val="500"/>
              </a:spcAft>
              <a:defRPr sz="2200" b="1">
                <a:solidFill>
                  <a:srgbClr val="15211F"/>
                </a:solidFill>
                <a:latin typeface="Arial"/>
              </a:defRPr>
            </a:pPr>
            <a:r>
              <a:t>02  Complete the core action</a:t>
            </a:r>
          </a:p>
          <a:p>
            <a:pPr>
              <a:spcAft>
                <a:spcPts val="500"/>
              </a:spcAft>
              <a:defRPr sz="2200" b="1">
                <a:solidFill>
                  <a:srgbClr val="15211F"/>
                </a:solidFill>
                <a:latin typeface="Arial"/>
              </a:defRPr>
            </a:pPr>
            <a:r>
              <a:t>03  Verify stored result</a:t>
            </a:r>
          </a:p>
          <a:p>
            <a:pPr>
              <a:spcAft>
                <a:spcPts val="500"/>
              </a:spcAft>
              <a:defRPr sz="2200" b="1">
                <a:solidFill>
                  <a:srgbClr val="15211F"/>
                </a:solidFill>
                <a:latin typeface="Arial"/>
              </a:defRPr>
            </a:pPr>
            <a:r>
              <a:t>04  Explain the outcome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02920" y="292608"/>
            <a:ext cx="7315200" cy="237744"/>
          </a:xfrm>
          <a:prstGeom prst="rect">
            <a:avLst/>
          </a:prstGeom>
          <a:noFill/>
        </p:spPr>
        <p:txBody>
          <a:bodyPr wrap="square" lIns="0" rIns="0" tIns="0" bIns="0">
            <a:spAutoFit/>
          </a:bodyPr>
          <a:lstStyle/>
          <a:p>
            <a:pPr>
              <a:spcAft>
                <a:spcPts val="500"/>
              </a:spcAft>
              <a:defRPr sz="1100" b="1">
                <a:solidFill>
                  <a:srgbClr val="29473F"/>
                </a:solidFill>
                <a:latin typeface="Arial"/>
              </a:defRPr>
            </a:pPr>
            <a:r>
              <a:t>TECHNICAL APPROACH</a:t>
            </a:r>
          </a:p>
        </p:txBody>
      </p:sp>
      <p:sp>
        <p:nvSpPr>
          <p:cNvPr id="3" name="Rectangle 2"/>
          <p:cNvSpPr/>
          <p:nvPr/>
        </p:nvSpPr>
        <p:spPr>
          <a:xfrm>
            <a:off x="8668512" y="210312"/>
            <a:ext cx="3017520" cy="39319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23960" y="292608"/>
            <a:ext cx="2743200" cy="201168"/>
          </a:xfrm>
          <a:prstGeom prst="rect">
            <a:avLst/>
          </a:prstGeom>
          <a:noFill/>
        </p:spPr>
        <p:txBody>
          <a:bodyPr wrap="square" lIns="0" rIns="0" tIns="0" bIns="0">
            <a:spAutoFit/>
          </a:bodyPr>
          <a:lstStyle/>
          <a:p>
            <a:pPr>
              <a:spcAft>
                <a:spcPts val="500"/>
              </a:spcAft>
              <a:defRPr sz="1200" b="1">
                <a:solidFill>
                  <a:srgbClr val="15211F"/>
                </a:solidFill>
                <a:latin typeface="Arial"/>
              </a:defRPr>
            </a:pPr>
            <a:r>
              <a:t>NOT SUBMISSION READY</a:t>
            </a:r>
          </a:p>
        </p:txBody>
      </p:sp>
      <p:sp>
        <p:nvSpPr>
          <p:cNvPr id="5" name="TextBox 4"/>
          <p:cNvSpPr txBox="1"/>
          <p:nvPr/>
        </p:nvSpPr>
        <p:spPr>
          <a:xfrm>
            <a:off x="502920" y="859536"/>
            <a:ext cx="11064240" cy="1024128"/>
          </a:xfrm>
          <a:prstGeom prst="rect">
            <a:avLst/>
          </a:prstGeom>
          <a:noFill/>
        </p:spPr>
        <p:txBody>
          <a:bodyPr wrap="square" lIns="0" rIns="0" tIns="0" bIns="0">
            <a:spAutoFit/>
          </a:bodyPr>
          <a:lstStyle/>
          <a:p>
            <a:pPr>
              <a:spcAft>
                <a:spcPts val="500"/>
              </a:spcAft>
              <a:defRPr sz="3900" b="1">
                <a:solidFill>
                  <a:srgbClr val="15211F"/>
                </a:solidFill>
                <a:latin typeface="Arial"/>
              </a:defRPr>
            </a:pPr>
            <a:r>
              <a:t>Recovery is part of the product.</a:t>
            </a:r>
          </a:p>
        </p:txBody>
      </p:sp>
      <p:sp>
        <p:nvSpPr>
          <p:cNvPr id="6" name="TextBox 5"/>
          <p:cNvSpPr txBox="1"/>
          <p:nvPr/>
        </p:nvSpPr>
        <p:spPr>
          <a:xfrm>
            <a:off x="530352" y="1901952"/>
            <a:ext cx="11064240" cy="548640"/>
          </a:xfrm>
          <a:prstGeom prst="rect">
            <a:avLst/>
          </a:prstGeom>
          <a:noFill/>
        </p:spPr>
        <p:txBody>
          <a:bodyPr wrap="square" lIns="0" rIns="0" tIns="0" bIns="0">
            <a:spAutoFit/>
          </a:bodyPr>
          <a:lstStyle/>
          <a:p>
            <a:pPr>
              <a:spcAft>
                <a:spcPts val="500"/>
              </a:spcAft>
              <a:defRPr sz="1800" b="0">
                <a:solidFill>
                  <a:srgbClr val="52645C"/>
                </a:solidFill>
                <a:latin typeface="Arial"/>
              </a:defRPr>
            </a:pPr>
            <a:r>
              <a:t>Plan one safe failure and prove the user can finish afterward.</a:t>
            </a:r>
          </a:p>
        </p:txBody>
      </p:sp>
      <p:cxnSp>
        <p:nvCxnSpPr>
          <p:cNvPr id="7" name="Connector 6"/>
          <p:cNvCxnSpPr/>
          <p:nvPr/>
        </p:nvCxnSpPr>
        <p:spPr>
          <a:xfrm>
            <a:off x="502920" y="6364224"/>
            <a:ext cx="11183112"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10528"/>
            <a:ext cx="914400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SIH2171 · IDENTITY UNVERIFIED  /  EXPANDED BLUEPRINT</a:t>
            </a:r>
          </a:p>
        </p:txBody>
      </p:sp>
      <p:sp>
        <p:nvSpPr>
          <p:cNvPr id="9" name="TextBox 8"/>
          <p:cNvSpPr txBox="1"/>
          <p:nvPr/>
        </p:nvSpPr>
        <p:spPr>
          <a:xfrm>
            <a:off x="10881360" y="6510528"/>
            <a:ext cx="82296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08 / 15</a:t>
            </a:r>
          </a:p>
        </p:txBody>
      </p:sp>
      <p:sp>
        <p:nvSpPr>
          <p:cNvPr id="10" name="Rectangle 9"/>
          <p:cNvSpPr/>
          <p:nvPr/>
        </p:nvSpPr>
        <p:spPr>
          <a:xfrm>
            <a:off x="530352" y="2852928"/>
            <a:ext cx="3520440" cy="2688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19" y="3017520"/>
            <a:ext cx="3118104" cy="256032"/>
          </a:xfrm>
          <a:prstGeom prst="rect">
            <a:avLst/>
          </a:prstGeom>
          <a:noFill/>
        </p:spPr>
        <p:txBody>
          <a:bodyPr wrap="square" lIns="0" rIns="0" tIns="0" bIns="0">
            <a:spAutoFit/>
          </a:bodyPr>
          <a:lstStyle/>
          <a:p>
            <a:pPr>
              <a:spcAft>
                <a:spcPts val="500"/>
              </a:spcAft>
              <a:defRPr sz="1100" b="1">
                <a:solidFill>
                  <a:srgbClr val="70420B"/>
                </a:solidFill>
                <a:latin typeface="Arial"/>
              </a:defRPr>
            </a:pPr>
            <a:r>
              <a:t>TEST PLAN</a:t>
            </a:r>
          </a:p>
        </p:txBody>
      </p:sp>
      <p:sp>
        <p:nvSpPr>
          <p:cNvPr id="12" name="TextBox 11"/>
          <p:cNvSpPr txBox="1"/>
          <p:nvPr/>
        </p:nvSpPr>
        <p:spPr>
          <a:xfrm>
            <a:off x="731519" y="3456432"/>
            <a:ext cx="3118104" cy="594360"/>
          </a:xfrm>
          <a:prstGeom prst="rect">
            <a:avLst/>
          </a:prstGeom>
          <a:noFill/>
        </p:spPr>
        <p:txBody>
          <a:bodyPr wrap="square" lIns="0" rIns="0" tIns="0" bIns="0">
            <a:spAutoFit/>
          </a:bodyPr>
          <a:lstStyle/>
          <a:p>
            <a:pPr>
              <a:spcAft>
                <a:spcPts val="500"/>
              </a:spcAft>
              <a:defRPr sz="2400" b="1">
                <a:solidFill>
                  <a:srgbClr val="15211F"/>
                </a:solidFill>
                <a:latin typeface="Arial"/>
              </a:defRPr>
            </a:pPr>
            <a:r>
              <a:t>Invalid input</a:t>
            </a:r>
          </a:p>
        </p:txBody>
      </p:sp>
      <p:sp>
        <p:nvSpPr>
          <p:cNvPr id="13" name="TextBox 12"/>
          <p:cNvSpPr txBox="1"/>
          <p:nvPr/>
        </p:nvSpPr>
        <p:spPr>
          <a:xfrm>
            <a:off x="731519" y="4206240"/>
            <a:ext cx="3118104" cy="1225295"/>
          </a:xfrm>
          <a:prstGeom prst="rect">
            <a:avLst/>
          </a:prstGeom>
          <a:noFill/>
        </p:spPr>
        <p:txBody>
          <a:bodyPr wrap="square" lIns="0" rIns="0" tIns="0" bIns="0">
            <a:spAutoFit/>
          </a:bodyPr>
          <a:lstStyle/>
          <a:p>
            <a:pPr>
              <a:spcAft>
                <a:spcPts val="500"/>
              </a:spcAft>
              <a:defRPr sz="1800" b="0">
                <a:solidFill>
                  <a:srgbClr val="52645C"/>
                </a:solidFill>
                <a:latin typeface="Arial"/>
              </a:defRPr>
            </a:pPr>
            <a:r>
              <a:t>Specific error</a:t>
            </a:r>
          </a:p>
          <a:p>
            <a:pPr>
              <a:spcAft>
                <a:spcPts val="500"/>
              </a:spcAft>
              <a:defRPr sz="1800" b="0">
                <a:solidFill>
                  <a:srgbClr val="52645C"/>
                </a:solidFill>
                <a:latin typeface="Arial"/>
              </a:defRPr>
            </a:pPr>
            <a:r>
              <a:t>Values preserved</a:t>
            </a:r>
          </a:p>
        </p:txBody>
      </p:sp>
      <p:sp>
        <p:nvSpPr>
          <p:cNvPr id="14" name="Rectangle 13"/>
          <p:cNvSpPr/>
          <p:nvPr/>
        </p:nvSpPr>
        <p:spPr>
          <a:xfrm>
            <a:off x="4315968" y="2852928"/>
            <a:ext cx="3520440" cy="2688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3017520"/>
            <a:ext cx="3118104" cy="256032"/>
          </a:xfrm>
          <a:prstGeom prst="rect">
            <a:avLst/>
          </a:prstGeom>
          <a:noFill/>
        </p:spPr>
        <p:txBody>
          <a:bodyPr wrap="square" lIns="0" rIns="0" tIns="0" bIns="0">
            <a:spAutoFit/>
          </a:bodyPr>
          <a:lstStyle/>
          <a:p>
            <a:pPr>
              <a:spcAft>
                <a:spcPts val="500"/>
              </a:spcAft>
              <a:defRPr sz="1100" b="1">
                <a:solidFill>
                  <a:srgbClr val="70420B"/>
                </a:solidFill>
                <a:latin typeface="Arial"/>
              </a:defRPr>
            </a:pPr>
            <a:r>
              <a:t>TEST PLAN</a:t>
            </a:r>
          </a:p>
        </p:txBody>
      </p:sp>
      <p:sp>
        <p:nvSpPr>
          <p:cNvPr id="16" name="TextBox 15"/>
          <p:cNvSpPr txBox="1"/>
          <p:nvPr/>
        </p:nvSpPr>
        <p:spPr>
          <a:xfrm>
            <a:off x="4517136" y="3456432"/>
            <a:ext cx="3118104" cy="594360"/>
          </a:xfrm>
          <a:prstGeom prst="rect">
            <a:avLst/>
          </a:prstGeom>
          <a:noFill/>
        </p:spPr>
        <p:txBody>
          <a:bodyPr wrap="square" lIns="0" rIns="0" tIns="0" bIns="0">
            <a:spAutoFit/>
          </a:bodyPr>
          <a:lstStyle/>
          <a:p>
            <a:pPr>
              <a:spcAft>
                <a:spcPts val="500"/>
              </a:spcAft>
              <a:defRPr sz="2400" b="1">
                <a:solidFill>
                  <a:srgbClr val="15211F"/>
                </a:solidFill>
                <a:latin typeface="Arial"/>
              </a:defRPr>
            </a:pPr>
            <a:r>
              <a:t>Service unavailable</a:t>
            </a:r>
          </a:p>
        </p:txBody>
      </p:sp>
      <p:sp>
        <p:nvSpPr>
          <p:cNvPr id="17" name="TextBox 16"/>
          <p:cNvSpPr txBox="1"/>
          <p:nvPr/>
        </p:nvSpPr>
        <p:spPr>
          <a:xfrm>
            <a:off x="4517136" y="4206240"/>
            <a:ext cx="3118104" cy="1225295"/>
          </a:xfrm>
          <a:prstGeom prst="rect">
            <a:avLst/>
          </a:prstGeom>
          <a:noFill/>
        </p:spPr>
        <p:txBody>
          <a:bodyPr wrap="square" lIns="0" rIns="0" tIns="0" bIns="0">
            <a:spAutoFit/>
          </a:bodyPr>
          <a:lstStyle/>
          <a:p>
            <a:pPr>
              <a:spcAft>
                <a:spcPts val="500"/>
              </a:spcAft>
              <a:defRPr sz="1800" b="0">
                <a:solidFill>
                  <a:srgbClr val="52645C"/>
                </a:solidFill>
                <a:latin typeface="Arial"/>
              </a:defRPr>
            </a:pPr>
            <a:r>
              <a:t>Clear status</a:t>
            </a:r>
          </a:p>
          <a:p>
            <a:pPr>
              <a:spcAft>
                <a:spcPts val="500"/>
              </a:spcAft>
              <a:defRPr sz="1800" b="0">
                <a:solidFill>
                  <a:srgbClr val="52645C"/>
                </a:solidFill>
                <a:latin typeface="Arial"/>
              </a:defRPr>
            </a:pPr>
            <a:r>
              <a:t>Retry or fallback</a:t>
            </a:r>
          </a:p>
        </p:txBody>
      </p:sp>
      <p:sp>
        <p:nvSpPr>
          <p:cNvPr id="18" name="Rectangle 17"/>
          <p:cNvSpPr/>
          <p:nvPr/>
        </p:nvSpPr>
        <p:spPr>
          <a:xfrm>
            <a:off x="8101583" y="2852928"/>
            <a:ext cx="3520440" cy="2688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2752" y="3017520"/>
            <a:ext cx="3118104" cy="256032"/>
          </a:xfrm>
          <a:prstGeom prst="rect">
            <a:avLst/>
          </a:prstGeom>
          <a:noFill/>
        </p:spPr>
        <p:txBody>
          <a:bodyPr wrap="square" lIns="0" rIns="0" tIns="0" bIns="0">
            <a:spAutoFit/>
          </a:bodyPr>
          <a:lstStyle/>
          <a:p>
            <a:pPr>
              <a:spcAft>
                <a:spcPts val="500"/>
              </a:spcAft>
              <a:defRPr sz="1100" b="1">
                <a:solidFill>
                  <a:srgbClr val="70420B"/>
                </a:solidFill>
                <a:latin typeface="Arial"/>
              </a:defRPr>
            </a:pPr>
            <a:r>
              <a:t>TEST PLAN</a:t>
            </a:r>
          </a:p>
        </p:txBody>
      </p:sp>
      <p:sp>
        <p:nvSpPr>
          <p:cNvPr id="20" name="TextBox 19"/>
          <p:cNvSpPr txBox="1"/>
          <p:nvPr/>
        </p:nvSpPr>
        <p:spPr>
          <a:xfrm>
            <a:off x="8302752" y="3456432"/>
            <a:ext cx="3118104" cy="594360"/>
          </a:xfrm>
          <a:prstGeom prst="rect">
            <a:avLst/>
          </a:prstGeom>
          <a:noFill/>
        </p:spPr>
        <p:txBody>
          <a:bodyPr wrap="square" lIns="0" rIns="0" tIns="0" bIns="0">
            <a:spAutoFit/>
          </a:bodyPr>
          <a:lstStyle/>
          <a:p>
            <a:pPr>
              <a:spcAft>
                <a:spcPts val="500"/>
              </a:spcAft>
              <a:defRPr sz="2400" b="1">
                <a:solidFill>
                  <a:srgbClr val="15211F"/>
                </a:solidFill>
                <a:latin typeface="Arial"/>
              </a:defRPr>
            </a:pPr>
            <a:r>
              <a:t>Return to task</a:t>
            </a:r>
          </a:p>
        </p:txBody>
      </p:sp>
      <p:sp>
        <p:nvSpPr>
          <p:cNvPr id="21" name="TextBox 20"/>
          <p:cNvSpPr txBox="1"/>
          <p:nvPr/>
        </p:nvSpPr>
        <p:spPr>
          <a:xfrm>
            <a:off x="8302752" y="4206240"/>
            <a:ext cx="3118104" cy="1225295"/>
          </a:xfrm>
          <a:prstGeom prst="rect">
            <a:avLst/>
          </a:prstGeom>
          <a:noFill/>
        </p:spPr>
        <p:txBody>
          <a:bodyPr wrap="square" lIns="0" rIns="0" tIns="0" bIns="0">
            <a:spAutoFit/>
          </a:bodyPr>
          <a:lstStyle/>
          <a:p>
            <a:pPr>
              <a:spcAft>
                <a:spcPts val="500"/>
              </a:spcAft>
              <a:defRPr sz="1800" b="0">
                <a:solidFill>
                  <a:srgbClr val="52645C"/>
                </a:solidFill>
                <a:latin typeface="Arial"/>
              </a:defRPr>
            </a:pPr>
            <a:r>
              <a:t>No duplicate action</a:t>
            </a:r>
          </a:p>
          <a:p>
            <a:pPr>
              <a:spcAft>
                <a:spcPts val="500"/>
              </a:spcAft>
              <a:defRPr sz="1800" b="0">
                <a:solidFill>
                  <a:srgbClr val="52645C"/>
                </a:solidFill>
                <a:latin typeface="Arial"/>
              </a:defRPr>
            </a:pPr>
            <a:r>
              <a:t>Consistent final state</a:t>
            </a:r>
          </a:p>
        </p:txBody>
      </p:sp>
      <p:sp>
        <p:nvSpPr>
          <p:cNvPr id="22" name="TextBox 21"/>
          <p:cNvSpPr txBox="1"/>
          <p:nvPr/>
        </p:nvSpPr>
        <p:spPr>
          <a:xfrm>
            <a:off x="548640" y="5797296"/>
            <a:ext cx="10972800" cy="320040"/>
          </a:xfrm>
          <a:prstGeom prst="rect">
            <a:avLst/>
          </a:prstGeom>
          <a:noFill/>
        </p:spPr>
        <p:txBody>
          <a:bodyPr wrap="square" lIns="0" rIns="0" tIns="0" bIns="0">
            <a:spAutoFit/>
          </a:bodyPr>
          <a:lstStyle/>
          <a:p>
            <a:pPr>
              <a:spcAft>
                <a:spcPts val="500"/>
              </a:spcAft>
              <a:defRPr sz="1800" b="1">
                <a:solidFill>
                  <a:srgbClr val="29473F"/>
                </a:solidFill>
                <a:latin typeface="Arial"/>
              </a:defRPr>
            </a:pPr>
            <a:r>
              <a:t>Fallback ladder: live demo → recorded build → labeled screenshot storyboard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02920" y="292608"/>
            <a:ext cx="7315200" cy="237744"/>
          </a:xfrm>
          <a:prstGeom prst="rect">
            <a:avLst/>
          </a:prstGeom>
          <a:noFill/>
        </p:spPr>
        <p:txBody>
          <a:bodyPr wrap="square" lIns="0" rIns="0" tIns="0" bIns="0">
            <a:spAutoFit/>
          </a:bodyPr>
          <a:lstStyle/>
          <a:p>
            <a:pPr>
              <a:spcAft>
                <a:spcPts val="500"/>
              </a:spcAft>
              <a:defRPr sz="1100" b="1">
                <a:solidFill>
                  <a:srgbClr val="29473F"/>
                </a:solidFill>
                <a:latin typeface="Arial"/>
              </a:defRPr>
            </a:pPr>
            <a:r>
              <a:t>FEASIBILITY AND VIABILITY</a:t>
            </a:r>
          </a:p>
        </p:txBody>
      </p:sp>
      <p:sp>
        <p:nvSpPr>
          <p:cNvPr id="3" name="Rectangle 2"/>
          <p:cNvSpPr/>
          <p:nvPr/>
        </p:nvSpPr>
        <p:spPr>
          <a:xfrm>
            <a:off x="8668512" y="210312"/>
            <a:ext cx="3017520" cy="39319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23960" y="292608"/>
            <a:ext cx="2743200" cy="201168"/>
          </a:xfrm>
          <a:prstGeom prst="rect">
            <a:avLst/>
          </a:prstGeom>
          <a:noFill/>
        </p:spPr>
        <p:txBody>
          <a:bodyPr wrap="square" lIns="0" rIns="0" tIns="0" bIns="0">
            <a:spAutoFit/>
          </a:bodyPr>
          <a:lstStyle/>
          <a:p>
            <a:pPr>
              <a:spcAft>
                <a:spcPts val="500"/>
              </a:spcAft>
              <a:defRPr sz="1200" b="1">
                <a:solidFill>
                  <a:srgbClr val="15211F"/>
                </a:solidFill>
                <a:latin typeface="Arial"/>
              </a:defRPr>
            </a:pPr>
            <a:r>
              <a:t>NOT SUBMISSION READY</a:t>
            </a:r>
          </a:p>
        </p:txBody>
      </p:sp>
      <p:sp>
        <p:nvSpPr>
          <p:cNvPr id="5" name="TextBox 4"/>
          <p:cNvSpPr txBox="1"/>
          <p:nvPr/>
        </p:nvSpPr>
        <p:spPr>
          <a:xfrm>
            <a:off x="502920" y="859536"/>
            <a:ext cx="11064240" cy="1024128"/>
          </a:xfrm>
          <a:prstGeom prst="rect">
            <a:avLst/>
          </a:prstGeom>
          <a:noFill/>
        </p:spPr>
        <p:txBody>
          <a:bodyPr wrap="square" lIns="0" rIns="0" tIns="0" bIns="0">
            <a:spAutoFit/>
          </a:bodyPr>
          <a:lstStyle/>
          <a:p>
            <a:pPr>
              <a:spcAft>
                <a:spcPts val="500"/>
              </a:spcAft>
              <a:defRPr sz="3900" b="1">
                <a:solidFill>
                  <a:srgbClr val="15211F"/>
                </a:solidFill>
                <a:latin typeface="Arial"/>
              </a:defRPr>
            </a:pPr>
            <a:r>
              <a:t>Publish the result, not the target.</a:t>
            </a:r>
          </a:p>
        </p:txBody>
      </p:sp>
      <p:sp>
        <p:nvSpPr>
          <p:cNvPr id="6" name="TextBox 5"/>
          <p:cNvSpPr txBox="1"/>
          <p:nvPr/>
        </p:nvSpPr>
        <p:spPr>
          <a:xfrm>
            <a:off x="530352" y="1901952"/>
            <a:ext cx="11064240" cy="548640"/>
          </a:xfrm>
          <a:prstGeom prst="rect">
            <a:avLst/>
          </a:prstGeom>
          <a:noFill/>
        </p:spPr>
        <p:txBody>
          <a:bodyPr wrap="square" lIns="0" rIns="0" tIns="0" bIns="0">
            <a:spAutoFit/>
          </a:bodyPr>
          <a:lstStyle/>
          <a:p>
            <a:pPr>
              <a:spcAft>
                <a:spcPts val="500"/>
              </a:spcAft>
              <a:defRPr sz="1800" b="0">
                <a:solidFill>
                  <a:srgbClr val="52645C"/>
                </a:solidFill>
                <a:latin typeface="Arial"/>
              </a:defRPr>
            </a:pPr>
            <a:r>
              <a:t>Domain-product acceptance budgets. Preparation-site measurements are recorded separately.</a:t>
            </a:r>
          </a:p>
        </p:txBody>
      </p:sp>
      <p:cxnSp>
        <p:nvCxnSpPr>
          <p:cNvPr id="7" name="Connector 6"/>
          <p:cNvCxnSpPr/>
          <p:nvPr/>
        </p:nvCxnSpPr>
        <p:spPr>
          <a:xfrm>
            <a:off x="502920" y="6364224"/>
            <a:ext cx="11183112"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10528"/>
            <a:ext cx="914400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SIH2171 · IDENTITY UNVERIFIED  /  EXPANDED BLUEPRINT</a:t>
            </a:r>
          </a:p>
        </p:txBody>
      </p:sp>
      <p:sp>
        <p:nvSpPr>
          <p:cNvPr id="9" name="TextBox 8"/>
          <p:cNvSpPr txBox="1"/>
          <p:nvPr/>
        </p:nvSpPr>
        <p:spPr>
          <a:xfrm>
            <a:off x="10881360" y="6510528"/>
            <a:ext cx="82296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09 / 15</a:t>
            </a:r>
          </a:p>
        </p:txBody>
      </p:sp>
      <p:cxnSp>
        <p:nvCxnSpPr>
          <p:cNvPr id="10" name="Connector 9"/>
          <p:cNvCxnSpPr/>
          <p:nvPr/>
        </p:nvCxnSpPr>
        <p:spPr>
          <a:xfrm>
            <a:off x="548640" y="2788920"/>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2953512"/>
            <a:ext cx="4206240" cy="356616"/>
          </a:xfrm>
          <a:prstGeom prst="rect">
            <a:avLst/>
          </a:prstGeom>
          <a:noFill/>
        </p:spPr>
        <p:txBody>
          <a:bodyPr wrap="square" lIns="0" rIns="0" tIns="0" bIns="0">
            <a:spAutoFit/>
          </a:bodyPr>
          <a:lstStyle/>
          <a:p>
            <a:pPr>
              <a:spcAft>
                <a:spcPts val="500"/>
              </a:spcAft>
              <a:defRPr sz="2100" b="1">
                <a:solidFill>
                  <a:srgbClr val="15211F"/>
                </a:solidFill>
                <a:latin typeface="Arial"/>
              </a:defRPr>
            </a:pPr>
            <a:r>
              <a:t>Core flow response</a:t>
            </a:r>
          </a:p>
        </p:txBody>
      </p:sp>
      <p:sp>
        <p:nvSpPr>
          <p:cNvPr id="12" name="TextBox 11"/>
          <p:cNvSpPr txBox="1"/>
          <p:nvPr/>
        </p:nvSpPr>
        <p:spPr>
          <a:xfrm>
            <a:off x="4846320" y="2953512"/>
            <a:ext cx="3474720" cy="356616"/>
          </a:xfrm>
          <a:prstGeom prst="rect">
            <a:avLst/>
          </a:prstGeom>
          <a:noFill/>
        </p:spPr>
        <p:txBody>
          <a:bodyPr wrap="square" lIns="0" rIns="0" tIns="0" bIns="0">
            <a:spAutoFit/>
          </a:bodyPr>
          <a:lstStyle/>
          <a:p>
            <a:pPr>
              <a:spcAft>
                <a:spcPts val="500"/>
              </a:spcAft>
              <a:defRPr sz="1900" b="0">
                <a:solidFill>
                  <a:srgbClr val="52645C"/>
                </a:solidFill>
                <a:latin typeface="Arial"/>
              </a:defRPr>
            </a:pPr>
            <a:r>
              <a:t>&lt; 200 ms</a:t>
            </a:r>
          </a:p>
        </p:txBody>
      </p:sp>
      <p:sp>
        <p:nvSpPr>
          <p:cNvPr id="13" name="TextBox 12"/>
          <p:cNvSpPr txBox="1"/>
          <p:nvPr/>
        </p:nvSpPr>
        <p:spPr>
          <a:xfrm>
            <a:off x="8641080" y="2962656"/>
            <a:ext cx="2834640" cy="365760"/>
          </a:xfrm>
          <a:prstGeom prst="rect">
            <a:avLst/>
          </a:prstGeom>
          <a:noFill/>
        </p:spPr>
        <p:txBody>
          <a:bodyPr wrap="square" lIns="0" rIns="0" tIns="0" bIns="0">
            <a:spAutoFit/>
          </a:bodyPr>
          <a:lstStyle/>
          <a:p>
            <a:pPr>
              <a:spcAft>
                <a:spcPts val="500"/>
              </a:spcAft>
              <a:defRPr sz="1500" b="1">
                <a:solidFill>
                  <a:srgbClr val="70420B"/>
                </a:solidFill>
                <a:latin typeface="Arial"/>
              </a:defRPr>
            </a:pPr>
            <a:r>
              <a:t>NOT MEASURED</a:t>
            </a:r>
          </a:p>
        </p:txBody>
      </p:sp>
      <p:cxnSp>
        <p:nvCxnSpPr>
          <p:cNvPr id="14" name="Connector 13"/>
          <p:cNvCxnSpPr/>
          <p:nvPr/>
        </p:nvCxnSpPr>
        <p:spPr>
          <a:xfrm>
            <a:off x="548640" y="3465576"/>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3630168"/>
            <a:ext cx="4206240" cy="356616"/>
          </a:xfrm>
          <a:prstGeom prst="rect">
            <a:avLst/>
          </a:prstGeom>
          <a:noFill/>
        </p:spPr>
        <p:txBody>
          <a:bodyPr wrap="square" lIns="0" rIns="0" tIns="0" bIns="0">
            <a:spAutoFit/>
          </a:bodyPr>
          <a:lstStyle/>
          <a:p>
            <a:pPr>
              <a:spcAft>
                <a:spcPts val="500"/>
              </a:spcAft>
              <a:defRPr sz="2100" b="1">
                <a:solidFill>
                  <a:srgbClr val="15211F"/>
                </a:solidFill>
                <a:latin typeface="Arial"/>
              </a:defRPr>
            </a:pPr>
            <a:r>
              <a:t>Domain product website</a:t>
            </a:r>
          </a:p>
        </p:txBody>
      </p:sp>
      <p:sp>
        <p:nvSpPr>
          <p:cNvPr id="16" name="TextBox 15"/>
          <p:cNvSpPr txBox="1"/>
          <p:nvPr/>
        </p:nvSpPr>
        <p:spPr>
          <a:xfrm>
            <a:off x="4846320" y="3630168"/>
            <a:ext cx="3474720" cy="356616"/>
          </a:xfrm>
          <a:prstGeom prst="rect">
            <a:avLst/>
          </a:prstGeom>
          <a:noFill/>
        </p:spPr>
        <p:txBody>
          <a:bodyPr wrap="square" lIns="0" rIns="0" tIns="0" bIns="0">
            <a:spAutoFit/>
          </a:bodyPr>
          <a:lstStyle/>
          <a:p>
            <a:pPr>
              <a:spcAft>
                <a:spcPts val="500"/>
              </a:spcAft>
              <a:defRPr sz="1900" b="0">
                <a:solidFill>
                  <a:srgbClr val="52645C"/>
                </a:solidFill>
                <a:latin typeface="Arial"/>
              </a:defRPr>
            </a:pPr>
            <a:r>
              <a:t>&gt; 90 each category</a:t>
            </a:r>
          </a:p>
        </p:txBody>
      </p:sp>
      <p:sp>
        <p:nvSpPr>
          <p:cNvPr id="17" name="TextBox 16"/>
          <p:cNvSpPr txBox="1"/>
          <p:nvPr/>
        </p:nvSpPr>
        <p:spPr>
          <a:xfrm>
            <a:off x="8641080" y="3639312"/>
            <a:ext cx="2834640" cy="365760"/>
          </a:xfrm>
          <a:prstGeom prst="rect">
            <a:avLst/>
          </a:prstGeom>
          <a:noFill/>
        </p:spPr>
        <p:txBody>
          <a:bodyPr wrap="square" lIns="0" rIns="0" tIns="0" bIns="0">
            <a:spAutoFit/>
          </a:bodyPr>
          <a:lstStyle/>
          <a:p>
            <a:pPr>
              <a:spcAft>
                <a:spcPts val="500"/>
              </a:spcAft>
              <a:defRPr sz="1500" b="1">
                <a:solidFill>
                  <a:srgbClr val="70420B"/>
                </a:solidFill>
                <a:latin typeface="Arial"/>
              </a:defRPr>
            </a:pPr>
            <a:r>
              <a:t>NOT BUILT</a:t>
            </a:r>
          </a:p>
        </p:txBody>
      </p:sp>
      <p:cxnSp>
        <p:nvCxnSpPr>
          <p:cNvPr id="18" name="Connector 17"/>
          <p:cNvCxnSpPr/>
          <p:nvPr/>
        </p:nvCxnSpPr>
        <p:spPr>
          <a:xfrm>
            <a:off x="548640" y="4142231"/>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4306823"/>
            <a:ext cx="4206240" cy="356616"/>
          </a:xfrm>
          <a:prstGeom prst="rect">
            <a:avLst/>
          </a:prstGeom>
          <a:noFill/>
        </p:spPr>
        <p:txBody>
          <a:bodyPr wrap="square" lIns="0" rIns="0" tIns="0" bIns="0">
            <a:spAutoFit/>
          </a:bodyPr>
          <a:lstStyle/>
          <a:p>
            <a:pPr>
              <a:spcAft>
                <a:spcPts val="500"/>
              </a:spcAft>
              <a:defRPr sz="2100" b="1">
                <a:solidFill>
                  <a:srgbClr val="15211F"/>
                </a:solidFill>
                <a:latin typeface="Arial"/>
              </a:defRPr>
            </a:pPr>
            <a:r>
              <a:t>Accessibility</a:t>
            </a:r>
          </a:p>
        </p:txBody>
      </p:sp>
      <p:sp>
        <p:nvSpPr>
          <p:cNvPr id="20" name="TextBox 19"/>
          <p:cNvSpPr txBox="1"/>
          <p:nvPr/>
        </p:nvSpPr>
        <p:spPr>
          <a:xfrm>
            <a:off x="4846320" y="4306823"/>
            <a:ext cx="3474720" cy="356616"/>
          </a:xfrm>
          <a:prstGeom prst="rect">
            <a:avLst/>
          </a:prstGeom>
          <a:noFill/>
        </p:spPr>
        <p:txBody>
          <a:bodyPr wrap="square" lIns="0" rIns="0" tIns="0" bIns="0">
            <a:spAutoFit/>
          </a:bodyPr>
          <a:lstStyle/>
          <a:p>
            <a:pPr>
              <a:spcAft>
                <a:spcPts val="500"/>
              </a:spcAft>
              <a:defRPr sz="1900" b="0">
                <a:solidFill>
                  <a:srgbClr val="52645C"/>
                </a:solidFill>
                <a:latin typeface="Arial"/>
              </a:defRPr>
            </a:pPr>
            <a:r>
              <a:t>WCAG 2.1 AA review</a:t>
            </a:r>
          </a:p>
        </p:txBody>
      </p:sp>
      <p:sp>
        <p:nvSpPr>
          <p:cNvPr id="21" name="TextBox 20"/>
          <p:cNvSpPr txBox="1"/>
          <p:nvPr/>
        </p:nvSpPr>
        <p:spPr>
          <a:xfrm>
            <a:off x="8641080" y="4315968"/>
            <a:ext cx="2834640" cy="365760"/>
          </a:xfrm>
          <a:prstGeom prst="rect">
            <a:avLst/>
          </a:prstGeom>
          <a:noFill/>
        </p:spPr>
        <p:txBody>
          <a:bodyPr wrap="square" lIns="0" rIns="0" tIns="0" bIns="0">
            <a:spAutoFit/>
          </a:bodyPr>
          <a:lstStyle/>
          <a:p>
            <a:pPr>
              <a:spcAft>
                <a:spcPts val="500"/>
              </a:spcAft>
              <a:defRPr sz="1500" b="1">
                <a:solidFill>
                  <a:srgbClr val="70420B"/>
                </a:solidFill>
                <a:latin typeface="Arial"/>
              </a:defRPr>
            </a:pPr>
            <a:r>
              <a:t>NOT COMPLETE</a:t>
            </a:r>
          </a:p>
        </p:txBody>
      </p:sp>
      <p:cxnSp>
        <p:nvCxnSpPr>
          <p:cNvPr id="22" name="Connector 21"/>
          <p:cNvCxnSpPr/>
          <p:nvPr/>
        </p:nvCxnSpPr>
        <p:spPr>
          <a:xfrm>
            <a:off x="548640" y="4818888"/>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8640" y="4983479"/>
            <a:ext cx="4206240" cy="356616"/>
          </a:xfrm>
          <a:prstGeom prst="rect">
            <a:avLst/>
          </a:prstGeom>
          <a:noFill/>
        </p:spPr>
        <p:txBody>
          <a:bodyPr wrap="square" lIns="0" rIns="0" tIns="0" bIns="0">
            <a:spAutoFit/>
          </a:bodyPr>
          <a:lstStyle/>
          <a:p>
            <a:pPr>
              <a:spcAft>
                <a:spcPts val="500"/>
              </a:spcAft>
              <a:defRPr sz="2100" b="1">
                <a:solidFill>
                  <a:srgbClr val="15211F"/>
                </a:solidFill>
                <a:latin typeface="Arial"/>
              </a:defRPr>
            </a:pPr>
            <a:r>
              <a:t>Judge persuasion</a:t>
            </a:r>
          </a:p>
        </p:txBody>
      </p:sp>
      <p:sp>
        <p:nvSpPr>
          <p:cNvPr id="24" name="TextBox 23"/>
          <p:cNvSpPr txBox="1"/>
          <p:nvPr/>
        </p:nvSpPr>
        <p:spPr>
          <a:xfrm>
            <a:off x="4846320" y="4983479"/>
            <a:ext cx="3474720" cy="356616"/>
          </a:xfrm>
          <a:prstGeom prst="rect">
            <a:avLst/>
          </a:prstGeom>
          <a:noFill/>
        </p:spPr>
        <p:txBody>
          <a:bodyPr wrap="square" lIns="0" rIns="0" tIns="0" bIns="0">
            <a:spAutoFit/>
          </a:bodyPr>
          <a:lstStyle/>
          <a:p>
            <a:pPr>
              <a:spcAft>
                <a:spcPts val="500"/>
              </a:spcAft>
              <a:defRPr sz="1900" b="0">
                <a:solidFill>
                  <a:srgbClr val="52645C"/>
                </a:solidFill>
                <a:latin typeface="Arial"/>
              </a:defRPr>
            </a:pPr>
            <a:r>
              <a:t>No calibrated model</a:t>
            </a:r>
          </a:p>
        </p:txBody>
      </p:sp>
      <p:sp>
        <p:nvSpPr>
          <p:cNvPr id="25" name="TextBox 24"/>
          <p:cNvSpPr txBox="1"/>
          <p:nvPr/>
        </p:nvSpPr>
        <p:spPr>
          <a:xfrm>
            <a:off x="8641080" y="4992624"/>
            <a:ext cx="2834640" cy="365760"/>
          </a:xfrm>
          <a:prstGeom prst="rect">
            <a:avLst/>
          </a:prstGeom>
          <a:noFill/>
        </p:spPr>
        <p:txBody>
          <a:bodyPr wrap="square" lIns="0" rIns="0" tIns="0" bIns="0">
            <a:spAutoFit/>
          </a:bodyPr>
          <a:lstStyle/>
          <a:p>
            <a:pPr>
              <a:spcAft>
                <a:spcPts val="500"/>
              </a:spcAft>
              <a:defRPr sz="1500" b="1">
                <a:solidFill>
                  <a:srgbClr val="70420B"/>
                </a:solidFill>
                <a:latin typeface="Arial"/>
              </a:defRPr>
            </a:pPr>
            <a:r>
              <a:t>NOT ESTIMABLE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02920" y="292608"/>
            <a:ext cx="7315200" cy="237744"/>
          </a:xfrm>
          <a:prstGeom prst="rect">
            <a:avLst/>
          </a:prstGeom>
          <a:noFill/>
        </p:spPr>
        <p:txBody>
          <a:bodyPr wrap="square" lIns="0" rIns="0" tIns="0" bIns="0">
            <a:spAutoFit/>
          </a:bodyPr>
          <a:lstStyle/>
          <a:p>
            <a:pPr>
              <a:spcAft>
                <a:spcPts val="500"/>
              </a:spcAft>
              <a:defRPr sz="1100" b="1">
                <a:solidFill>
                  <a:srgbClr val="29473F"/>
                </a:solidFill>
                <a:latin typeface="Arial"/>
              </a:defRPr>
            </a:pPr>
            <a:r>
              <a:t>FEASIBILITY AND VIABILITY</a:t>
            </a:r>
          </a:p>
        </p:txBody>
      </p:sp>
      <p:sp>
        <p:nvSpPr>
          <p:cNvPr id="3" name="Rectangle 2"/>
          <p:cNvSpPr/>
          <p:nvPr/>
        </p:nvSpPr>
        <p:spPr>
          <a:xfrm>
            <a:off x="8668512" y="210312"/>
            <a:ext cx="3017520" cy="39319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23960" y="292608"/>
            <a:ext cx="2743200" cy="201168"/>
          </a:xfrm>
          <a:prstGeom prst="rect">
            <a:avLst/>
          </a:prstGeom>
          <a:noFill/>
        </p:spPr>
        <p:txBody>
          <a:bodyPr wrap="square" lIns="0" rIns="0" tIns="0" bIns="0">
            <a:spAutoFit/>
          </a:bodyPr>
          <a:lstStyle/>
          <a:p>
            <a:pPr>
              <a:spcAft>
                <a:spcPts val="500"/>
              </a:spcAft>
              <a:defRPr sz="1200" b="1">
                <a:solidFill>
                  <a:srgbClr val="15211F"/>
                </a:solidFill>
                <a:latin typeface="Arial"/>
              </a:defRPr>
            </a:pPr>
            <a:r>
              <a:t>NOT SUBMISSION READY</a:t>
            </a:r>
          </a:p>
        </p:txBody>
      </p:sp>
      <p:sp>
        <p:nvSpPr>
          <p:cNvPr id="5" name="TextBox 4"/>
          <p:cNvSpPr txBox="1"/>
          <p:nvPr/>
        </p:nvSpPr>
        <p:spPr>
          <a:xfrm>
            <a:off x="502920" y="859536"/>
            <a:ext cx="11064240" cy="1024128"/>
          </a:xfrm>
          <a:prstGeom prst="rect">
            <a:avLst/>
          </a:prstGeom>
          <a:noFill/>
        </p:spPr>
        <p:txBody>
          <a:bodyPr wrap="square" lIns="0" rIns="0" tIns="0" bIns="0">
            <a:spAutoFit/>
          </a:bodyPr>
          <a:lstStyle/>
          <a:p>
            <a:pPr>
              <a:spcAft>
                <a:spcPts val="500"/>
              </a:spcAft>
              <a:defRPr sz="3900" b="1">
                <a:solidFill>
                  <a:srgbClr val="15211F"/>
                </a:solidFill>
                <a:latin typeface="Arial"/>
              </a:defRPr>
            </a:pPr>
            <a:r>
              <a:t>Make operation credible.</a:t>
            </a:r>
          </a:p>
        </p:txBody>
      </p:sp>
      <p:sp>
        <p:nvSpPr>
          <p:cNvPr id="6" name="TextBox 5"/>
          <p:cNvSpPr txBox="1"/>
          <p:nvPr/>
        </p:nvSpPr>
        <p:spPr>
          <a:xfrm>
            <a:off x="530352" y="1901952"/>
            <a:ext cx="11064240" cy="548640"/>
          </a:xfrm>
          <a:prstGeom prst="rect">
            <a:avLst/>
          </a:prstGeom>
          <a:noFill/>
        </p:spPr>
        <p:txBody>
          <a:bodyPr wrap="square" lIns="0" rIns="0" tIns="0" bIns="0">
            <a:spAutoFit/>
          </a:bodyPr>
          <a:lstStyle/>
          <a:p>
            <a:pPr>
              <a:spcAft>
                <a:spcPts val="500"/>
              </a:spcAft>
              <a:defRPr sz="1800" b="0">
                <a:solidFill>
                  <a:srgbClr val="52645C"/>
                </a:solidFill>
                <a:latin typeface="Arial"/>
              </a:defRPr>
            </a:pPr>
            <a:r>
              <a:t>Prototype simplicity first. Scale and security claims need demonstrated limits.</a:t>
            </a:r>
          </a:p>
        </p:txBody>
      </p:sp>
      <p:cxnSp>
        <p:nvCxnSpPr>
          <p:cNvPr id="7" name="Connector 6"/>
          <p:cNvCxnSpPr/>
          <p:nvPr/>
        </p:nvCxnSpPr>
        <p:spPr>
          <a:xfrm>
            <a:off x="502920" y="6364224"/>
            <a:ext cx="11183112"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10528"/>
            <a:ext cx="914400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SIH2171 · IDENTITY UNVERIFIED  /  EXPANDED BLUEPRINT</a:t>
            </a:r>
          </a:p>
        </p:txBody>
      </p:sp>
      <p:sp>
        <p:nvSpPr>
          <p:cNvPr id="9" name="TextBox 8"/>
          <p:cNvSpPr txBox="1"/>
          <p:nvPr/>
        </p:nvSpPr>
        <p:spPr>
          <a:xfrm>
            <a:off x="10881360" y="6510528"/>
            <a:ext cx="82296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10 / 15</a:t>
            </a:r>
          </a:p>
        </p:txBody>
      </p:sp>
      <p:sp>
        <p:nvSpPr>
          <p:cNvPr id="10" name="Rectangle 9"/>
          <p:cNvSpPr/>
          <p:nvPr/>
        </p:nvSpPr>
        <p:spPr>
          <a:xfrm>
            <a:off x="530352" y="2798064"/>
            <a:ext cx="3520440" cy="2734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19" y="2962656"/>
            <a:ext cx="3118104" cy="256032"/>
          </a:xfrm>
          <a:prstGeom prst="rect">
            <a:avLst/>
          </a:prstGeom>
          <a:noFill/>
        </p:spPr>
        <p:txBody>
          <a:bodyPr wrap="square" lIns="0" rIns="0" tIns="0" bIns="0">
            <a:spAutoFit/>
          </a:bodyPr>
          <a:lstStyle/>
          <a:p>
            <a:pPr>
              <a:spcAft>
                <a:spcPts val="500"/>
              </a:spcAft>
              <a:defRPr sz="1100" b="1">
                <a:solidFill>
                  <a:srgbClr val="70420B"/>
                </a:solidFill>
                <a:latin typeface="Arial"/>
              </a:defRPr>
            </a:pPr>
            <a:r>
              <a:t>REQUIRED EVIDENCE</a:t>
            </a:r>
          </a:p>
        </p:txBody>
      </p:sp>
      <p:sp>
        <p:nvSpPr>
          <p:cNvPr id="12" name="TextBox 11"/>
          <p:cNvSpPr txBox="1"/>
          <p:nvPr/>
        </p:nvSpPr>
        <p:spPr>
          <a:xfrm>
            <a:off x="731519" y="3401568"/>
            <a:ext cx="3118104" cy="594360"/>
          </a:xfrm>
          <a:prstGeom prst="rect">
            <a:avLst/>
          </a:prstGeom>
          <a:noFill/>
        </p:spPr>
        <p:txBody>
          <a:bodyPr wrap="square" lIns="0" rIns="0" tIns="0" bIns="0">
            <a:spAutoFit/>
          </a:bodyPr>
          <a:lstStyle/>
          <a:p>
            <a:pPr>
              <a:spcAft>
                <a:spcPts val="500"/>
              </a:spcAft>
              <a:defRPr sz="2400" b="1">
                <a:solidFill>
                  <a:srgbClr val="15211F"/>
                </a:solidFill>
                <a:latin typeface="Arial"/>
              </a:defRPr>
            </a:pPr>
            <a:r>
              <a:t>Run it</a:t>
            </a:r>
          </a:p>
        </p:txBody>
      </p:sp>
      <p:sp>
        <p:nvSpPr>
          <p:cNvPr id="13" name="TextBox 12"/>
          <p:cNvSpPr txBox="1"/>
          <p:nvPr/>
        </p:nvSpPr>
        <p:spPr>
          <a:xfrm>
            <a:off x="731519" y="4151376"/>
            <a:ext cx="3118104" cy="1271016"/>
          </a:xfrm>
          <a:prstGeom prst="rect">
            <a:avLst/>
          </a:prstGeom>
          <a:noFill/>
        </p:spPr>
        <p:txBody>
          <a:bodyPr wrap="square" lIns="0" rIns="0" tIns="0" bIns="0">
            <a:spAutoFit/>
          </a:bodyPr>
          <a:lstStyle/>
          <a:p>
            <a:pPr>
              <a:spcAft>
                <a:spcPts val="500"/>
              </a:spcAft>
              <a:defRPr sz="1800" b="0">
                <a:solidFill>
                  <a:srgbClr val="52645C"/>
                </a:solidFill>
                <a:latin typeface="Arial"/>
              </a:defRPr>
            </a:pPr>
            <a:r>
              <a:t>Start / reset / restore</a:t>
            </a:r>
          </a:p>
          <a:p>
            <a:pPr>
              <a:spcAft>
                <a:spcPts val="500"/>
              </a:spcAft>
              <a:defRPr sz="1800" b="0">
                <a:solidFill>
                  <a:srgbClr val="52645C"/>
                </a:solidFill>
                <a:latin typeface="Arial"/>
              </a:defRPr>
            </a:pPr>
            <a:r>
              <a:t>Known dataset</a:t>
            </a:r>
          </a:p>
          <a:p>
            <a:pPr>
              <a:spcAft>
                <a:spcPts val="500"/>
              </a:spcAft>
              <a:defRPr sz="1800" b="0">
                <a:solidFill>
                  <a:srgbClr val="52645C"/>
                </a:solidFill>
                <a:latin typeface="Arial"/>
              </a:defRPr>
            </a:pPr>
            <a:r>
              <a:t>Deployment recipe</a:t>
            </a:r>
          </a:p>
        </p:txBody>
      </p:sp>
      <p:sp>
        <p:nvSpPr>
          <p:cNvPr id="14" name="Rectangle 13"/>
          <p:cNvSpPr/>
          <p:nvPr/>
        </p:nvSpPr>
        <p:spPr>
          <a:xfrm>
            <a:off x="4315968" y="2798064"/>
            <a:ext cx="3520440" cy="2734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962656"/>
            <a:ext cx="3118104" cy="256032"/>
          </a:xfrm>
          <a:prstGeom prst="rect">
            <a:avLst/>
          </a:prstGeom>
          <a:noFill/>
        </p:spPr>
        <p:txBody>
          <a:bodyPr wrap="square" lIns="0" rIns="0" tIns="0" bIns="0">
            <a:spAutoFit/>
          </a:bodyPr>
          <a:lstStyle/>
          <a:p>
            <a:pPr>
              <a:spcAft>
                <a:spcPts val="500"/>
              </a:spcAft>
              <a:defRPr sz="1100" b="1">
                <a:solidFill>
                  <a:srgbClr val="70420B"/>
                </a:solidFill>
                <a:latin typeface="Arial"/>
              </a:defRPr>
            </a:pPr>
            <a:r>
              <a:t>REQUIRED EVIDENCE</a:t>
            </a:r>
          </a:p>
        </p:txBody>
      </p:sp>
      <p:sp>
        <p:nvSpPr>
          <p:cNvPr id="16" name="TextBox 15"/>
          <p:cNvSpPr txBox="1"/>
          <p:nvPr/>
        </p:nvSpPr>
        <p:spPr>
          <a:xfrm>
            <a:off x="4517136" y="3401568"/>
            <a:ext cx="3118104" cy="594360"/>
          </a:xfrm>
          <a:prstGeom prst="rect">
            <a:avLst/>
          </a:prstGeom>
          <a:noFill/>
        </p:spPr>
        <p:txBody>
          <a:bodyPr wrap="square" lIns="0" rIns="0" tIns="0" bIns="0">
            <a:spAutoFit/>
          </a:bodyPr>
          <a:lstStyle/>
          <a:p>
            <a:pPr>
              <a:spcAft>
                <a:spcPts val="500"/>
              </a:spcAft>
              <a:defRPr sz="2400" b="1">
                <a:solidFill>
                  <a:srgbClr val="15211F"/>
                </a:solidFill>
                <a:latin typeface="Arial"/>
              </a:defRPr>
            </a:pPr>
            <a:r>
              <a:t>Protect it</a:t>
            </a:r>
          </a:p>
        </p:txBody>
      </p:sp>
      <p:sp>
        <p:nvSpPr>
          <p:cNvPr id="17" name="TextBox 16"/>
          <p:cNvSpPr txBox="1"/>
          <p:nvPr/>
        </p:nvSpPr>
        <p:spPr>
          <a:xfrm>
            <a:off x="4517136" y="4151376"/>
            <a:ext cx="3118104" cy="1271016"/>
          </a:xfrm>
          <a:prstGeom prst="rect">
            <a:avLst/>
          </a:prstGeom>
          <a:noFill/>
        </p:spPr>
        <p:txBody>
          <a:bodyPr wrap="square" lIns="0" rIns="0" tIns="0" bIns="0">
            <a:spAutoFit/>
          </a:bodyPr>
          <a:lstStyle/>
          <a:p>
            <a:pPr>
              <a:spcAft>
                <a:spcPts val="500"/>
              </a:spcAft>
              <a:defRPr sz="1800" b="0">
                <a:solidFill>
                  <a:srgbClr val="52645C"/>
                </a:solidFill>
                <a:latin typeface="Arial"/>
              </a:defRPr>
            </a:pPr>
            <a:r>
              <a:t>Validate inputs</a:t>
            </a:r>
          </a:p>
          <a:p>
            <a:pPr>
              <a:spcAft>
                <a:spcPts val="500"/>
              </a:spcAft>
              <a:defRPr sz="1800" b="0">
                <a:solidFill>
                  <a:srgbClr val="52645C"/>
                </a:solidFill>
                <a:latin typeface="Arial"/>
              </a:defRPr>
            </a:pPr>
            <a:r>
              <a:t>Least-privilege access</a:t>
            </a:r>
          </a:p>
          <a:p>
            <a:pPr>
              <a:spcAft>
                <a:spcPts val="500"/>
              </a:spcAft>
              <a:defRPr sz="1800" b="0">
                <a:solidFill>
                  <a:srgbClr val="52645C"/>
                </a:solidFill>
                <a:latin typeface="Arial"/>
              </a:defRPr>
            </a:pPr>
            <a:r>
              <a:t>No exposed secrets</a:t>
            </a:r>
          </a:p>
        </p:txBody>
      </p:sp>
      <p:sp>
        <p:nvSpPr>
          <p:cNvPr id="18" name="Rectangle 17"/>
          <p:cNvSpPr/>
          <p:nvPr/>
        </p:nvSpPr>
        <p:spPr>
          <a:xfrm>
            <a:off x="8101583" y="2798064"/>
            <a:ext cx="3520440" cy="2734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2752" y="2962656"/>
            <a:ext cx="3118104" cy="256032"/>
          </a:xfrm>
          <a:prstGeom prst="rect">
            <a:avLst/>
          </a:prstGeom>
          <a:noFill/>
        </p:spPr>
        <p:txBody>
          <a:bodyPr wrap="square" lIns="0" rIns="0" tIns="0" bIns="0">
            <a:spAutoFit/>
          </a:bodyPr>
          <a:lstStyle/>
          <a:p>
            <a:pPr>
              <a:spcAft>
                <a:spcPts val="500"/>
              </a:spcAft>
              <a:defRPr sz="1100" b="1">
                <a:solidFill>
                  <a:srgbClr val="70420B"/>
                </a:solidFill>
                <a:latin typeface="Arial"/>
              </a:defRPr>
            </a:pPr>
            <a:r>
              <a:t>REQUIRED EVIDENCE</a:t>
            </a:r>
          </a:p>
        </p:txBody>
      </p:sp>
      <p:sp>
        <p:nvSpPr>
          <p:cNvPr id="20" name="TextBox 19"/>
          <p:cNvSpPr txBox="1"/>
          <p:nvPr/>
        </p:nvSpPr>
        <p:spPr>
          <a:xfrm>
            <a:off x="8302752" y="3401568"/>
            <a:ext cx="3118104" cy="594360"/>
          </a:xfrm>
          <a:prstGeom prst="rect">
            <a:avLst/>
          </a:prstGeom>
          <a:noFill/>
        </p:spPr>
        <p:txBody>
          <a:bodyPr wrap="square" lIns="0" rIns="0" tIns="0" bIns="0">
            <a:spAutoFit/>
          </a:bodyPr>
          <a:lstStyle/>
          <a:p>
            <a:pPr>
              <a:spcAft>
                <a:spcPts val="500"/>
              </a:spcAft>
              <a:defRPr sz="2400" b="1">
                <a:solidFill>
                  <a:srgbClr val="15211F"/>
                </a:solidFill>
                <a:latin typeface="Arial"/>
              </a:defRPr>
            </a:pPr>
            <a:r>
              <a:t>Bound it</a:t>
            </a:r>
          </a:p>
        </p:txBody>
      </p:sp>
      <p:sp>
        <p:nvSpPr>
          <p:cNvPr id="21" name="TextBox 20"/>
          <p:cNvSpPr txBox="1"/>
          <p:nvPr/>
        </p:nvSpPr>
        <p:spPr>
          <a:xfrm>
            <a:off x="8302752" y="4151376"/>
            <a:ext cx="3118104" cy="1271016"/>
          </a:xfrm>
          <a:prstGeom prst="rect">
            <a:avLst/>
          </a:prstGeom>
          <a:noFill/>
        </p:spPr>
        <p:txBody>
          <a:bodyPr wrap="square" lIns="0" rIns="0" tIns="0" bIns="0">
            <a:spAutoFit/>
          </a:bodyPr>
          <a:lstStyle/>
          <a:p>
            <a:pPr>
              <a:spcAft>
                <a:spcPts val="500"/>
              </a:spcAft>
              <a:defRPr sz="1800" b="0">
                <a:solidFill>
                  <a:srgbClr val="52645C"/>
                </a:solidFill>
                <a:latin typeface="Arial"/>
              </a:defRPr>
            </a:pPr>
            <a:r>
              <a:t>Measured capacity</a:t>
            </a:r>
          </a:p>
          <a:p>
            <a:pPr>
              <a:spcAft>
                <a:spcPts val="500"/>
              </a:spcAft>
              <a:defRPr sz="1800" b="0">
                <a:solidFill>
                  <a:srgbClr val="52645C"/>
                </a:solidFill>
                <a:latin typeface="Arial"/>
              </a:defRPr>
            </a:pPr>
            <a:r>
              <a:t>Dependency costs</a:t>
            </a:r>
          </a:p>
          <a:p>
            <a:pPr>
              <a:spcAft>
                <a:spcPts val="500"/>
              </a:spcAft>
              <a:defRPr sz="1800" b="0">
                <a:solidFill>
                  <a:srgbClr val="52645C"/>
                </a:solidFill>
                <a:latin typeface="Arial"/>
              </a:defRPr>
            </a:pPr>
            <a:r>
              <a:t>Known failure limits</a:t>
            </a:r>
          </a:p>
        </p:txBody>
      </p:sp>
      <p:sp>
        <p:nvSpPr>
          <p:cNvPr id="22" name="TextBox 21"/>
          <p:cNvSpPr txBox="1"/>
          <p:nvPr/>
        </p:nvSpPr>
        <p:spPr>
          <a:xfrm>
            <a:off x="548640" y="5797296"/>
            <a:ext cx="10972800" cy="310896"/>
          </a:xfrm>
          <a:prstGeom prst="rect">
            <a:avLst/>
          </a:prstGeom>
          <a:noFill/>
        </p:spPr>
        <p:txBody>
          <a:bodyPr wrap="square" lIns="0" rIns="0" tIns="0" bIns="0">
            <a:spAutoFit/>
          </a:bodyPr>
          <a:lstStyle/>
          <a:p>
            <a:pPr>
              <a:spcAft>
                <a:spcPts val="500"/>
              </a:spcAft>
              <a:defRPr sz="1800" b="0">
                <a:solidFill>
                  <a:srgbClr val="70420B"/>
                </a:solidFill>
                <a:latin typeface="Arial"/>
              </a:defRPr>
            </a:pPr>
            <a:r>
              <a:t>No production-readiness, capacity or cost-saving claim is established.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02920" y="292608"/>
            <a:ext cx="7315200" cy="237744"/>
          </a:xfrm>
          <a:prstGeom prst="rect">
            <a:avLst/>
          </a:prstGeom>
          <a:noFill/>
        </p:spPr>
        <p:txBody>
          <a:bodyPr wrap="square" lIns="0" rIns="0" tIns="0" bIns="0">
            <a:spAutoFit/>
          </a:bodyPr>
          <a:lstStyle/>
          <a:p>
            <a:pPr>
              <a:spcAft>
                <a:spcPts val="500"/>
              </a:spcAft>
              <a:defRPr sz="1100" b="1">
                <a:solidFill>
                  <a:srgbClr val="29473F"/>
                </a:solidFill>
                <a:latin typeface="Arial"/>
              </a:defRPr>
            </a:pPr>
            <a:r>
              <a:t>FEASIBILITY AND VIABILITY</a:t>
            </a:r>
          </a:p>
        </p:txBody>
      </p:sp>
      <p:sp>
        <p:nvSpPr>
          <p:cNvPr id="3" name="Rectangle 2"/>
          <p:cNvSpPr/>
          <p:nvPr/>
        </p:nvSpPr>
        <p:spPr>
          <a:xfrm>
            <a:off x="8668512" y="210312"/>
            <a:ext cx="3017520" cy="39319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23960" y="292608"/>
            <a:ext cx="2743200" cy="201168"/>
          </a:xfrm>
          <a:prstGeom prst="rect">
            <a:avLst/>
          </a:prstGeom>
          <a:noFill/>
        </p:spPr>
        <p:txBody>
          <a:bodyPr wrap="square" lIns="0" rIns="0" tIns="0" bIns="0">
            <a:spAutoFit/>
          </a:bodyPr>
          <a:lstStyle/>
          <a:p>
            <a:pPr>
              <a:spcAft>
                <a:spcPts val="500"/>
              </a:spcAft>
              <a:defRPr sz="1200" b="1">
                <a:solidFill>
                  <a:srgbClr val="15211F"/>
                </a:solidFill>
                <a:latin typeface="Arial"/>
              </a:defRPr>
            </a:pPr>
            <a:r>
              <a:t>NOT SUBMISSION READY</a:t>
            </a:r>
          </a:p>
        </p:txBody>
      </p:sp>
      <p:sp>
        <p:nvSpPr>
          <p:cNvPr id="5" name="TextBox 4"/>
          <p:cNvSpPr txBox="1"/>
          <p:nvPr/>
        </p:nvSpPr>
        <p:spPr>
          <a:xfrm>
            <a:off x="502920" y="859536"/>
            <a:ext cx="11064240" cy="1024128"/>
          </a:xfrm>
          <a:prstGeom prst="rect">
            <a:avLst/>
          </a:prstGeom>
          <a:noFill/>
        </p:spPr>
        <p:txBody>
          <a:bodyPr wrap="square" lIns="0" rIns="0" tIns="0" bIns="0">
            <a:spAutoFit/>
          </a:bodyPr>
          <a:lstStyle/>
          <a:p>
            <a:pPr>
              <a:spcAft>
                <a:spcPts val="500"/>
              </a:spcAft>
              <a:defRPr sz="3900" b="1">
                <a:solidFill>
                  <a:srgbClr val="15211F"/>
                </a:solidFill>
                <a:latin typeface="Arial"/>
              </a:defRPr>
            </a:pPr>
            <a:r>
              <a:t>Six owners. Inspectable contributions.</a:t>
            </a:r>
          </a:p>
        </p:txBody>
      </p:sp>
      <p:sp>
        <p:nvSpPr>
          <p:cNvPr id="6" name="TextBox 5"/>
          <p:cNvSpPr txBox="1"/>
          <p:nvPr/>
        </p:nvSpPr>
        <p:spPr>
          <a:xfrm>
            <a:off x="530352" y="1901952"/>
            <a:ext cx="11064240" cy="548640"/>
          </a:xfrm>
          <a:prstGeom prst="rect">
            <a:avLst/>
          </a:prstGeom>
          <a:noFill/>
        </p:spPr>
        <p:txBody>
          <a:bodyPr wrap="square" lIns="0" rIns="0" tIns="0" bIns="0">
            <a:spAutoFit/>
          </a:bodyPr>
          <a:lstStyle/>
          <a:p>
            <a:pPr>
              <a:spcAft>
                <a:spcPts val="500"/>
              </a:spcAft>
              <a:defRPr sz="1800" b="0">
                <a:solidFill>
                  <a:srgbClr val="52645C"/>
                </a:solidFill>
                <a:latin typeface="Arial"/>
              </a:defRPr>
            </a:pPr>
            <a:r>
              <a:t>Proposed work allocation only; experience and accepted commitments are not asserted.</a:t>
            </a:r>
          </a:p>
        </p:txBody>
      </p:sp>
      <p:cxnSp>
        <p:nvCxnSpPr>
          <p:cNvPr id="7" name="Connector 6"/>
          <p:cNvCxnSpPr/>
          <p:nvPr/>
        </p:nvCxnSpPr>
        <p:spPr>
          <a:xfrm>
            <a:off x="502920" y="6364224"/>
            <a:ext cx="11183112"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10528"/>
            <a:ext cx="914400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SIH2171 · IDENTITY UNVERIFIED  /  EXPANDED BLUEPRINT</a:t>
            </a:r>
          </a:p>
        </p:txBody>
      </p:sp>
      <p:sp>
        <p:nvSpPr>
          <p:cNvPr id="9" name="TextBox 8"/>
          <p:cNvSpPr txBox="1"/>
          <p:nvPr/>
        </p:nvSpPr>
        <p:spPr>
          <a:xfrm>
            <a:off x="10881360" y="6510528"/>
            <a:ext cx="82296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11 / 15</a:t>
            </a:r>
          </a:p>
        </p:txBody>
      </p:sp>
      <p:cxnSp>
        <p:nvCxnSpPr>
          <p:cNvPr id="10" name="Connector 9"/>
          <p:cNvCxnSpPr/>
          <p:nvPr/>
        </p:nvCxnSpPr>
        <p:spPr>
          <a:xfrm>
            <a:off x="548640" y="2816352"/>
            <a:ext cx="35204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2962656"/>
            <a:ext cx="3474720" cy="384048"/>
          </a:xfrm>
          <a:prstGeom prst="rect">
            <a:avLst/>
          </a:prstGeom>
          <a:noFill/>
        </p:spPr>
        <p:txBody>
          <a:bodyPr wrap="square" lIns="0" rIns="0" tIns="0" bIns="0">
            <a:spAutoFit/>
          </a:bodyPr>
          <a:lstStyle/>
          <a:p>
            <a:pPr>
              <a:spcAft>
                <a:spcPts val="500"/>
              </a:spcAft>
              <a:defRPr sz="2500" b="1">
                <a:solidFill>
                  <a:srgbClr val="15211F"/>
                </a:solidFill>
                <a:latin typeface="Arial"/>
              </a:defRPr>
            </a:pPr>
            <a:r>
              <a:t>Francis</a:t>
            </a:r>
          </a:p>
        </p:txBody>
      </p:sp>
      <p:sp>
        <p:nvSpPr>
          <p:cNvPr id="12" name="TextBox 11"/>
          <p:cNvSpPr txBox="1"/>
          <p:nvPr/>
        </p:nvSpPr>
        <p:spPr>
          <a:xfrm>
            <a:off x="548640" y="3456432"/>
            <a:ext cx="3474720" cy="338328"/>
          </a:xfrm>
          <a:prstGeom prst="rect">
            <a:avLst/>
          </a:prstGeom>
          <a:noFill/>
        </p:spPr>
        <p:txBody>
          <a:bodyPr wrap="square" lIns="0" rIns="0" tIns="0" bIns="0">
            <a:spAutoFit/>
          </a:bodyPr>
          <a:lstStyle/>
          <a:p>
            <a:pPr>
              <a:spcAft>
                <a:spcPts val="500"/>
              </a:spcAft>
              <a:defRPr sz="1800" b="0">
                <a:solidFill>
                  <a:srgbClr val="52645C"/>
                </a:solidFill>
                <a:latin typeface="Arial"/>
              </a:defRPr>
            </a:pPr>
            <a:r>
              <a:t>Integration + pitch</a:t>
            </a:r>
          </a:p>
        </p:txBody>
      </p:sp>
      <p:cxnSp>
        <p:nvCxnSpPr>
          <p:cNvPr id="13" name="Connector 12"/>
          <p:cNvCxnSpPr/>
          <p:nvPr/>
        </p:nvCxnSpPr>
        <p:spPr>
          <a:xfrm>
            <a:off x="4352544" y="2816352"/>
            <a:ext cx="3520439"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352544" y="2962656"/>
            <a:ext cx="3474720" cy="384048"/>
          </a:xfrm>
          <a:prstGeom prst="rect">
            <a:avLst/>
          </a:prstGeom>
          <a:noFill/>
        </p:spPr>
        <p:txBody>
          <a:bodyPr wrap="square" lIns="0" rIns="0" tIns="0" bIns="0">
            <a:spAutoFit/>
          </a:bodyPr>
          <a:lstStyle/>
          <a:p>
            <a:pPr>
              <a:spcAft>
                <a:spcPts val="500"/>
              </a:spcAft>
              <a:defRPr sz="2500" b="1">
                <a:solidFill>
                  <a:srgbClr val="15211F"/>
                </a:solidFill>
                <a:latin typeface="Arial"/>
              </a:defRPr>
            </a:pPr>
            <a:r>
              <a:t>Gopreet</a:t>
            </a:r>
          </a:p>
        </p:txBody>
      </p:sp>
      <p:sp>
        <p:nvSpPr>
          <p:cNvPr id="15" name="TextBox 14"/>
          <p:cNvSpPr txBox="1"/>
          <p:nvPr/>
        </p:nvSpPr>
        <p:spPr>
          <a:xfrm>
            <a:off x="4352544" y="3456432"/>
            <a:ext cx="3474720" cy="338328"/>
          </a:xfrm>
          <a:prstGeom prst="rect">
            <a:avLst/>
          </a:prstGeom>
          <a:noFill/>
        </p:spPr>
        <p:txBody>
          <a:bodyPr wrap="square" lIns="0" rIns="0" tIns="0" bIns="0">
            <a:spAutoFit/>
          </a:bodyPr>
          <a:lstStyle/>
          <a:p>
            <a:pPr>
              <a:spcAft>
                <a:spcPts val="500"/>
              </a:spcAft>
              <a:defRPr sz="1800" b="0">
                <a:solidFill>
                  <a:srgbClr val="52645C"/>
                </a:solidFill>
                <a:latin typeface="Arial"/>
              </a:defRPr>
            </a:pPr>
            <a:r>
              <a:t>API + persistence</a:t>
            </a:r>
          </a:p>
        </p:txBody>
      </p:sp>
      <p:cxnSp>
        <p:nvCxnSpPr>
          <p:cNvPr id="16" name="Connector 15"/>
          <p:cNvCxnSpPr/>
          <p:nvPr/>
        </p:nvCxnSpPr>
        <p:spPr>
          <a:xfrm>
            <a:off x="8156448" y="2816352"/>
            <a:ext cx="35204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156448" y="2962656"/>
            <a:ext cx="3474720" cy="384048"/>
          </a:xfrm>
          <a:prstGeom prst="rect">
            <a:avLst/>
          </a:prstGeom>
          <a:noFill/>
        </p:spPr>
        <p:txBody>
          <a:bodyPr wrap="square" lIns="0" rIns="0" tIns="0" bIns="0">
            <a:spAutoFit/>
          </a:bodyPr>
          <a:lstStyle/>
          <a:p>
            <a:pPr>
              <a:spcAft>
                <a:spcPts val="500"/>
              </a:spcAft>
              <a:defRPr sz="2500" b="1">
                <a:solidFill>
                  <a:srgbClr val="15211F"/>
                </a:solidFill>
                <a:latin typeface="Arial"/>
              </a:defRPr>
            </a:pPr>
            <a:r>
              <a:t>Hiranmayi</a:t>
            </a:r>
          </a:p>
        </p:txBody>
      </p:sp>
      <p:sp>
        <p:nvSpPr>
          <p:cNvPr id="18" name="TextBox 17"/>
          <p:cNvSpPr txBox="1"/>
          <p:nvPr/>
        </p:nvSpPr>
        <p:spPr>
          <a:xfrm>
            <a:off x="8156448" y="3456432"/>
            <a:ext cx="3474720" cy="338328"/>
          </a:xfrm>
          <a:prstGeom prst="rect">
            <a:avLst/>
          </a:prstGeom>
          <a:noFill/>
        </p:spPr>
        <p:txBody>
          <a:bodyPr wrap="square" lIns="0" rIns="0" tIns="0" bIns="0">
            <a:spAutoFit/>
          </a:bodyPr>
          <a:lstStyle/>
          <a:p>
            <a:pPr>
              <a:spcAft>
                <a:spcPts val="500"/>
              </a:spcAft>
              <a:defRPr sz="1800" b="0">
                <a:solidFill>
                  <a:srgbClr val="52645C"/>
                </a:solidFill>
                <a:latin typeface="Arial"/>
              </a:defRPr>
            </a:pPr>
            <a:r>
              <a:t>UX + accessibility</a:t>
            </a:r>
          </a:p>
        </p:txBody>
      </p:sp>
      <p:cxnSp>
        <p:nvCxnSpPr>
          <p:cNvPr id="19" name="Connector 18"/>
          <p:cNvCxnSpPr/>
          <p:nvPr/>
        </p:nvCxnSpPr>
        <p:spPr>
          <a:xfrm>
            <a:off x="548640" y="3977639"/>
            <a:ext cx="35204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48640" y="4123944"/>
            <a:ext cx="3474720" cy="384048"/>
          </a:xfrm>
          <a:prstGeom prst="rect">
            <a:avLst/>
          </a:prstGeom>
          <a:noFill/>
        </p:spPr>
        <p:txBody>
          <a:bodyPr wrap="square" lIns="0" rIns="0" tIns="0" bIns="0">
            <a:spAutoFit/>
          </a:bodyPr>
          <a:lstStyle/>
          <a:p>
            <a:pPr>
              <a:spcAft>
                <a:spcPts val="500"/>
              </a:spcAft>
              <a:defRPr sz="2500" b="1">
                <a:solidFill>
                  <a:srgbClr val="15211F"/>
                </a:solidFill>
                <a:latin typeface="Arial"/>
              </a:defRPr>
            </a:pPr>
            <a:r>
              <a:t>Varun</a:t>
            </a:r>
          </a:p>
        </p:txBody>
      </p:sp>
      <p:sp>
        <p:nvSpPr>
          <p:cNvPr id="21" name="TextBox 20"/>
          <p:cNvSpPr txBox="1"/>
          <p:nvPr/>
        </p:nvSpPr>
        <p:spPr>
          <a:xfrm>
            <a:off x="548640" y="4617720"/>
            <a:ext cx="3474720" cy="338328"/>
          </a:xfrm>
          <a:prstGeom prst="rect">
            <a:avLst/>
          </a:prstGeom>
          <a:noFill/>
        </p:spPr>
        <p:txBody>
          <a:bodyPr wrap="square" lIns="0" rIns="0" tIns="0" bIns="0">
            <a:spAutoFit/>
          </a:bodyPr>
          <a:lstStyle/>
          <a:p>
            <a:pPr>
              <a:spcAft>
                <a:spcPts val="500"/>
              </a:spcAft>
              <a:defRPr sz="1800" b="0">
                <a:solidFill>
                  <a:srgbClr val="52645C"/>
                </a:solidFill>
                <a:latin typeface="Arial"/>
              </a:defRPr>
            </a:pPr>
            <a:r>
              <a:t>Domain implementation</a:t>
            </a:r>
          </a:p>
        </p:txBody>
      </p:sp>
      <p:cxnSp>
        <p:nvCxnSpPr>
          <p:cNvPr id="22" name="Connector 21"/>
          <p:cNvCxnSpPr/>
          <p:nvPr/>
        </p:nvCxnSpPr>
        <p:spPr>
          <a:xfrm>
            <a:off x="4352544" y="3977639"/>
            <a:ext cx="3520439"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52544" y="4123944"/>
            <a:ext cx="3474720" cy="384048"/>
          </a:xfrm>
          <a:prstGeom prst="rect">
            <a:avLst/>
          </a:prstGeom>
          <a:noFill/>
        </p:spPr>
        <p:txBody>
          <a:bodyPr wrap="square" lIns="0" rIns="0" tIns="0" bIns="0">
            <a:spAutoFit/>
          </a:bodyPr>
          <a:lstStyle/>
          <a:p>
            <a:pPr>
              <a:spcAft>
                <a:spcPts val="500"/>
              </a:spcAft>
              <a:defRPr sz="2500" b="1">
                <a:solidFill>
                  <a:srgbClr val="15211F"/>
                </a:solidFill>
                <a:latin typeface="Arial"/>
              </a:defRPr>
            </a:pPr>
            <a:r>
              <a:t>Koushaik</a:t>
            </a:r>
          </a:p>
        </p:txBody>
      </p:sp>
      <p:sp>
        <p:nvSpPr>
          <p:cNvPr id="24" name="TextBox 23"/>
          <p:cNvSpPr txBox="1"/>
          <p:nvPr/>
        </p:nvSpPr>
        <p:spPr>
          <a:xfrm>
            <a:off x="4352544" y="4617720"/>
            <a:ext cx="3474720" cy="338328"/>
          </a:xfrm>
          <a:prstGeom prst="rect">
            <a:avLst/>
          </a:prstGeom>
          <a:noFill/>
        </p:spPr>
        <p:txBody>
          <a:bodyPr wrap="square" lIns="0" rIns="0" tIns="0" bIns="0">
            <a:spAutoFit/>
          </a:bodyPr>
          <a:lstStyle/>
          <a:p>
            <a:pPr>
              <a:spcAft>
                <a:spcPts val="500"/>
              </a:spcAft>
              <a:defRPr sz="1800" b="0">
                <a:solidFill>
                  <a:srgbClr val="52645C"/>
                </a:solidFill>
                <a:latin typeface="Arial"/>
              </a:defRPr>
            </a:pPr>
            <a:r>
              <a:t>Testing + reliability</a:t>
            </a:r>
          </a:p>
        </p:txBody>
      </p:sp>
      <p:cxnSp>
        <p:nvCxnSpPr>
          <p:cNvPr id="25" name="Connector 24"/>
          <p:cNvCxnSpPr/>
          <p:nvPr/>
        </p:nvCxnSpPr>
        <p:spPr>
          <a:xfrm>
            <a:off x="8156448" y="3977639"/>
            <a:ext cx="35204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156448" y="4123944"/>
            <a:ext cx="3474720" cy="384048"/>
          </a:xfrm>
          <a:prstGeom prst="rect">
            <a:avLst/>
          </a:prstGeom>
          <a:noFill/>
        </p:spPr>
        <p:txBody>
          <a:bodyPr wrap="square" lIns="0" rIns="0" tIns="0" bIns="0">
            <a:spAutoFit/>
          </a:bodyPr>
          <a:lstStyle/>
          <a:p>
            <a:pPr>
              <a:spcAft>
                <a:spcPts val="500"/>
              </a:spcAft>
              <a:defRPr sz="2500" b="1">
                <a:solidFill>
                  <a:srgbClr val="15211F"/>
                </a:solidFill>
                <a:latin typeface="Arial"/>
              </a:defRPr>
            </a:pPr>
            <a:r>
              <a:t>Niharika</a:t>
            </a:r>
          </a:p>
        </p:txBody>
      </p:sp>
      <p:sp>
        <p:nvSpPr>
          <p:cNvPr id="27" name="TextBox 26"/>
          <p:cNvSpPr txBox="1"/>
          <p:nvPr/>
        </p:nvSpPr>
        <p:spPr>
          <a:xfrm>
            <a:off x="8156448" y="4617720"/>
            <a:ext cx="3474720" cy="338328"/>
          </a:xfrm>
          <a:prstGeom prst="rect">
            <a:avLst/>
          </a:prstGeom>
          <a:noFill/>
        </p:spPr>
        <p:txBody>
          <a:bodyPr wrap="square" lIns="0" rIns="0" tIns="0" bIns="0">
            <a:spAutoFit/>
          </a:bodyPr>
          <a:lstStyle/>
          <a:p>
            <a:pPr>
              <a:spcAft>
                <a:spcPts val="500"/>
              </a:spcAft>
              <a:defRPr sz="1800" b="0">
                <a:solidFill>
                  <a:srgbClr val="52645C"/>
                </a:solidFill>
                <a:latin typeface="Arial"/>
              </a:defRPr>
            </a:pPr>
            <a:r>
              <a:t>Research + narrative</a:t>
            </a:r>
          </a:p>
        </p:txBody>
      </p:sp>
      <p:sp>
        <p:nvSpPr>
          <p:cNvPr id="28" name="Rectangle 27"/>
          <p:cNvSpPr/>
          <p:nvPr/>
        </p:nvSpPr>
        <p:spPr>
          <a:xfrm>
            <a:off x="530352" y="5440680"/>
            <a:ext cx="11091672" cy="539496"/>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2376" y="5577840"/>
            <a:ext cx="10698480" cy="292608"/>
          </a:xfrm>
          <a:prstGeom prst="rect">
            <a:avLst/>
          </a:prstGeom>
          <a:noFill/>
        </p:spPr>
        <p:txBody>
          <a:bodyPr wrap="square" lIns="0" rIns="0" tIns="0" bIns="0">
            <a:spAutoFit/>
          </a:bodyPr>
          <a:lstStyle/>
          <a:p>
            <a:pPr>
              <a:spcAft>
                <a:spcPts val="500"/>
              </a:spcAft>
              <a:defRPr sz="1700" b="1">
                <a:solidFill>
                  <a:srgbClr val="15211F"/>
                </a:solidFill>
                <a:latin typeface="Arial"/>
              </a:defRPr>
            </a:pPr>
            <a:r>
              <a:t>VERIFY → BUILD → TEST → REHEARSE  /  Internal target: 11 September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5211F"/>
        </a:solidFill>
        <a:effectLst/>
      </p:bgPr>
    </p:bg>
    <p:spTree>
      <p:nvGrpSpPr>
        <p:cNvPr id="1" name=""/>
        <p:cNvGrpSpPr/>
        <p:nvPr/>
      </p:nvGrpSpPr>
      <p:grpSpPr/>
      <p:sp>
        <p:nvSpPr>
          <p:cNvPr id="2" name="TextBox 1"/>
          <p:cNvSpPr txBox="1"/>
          <p:nvPr/>
        </p:nvSpPr>
        <p:spPr>
          <a:xfrm>
            <a:off x="502920" y="292608"/>
            <a:ext cx="7315200" cy="237744"/>
          </a:xfrm>
          <a:prstGeom prst="rect">
            <a:avLst/>
          </a:prstGeom>
          <a:noFill/>
        </p:spPr>
        <p:txBody>
          <a:bodyPr wrap="square" lIns="0" rIns="0" tIns="0" bIns="0">
            <a:spAutoFit/>
          </a:bodyPr>
          <a:lstStyle/>
          <a:p>
            <a:pPr>
              <a:spcAft>
                <a:spcPts val="500"/>
              </a:spcAft>
              <a:defRPr sz="1100" b="1">
                <a:solidFill>
                  <a:srgbClr val="D8F36A"/>
                </a:solidFill>
                <a:latin typeface="Arial"/>
              </a:defRPr>
            </a:pPr>
            <a:r>
              <a:t>IMPACT AND BENEFITS</a:t>
            </a:r>
          </a:p>
        </p:txBody>
      </p:sp>
      <p:sp>
        <p:nvSpPr>
          <p:cNvPr id="3" name="Rectangle 2"/>
          <p:cNvSpPr/>
          <p:nvPr/>
        </p:nvSpPr>
        <p:spPr>
          <a:xfrm>
            <a:off x="8668512" y="210312"/>
            <a:ext cx="3017520" cy="39319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23960" y="292608"/>
            <a:ext cx="2743200" cy="201168"/>
          </a:xfrm>
          <a:prstGeom prst="rect">
            <a:avLst/>
          </a:prstGeom>
          <a:noFill/>
        </p:spPr>
        <p:txBody>
          <a:bodyPr wrap="square" lIns="0" rIns="0" tIns="0" bIns="0">
            <a:spAutoFit/>
          </a:bodyPr>
          <a:lstStyle/>
          <a:p>
            <a:pPr>
              <a:spcAft>
                <a:spcPts val="500"/>
              </a:spcAft>
              <a:defRPr sz="1200" b="1">
                <a:solidFill>
                  <a:srgbClr val="15211F"/>
                </a:solidFill>
                <a:latin typeface="Arial"/>
              </a:defRPr>
            </a:pPr>
            <a:r>
              <a:t>NOT SUBMISSION READY</a:t>
            </a:r>
          </a:p>
        </p:txBody>
      </p:sp>
      <p:sp>
        <p:nvSpPr>
          <p:cNvPr id="5" name="TextBox 4"/>
          <p:cNvSpPr txBox="1"/>
          <p:nvPr/>
        </p:nvSpPr>
        <p:spPr>
          <a:xfrm>
            <a:off x="502920" y="859536"/>
            <a:ext cx="11064240" cy="1024128"/>
          </a:xfrm>
          <a:prstGeom prst="rect">
            <a:avLst/>
          </a:prstGeom>
          <a:noFill/>
        </p:spPr>
        <p:txBody>
          <a:bodyPr wrap="square" lIns="0" rIns="0" tIns="0" bIns="0">
            <a:spAutoFit/>
          </a:bodyPr>
          <a:lstStyle/>
          <a:p>
            <a:pPr>
              <a:spcAft>
                <a:spcPts val="500"/>
              </a:spcAft>
              <a:defRPr sz="3900" b="1">
                <a:solidFill>
                  <a:srgbClr val="F3F1E7"/>
                </a:solidFill>
                <a:latin typeface="Arial"/>
              </a:defRPr>
            </a:pPr>
            <a:r>
              <a:t>Impact is an outcome, not a user count.</a:t>
            </a:r>
          </a:p>
        </p:txBody>
      </p:sp>
      <p:sp>
        <p:nvSpPr>
          <p:cNvPr id="6" name="TextBox 5"/>
          <p:cNvSpPr txBox="1"/>
          <p:nvPr/>
        </p:nvSpPr>
        <p:spPr>
          <a:xfrm>
            <a:off x="530352" y="1901952"/>
            <a:ext cx="11064240" cy="548640"/>
          </a:xfrm>
          <a:prstGeom prst="rect">
            <a:avLst/>
          </a:prstGeom>
          <a:noFill/>
        </p:spPr>
        <p:txBody>
          <a:bodyPr wrap="square" lIns="0" rIns="0" tIns="0" bIns="0">
            <a:spAutoFit/>
          </a:bodyPr>
          <a:lstStyle/>
          <a:p>
            <a:pPr>
              <a:spcAft>
                <a:spcPts val="500"/>
              </a:spcAft>
              <a:defRPr sz="1800" b="0">
                <a:solidFill>
                  <a:srgbClr val="F3F1E7"/>
                </a:solidFill>
                <a:latin typeface="Arial"/>
              </a:defRPr>
            </a:pPr>
            <a:r>
              <a:t>A pilot must connect adoption to a meaningful change in the verified domain.</a:t>
            </a:r>
          </a:p>
        </p:txBody>
      </p:sp>
      <p:cxnSp>
        <p:nvCxnSpPr>
          <p:cNvPr id="7" name="Connector 6"/>
          <p:cNvCxnSpPr/>
          <p:nvPr/>
        </p:nvCxnSpPr>
        <p:spPr>
          <a:xfrm>
            <a:off x="502920" y="6364224"/>
            <a:ext cx="11183112" cy="0"/>
          </a:xfrm>
          <a:prstGeom prst="line">
            <a:avLst/>
          </a:prstGeom>
          <a:ln w="8890">
            <a:solidFill>
              <a:srgbClr val="29473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10528"/>
            <a:ext cx="9144000" cy="182880"/>
          </a:xfrm>
          <a:prstGeom prst="rect">
            <a:avLst/>
          </a:prstGeom>
          <a:noFill/>
        </p:spPr>
        <p:txBody>
          <a:bodyPr wrap="square" lIns="0" rIns="0" tIns="0" bIns="0">
            <a:spAutoFit/>
          </a:bodyPr>
          <a:lstStyle/>
          <a:p>
            <a:pPr>
              <a:spcAft>
                <a:spcPts val="500"/>
              </a:spcAft>
              <a:defRPr sz="1000" b="0">
                <a:solidFill>
                  <a:srgbClr val="F3F1E7"/>
                </a:solidFill>
                <a:latin typeface="Arial"/>
              </a:defRPr>
            </a:pPr>
            <a:r>
              <a:t>SIH2171 · IDENTITY UNVERIFIED  /  EXPANDED BLUEPRINT</a:t>
            </a:r>
          </a:p>
        </p:txBody>
      </p:sp>
      <p:sp>
        <p:nvSpPr>
          <p:cNvPr id="9" name="TextBox 8"/>
          <p:cNvSpPr txBox="1"/>
          <p:nvPr/>
        </p:nvSpPr>
        <p:spPr>
          <a:xfrm>
            <a:off x="10881360" y="6510528"/>
            <a:ext cx="822960" cy="182880"/>
          </a:xfrm>
          <a:prstGeom prst="rect">
            <a:avLst/>
          </a:prstGeom>
          <a:noFill/>
        </p:spPr>
        <p:txBody>
          <a:bodyPr wrap="square" lIns="0" rIns="0" tIns="0" bIns="0">
            <a:spAutoFit/>
          </a:bodyPr>
          <a:lstStyle/>
          <a:p>
            <a:pPr>
              <a:spcAft>
                <a:spcPts val="500"/>
              </a:spcAft>
              <a:defRPr sz="1000" b="0">
                <a:solidFill>
                  <a:srgbClr val="F3F1E7"/>
                </a:solidFill>
                <a:latin typeface="Arial"/>
              </a:defRPr>
            </a:pPr>
            <a:r>
              <a:t>12 / 15</a:t>
            </a:r>
          </a:p>
        </p:txBody>
      </p:sp>
      <p:sp>
        <p:nvSpPr>
          <p:cNvPr id="10" name="TextBox 9"/>
          <p:cNvSpPr txBox="1"/>
          <p:nvPr/>
        </p:nvSpPr>
        <p:spPr>
          <a:xfrm>
            <a:off x="594360" y="3017520"/>
            <a:ext cx="10789920" cy="548640"/>
          </a:xfrm>
          <a:prstGeom prst="rect">
            <a:avLst/>
          </a:prstGeom>
          <a:noFill/>
        </p:spPr>
        <p:txBody>
          <a:bodyPr wrap="square" lIns="0" rIns="0" tIns="0" bIns="0">
            <a:spAutoFit/>
          </a:bodyPr>
          <a:lstStyle/>
          <a:p>
            <a:pPr>
              <a:spcAft>
                <a:spcPts val="500"/>
              </a:spcAft>
              <a:defRPr sz="3000" b="1">
                <a:solidFill>
                  <a:srgbClr val="D8F36A"/>
                </a:solidFill>
                <a:latin typeface="Arial"/>
              </a:defRPr>
            </a:pPr>
            <a:r>
              <a:t>Outcome change =</a:t>
            </a:r>
          </a:p>
        </p:txBody>
      </p:sp>
      <p:sp>
        <p:nvSpPr>
          <p:cNvPr id="11" name="TextBox 10"/>
          <p:cNvSpPr txBox="1"/>
          <p:nvPr/>
        </p:nvSpPr>
        <p:spPr>
          <a:xfrm>
            <a:off x="594360" y="3840480"/>
            <a:ext cx="10789920" cy="841248"/>
          </a:xfrm>
          <a:prstGeom prst="rect">
            <a:avLst/>
          </a:prstGeom>
          <a:noFill/>
        </p:spPr>
        <p:txBody>
          <a:bodyPr wrap="square" lIns="0" rIns="0" tIns="0" bIns="0">
            <a:spAutoFit/>
          </a:bodyPr>
          <a:lstStyle/>
          <a:p>
            <a:pPr>
              <a:spcAft>
                <a:spcPts val="500"/>
              </a:spcAft>
              <a:defRPr sz="4200" b="1">
                <a:solidFill>
                  <a:srgbClr val="F3F1E7"/>
                </a:solidFill>
                <a:latin typeface="Arial"/>
              </a:defRPr>
            </a:pPr>
            <a:r>
              <a:t>[baseline result] − [pilot result]</a:t>
            </a:r>
          </a:p>
        </p:txBody>
      </p:sp>
      <p:sp>
        <p:nvSpPr>
          <p:cNvPr id="12" name="TextBox 11"/>
          <p:cNvSpPr txBox="1"/>
          <p:nvPr/>
        </p:nvSpPr>
        <p:spPr>
          <a:xfrm>
            <a:off x="594360" y="5166360"/>
            <a:ext cx="10698480" cy="731520"/>
          </a:xfrm>
          <a:prstGeom prst="rect">
            <a:avLst/>
          </a:prstGeom>
          <a:noFill/>
        </p:spPr>
        <p:txBody>
          <a:bodyPr wrap="square" lIns="0" rIns="0" tIns="0" bIns="0">
            <a:spAutoFit/>
          </a:bodyPr>
          <a:lstStyle/>
          <a:p>
            <a:pPr>
              <a:spcAft>
                <a:spcPts val="500"/>
              </a:spcAft>
              <a:defRPr sz="2200" b="0">
                <a:solidFill>
                  <a:srgbClr val="F3F1E7"/>
                </a:solidFill>
                <a:latin typeface="Arial"/>
              </a:defRPr>
            </a:pPr>
            <a:r>
              <a:t>Same task. Comparable population. Defined time window.</a:t>
            </a:r>
          </a:p>
          <a:p>
            <a:pPr>
              <a:spcAft>
                <a:spcPts val="500"/>
              </a:spcAft>
              <a:defRPr sz="2200" b="0">
                <a:solidFill>
                  <a:srgbClr val="F3F1E7"/>
                </a:solidFill>
                <a:latin typeface="Arial"/>
              </a:defRPr>
            </a:pPr>
            <a:r>
              <a:t>Report uncertainty and unintended effects.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02920" y="292608"/>
            <a:ext cx="7315200" cy="237744"/>
          </a:xfrm>
          <a:prstGeom prst="rect">
            <a:avLst/>
          </a:prstGeom>
          <a:noFill/>
        </p:spPr>
        <p:txBody>
          <a:bodyPr wrap="square" lIns="0" rIns="0" tIns="0" bIns="0">
            <a:spAutoFit/>
          </a:bodyPr>
          <a:lstStyle/>
          <a:p>
            <a:pPr>
              <a:spcAft>
                <a:spcPts val="500"/>
              </a:spcAft>
              <a:defRPr sz="1100" b="1">
                <a:solidFill>
                  <a:srgbClr val="29473F"/>
                </a:solidFill>
                <a:latin typeface="Arial"/>
              </a:defRPr>
            </a:pPr>
            <a:r>
              <a:t>IMPACT AND BENEFITS</a:t>
            </a:r>
          </a:p>
        </p:txBody>
      </p:sp>
      <p:sp>
        <p:nvSpPr>
          <p:cNvPr id="3" name="Rectangle 2"/>
          <p:cNvSpPr/>
          <p:nvPr/>
        </p:nvSpPr>
        <p:spPr>
          <a:xfrm>
            <a:off x="8668512" y="210312"/>
            <a:ext cx="3017520" cy="39319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23960" y="292608"/>
            <a:ext cx="2743200" cy="201168"/>
          </a:xfrm>
          <a:prstGeom prst="rect">
            <a:avLst/>
          </a:prstGeom>
          <a:noFill/>
        </p:spPr>
        <p:txBody>
          <a:bodyPr wrap="square" lIns="0" rIns="0" tIns="0" bIns="0">
            <a:spAutoFit/>
          </a:bodyPr>
          <a:lstStyle/>
          <a:p>
            <a:pPr>
              <a:spcAft>
                <a:spcPts val="500"/>
              </a:spcAft>
              <a:defRPr sz="1200" b="1">
                <a:solidFill>
                  <a:srgbClr val="15211F"/>
                </a:solidFill>
                <a:latin typeface="Arial"/>
              </a:defRPr>
            </a:pPr>
            <a:r>
              <a:t>NOT SUBMISSION READY</a:t>
            </a:r>
          </a:p>
        </p:txBody>
      </p:sp>
      <p:sp>
        <p:nvSpPr>
          <p:cNvPr id="5" name="TextBox 4"/>
          <p:cNvSpPr txBox="1"/>
          <p:nvPr/>
        </p:nvSpPr>
        <p:spPr>
          <a:xfrm>
            <a:off x="502920" y="859536"/>
            <a:ext cx="11064240" cy="1024128"/>
          </a:xfrm>
          <a:prstGeom prst="rect">
            <a:avLst/>
          </a:prstGeom>
          <a:noFill/>
        </p:spPr>
        <p:txBody>
          <a:bodyPr wrap="square" lIns="0" rIns="0" tIns="0" bIns="0">
            <a:spAutoFit/>
          </a:bodyPr>
          <a:lstStyle/>
          <a:p>
            <a:pPr>
              <a:spcAft>
                <a:spcPts val="500"/>
              </a:spcAft>
              <a:defRPr sz="3900" b="1">
                <a:solidFill>
                  <a:srgbClr val="15211F"/>
                </a:solidFill>
                <a:latin typeface="Arial"/>
              </a:defRPr>
            </a:pPr>
            <a:r>
              <a:t>Design a pilot that can be sustained.</a:t>
            </a:r>
          </a:p>
        </p:txBody>
      </p:sp>
      <p:sp>
        <p:nvSpPr>
          <p:cNvPr id="6" name="TextBox 5"/>
          <p:cNvSpPr txBox="1"/>
          <p:nvPr/>
        </p:nvSpPr>
        <p:spPr>
          <a:xfrm>
            <a:off x="530352" y="1901952"/>
            <a:ext cx="11064240" cy="548640"/>
          </a:xfrm>
          <a:prstGeom prst="rect">
            <a:avLst/>
          </a:prstGeom>
          <a:noFill/>
        </p:spPr>
        <p:txBody>
          <a:bodyPr wrap="square" lIns="0" rIns="0" tIns="0" bIns="0">
            <a:spAutoFit/>
          </a:bodyPr>
          <a:lstStyle/>
          <a:p>
            <a:pPr>
              <a:spcAft>
                <a:spcPts val="500"/>
              </a:spcAft>
              <a:defRPr sz="1800" b="0">
                <a:solidFill>
                  <a:srgbClr val="52645C"/>
                </a:solidFill>
                <a:latin typeface="Arial"/>
              </a:defRPr>
            </a:pPr>
            <a:r>
              <a:t>A proposed model needs a real adopter, realistic costs and a decision threshold.</a:t>
            </a:r>
          </a:p>
        </p:txBody>
      </p:sp>
      <p:cxnSp>
        <p:nvCxnSpPr>
          <p:cNvPr id="7" name="Connector 6"/>
          <p:cNvCxnSpPr/>
          <p:nvPr/>
        </p:nvCxnSpPr>
        <p:spPr>
          <a:xfrm>
            <a:off x="502920" y="6364224"/>
            <a:ext cx="11183112"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10528"/>
            <a:ext cx="914400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SIH2171 · IDENTITY UNVERIFIED  /  EXPANDED BLUEPRINT</a:t>
            </a:r>
          </a:p>
        </p:txBody>
      </p:sp>
      <p:sp>
        <p:nvSpPr>
          <p:cNvPr id="9" name="TextBox 8"/>
          <p:cNvSpPr txBox="1"/>
          <p:nvPr/>
        </p:nvSpPr>
        <p:spPr>
          <a:xfrm>
            <a:off x="10881360" y="6510528"/>
            <a:ext cx="82296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13 / 15</a:t>
            </a:r>
          </a:p>
        </p:txBody>
      </p:sp>
      <p:sp>
        <p:nvSpPr>
          <p:cNvPr id="10" name="Rectangle 9"/>
          <p:cNvSpPr/>
          <p:nvPr/>
        </p:nvSpPr>
        <p:spPr>
          <a:xfrm>
            <a:off x="530352" y="2816352"/>
            <a:ext cx="3520440" cy="2697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19" y="2980944"/>
            <a:ext cx="3118104" cy="256032"/>
          </a:xfrm>
          <a:prstGeom prst="rect">
            <a:avLst/>
          </a:prstGeom>
          <a:noFill/>
        </p:spPr>
        <p:txBody>
          <a:bodyPr wrap="square" lIns="0" rIns="0" tIns="0" bIns="0">
            <a:spAutoFit/>
          </a:bodyPr>
          <a:lstStyle/>
          <a:p>
            <a:pPr>
              <a:spcAft>
                <a:spcPts val="500"/>
              </a:spcAft>
              <a:defRPr sz="1100" b="1">
                <a:solidFill>
                  <a:srgbClr val="70420B"/>
                </a:solidFill>
                <a:latin typeface="Arial"/>
              </a:defRPr>
            </a:pPr>
            <a:r>
              <a:t>UNVERIFIED</a:t>
            </a:r>
          </a:p>
        </p:txBody>
      </p:sp>
      <p:sp>
        <p:nvSpPr>
          <p:cNvPr id="12" name="TextBox 11"/>
          <p:cNvSpPr txBox="1"/>
          <p:nvPr/>
        </p:nvSpPr>
        <p:spPr>
          <a:xfrm>
            <a:off x="731519" y="3419856"/>
            <a:ext cx="3118104" cy="594360"/>
          </a:xfrm>
          <a:prstGeom prst="rect">
            <a:avLst/>
          </a:prstGeom>
          <a:noFill/>
        </p:spPr>
        <p:txBody>
          <a:bodyPr wrap="square" lIns="0" rIns="0" tIns="0" bIns="0">
            <a:spAutoFit/>
          </a:bodyPr>
          <a:lstStyle/>
          <a:p>
            <a:pPr>
              <a:spcAft>
                <a:spcPts val="500"/>
              </a:spcAft>
              <a:defRPr sz="2400" b="1">
                <a:solidFill>
                  <a:srgbClr val="15211F"/>
                </a:solidFill>
                <a:latin typeface="Arial"/>
              </a:defRPr>
            </a:pPr>
            <a:r>
              <a:t>Adoption</a:t>
            </a:r>
          </a:p>
        </p:txBody>
      </p:sp>
      <p:sp>
        <p:nvSpPr>
          <p:cNvPr id="13" name="TextBox 12"/>
          <p:cNvSpPr txBox="1"/>
          <p:nvPr/>
        </p:nvSpPr>
        <p:spPr>
          <a:xfrm>
            <a:off x="731519" y="4169664"/>
            <a:ext cx="3118104" cy="1234440"/>
          </a:xfrm>
          <a:prstGeom prst="rect">
            <a:avLst/>
          </a:prstGeom>
          <a:noFill/>
        </p:spPr>
        <p:txBody>
          <a:bodyPr wrap="square" lIns="0" rIns="0" tIns="0" bIns="0">
            <a:spAutoFit/>
          </a:bodyPr>
          <a:lstStyle/>
          <a:p>
            <a:pPr>
              <a:spcAft>
                <a:spcPts val="500"/>
              </a:spcAft>
              <a:defRPr sz="1800" b="0">
                <a:solidFill>
                  <a:srgbClr val="52645C"/>
                </a:solidFill>
                <a:latin typeface="Arial"/>
              </a:defRPr>
            </a:pPr>
            <a:r>
              <a:t>Named user organization</a:t>
            </a:r>
          </a:p>
          <a:p>
            <a:pPr>
              <a:spcAft>
                <a:spcPts val="500"/>
              </a:spcAft>
              <a:defRPr sz="1800" b="0">
                <a:solidFill>
                  <a:srgbClr val="52645C"/>
                </a:solidFill>
                <a:latin typeface="Arial"/>
              </a:defRPr>
            </a:pPr>
            <a:r>
              <a:t>Willing operator</a:t>
            </a:r>
          </a:p>
          <a:p>
            <a:pPr>
              <a:spcAft>
                <a:spcPts val="500"/>
              </a:spcAft>
              <a:defRPr sz="1800" b="0">
                <a:solidFill>
                  <a:srgbClr val="52645C"/>
                </a:solidFill>
                <a:latin typeface="Arial"/>
              </a:defRPr>
            </a:pPr>
            <a:r>
              <a:t>Access and data rights</a:t>
            </a:r>
          </a:p>
        </p:txBody>
      </p:sp>
      <p:sp>
        <p:nvSpPr>
          <p:cNvPr id="14" name="Rectangle 13"/>
          <p:cNvSpPr/>
          <p:nvPr/>
        </p:nvSpPr>
        <p:spPr>
          <a:xfrm>
            <a:off x="4315968" y="2816352"/>
            <a:ext cx="3520440" cy="2697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980944"/>
            <a:ext cx="3118104" cy="256032"/>
          </a:xfrm>
          <a:prstGeom prst="rect">
            <a:avLst/>
          </a:prstGeom>
          <a:noFill/>
        </p:spPr>
        <p:txBody>
          <a:bodyPr wrap="square" lIns="0" rIns="0" tIns="0" bIns="0">
            <a:spAutoFit/>
          </a:bodyPr>
          <a:lstStyle/>
          <a:p>
            <a:pPr>
              <a:spcAft>
                <a:spcPts val="500"/>
              </a:spcAft>
              <a:defRPr sz="1100" b="1">
                <a:solidFill>
                  <a:srgbClr val="70420B"/>
                </a:solidFill>
                <a:latin typeface="Arial"/>
              </a:defRPr>
            </a:pPr>
            <a:r>
              <a:t>NOT CALCULATED</a:t>
            </a:r>
          </a:p>
        </p:txBody>
      </p:sp>
      <p:sp>
        <p:nvSpPr>
          <p:cNvPr id="16" name="TextBox 15"/>
          <p:cNvSpPr txBox="1"/>
          <p:nvPr/>
        </p:nvSpPr>
        <p:spPr>
          <a:xfrm>
            <a:off x="4517136" y="3419856"/>
            <a:ext cx="3118104" cy="594360"/>
          </a:xfrm>
          <a:prstGeom prst="rect">
            <a:avLst/>
          </a:prstGeom>
          <a:noFill/>
        </p:spPr>
        <p:txBody>
          <a:bodyPr wrap="square" lIns="0" rIns="0" tIns="0" bIns="0">
            <a:spAutoFit/>
          </a:bodyPr>
          <a:lstStyle/>
          <a:p>
            <a:pPr>
              <a:spcAft>
                <a:spcPts val="500"/>
              </a:spcAft>
              <a:defRPr sz="2400" b="1">
                <a:solidFill>
                  <a:srgbClr val="15211F"/>
                </a:solidFill>
                <a:latin typeface="Arial"/>
              </a:defRPr>
            </a:pPr>
            <a:r>
              <a:t>Economics</a:t>
            </a:r>
          </a:p>
        </p:txBody>
      </p:sp>
      <p:sp>
        <p:nvSpPr>
          <p:cNvPr id="17" name="TextBox 16"/>
          <p:cNvSpPr txBox="1"/>
          <p:nvPr/>
        </p:nvSpPr>
        <p:spPr>
          <a:xfrm>
            <a:off x="4517136" y="4169664"/>
            <a:ext cx="3118104" cy="1234440"/>
          </a:xfrm>
          <a:prstGeom prst="rect">
            <a:avLst/>
          </a:prstGeom>
          <a:noFill/>
        </p:spPr>
        <p:txBody>
          <a:bodyPr wrap="square" lIns="0" rIns="0" tIns="0" bIns="0">
            <a:spAutoFit/>
          </a:bodyPr>
          <a:lstStyle/>
          <a:p>
            <a:pPr>
              <a:spcAft>
                <a:spcPts val="500"/>
              </a:spcAft>
              <a:defRPr sz="1800" b="0">
                <a:solidFill>
                  <a:srgbClr val="52645C"/>
                </a:solidFill>
                <a:latin typeface="Arial"/>
              </a:defRPr>
            </a:pPr>
            <a:r>
              <a:t>Unit operating cost</a:t>
            </a:r>
          </a:p>
          <a:p>
            <a:pPr>
              <a:spcAft>
                <a:spcPts val="500"/>
              </a:spcAft>
              <a:defRPr sz="1800" b="0">
                <a:solidFill>
                  <a:srgbClr val="52645C"/>
                </a:solidFill>
                <a:latin typeface="Arial"/>
              </a:defRPr>
            </a:pPr>
            <a:r>
              <a:t>Support responsibility</a:t>
            </a:r>
          </a:p>
          <a:p>
            <a:pPr>
              <a:spcAft>
                <a:spcPts val="500"/>
              </a:spcAft>
              <a:defRPr sz="1800" b="0">
                <a:solidFill>
                  <a:srgbClr val="52645C"/>
                </a:solidFill>
                <a:latin typeface="Arial"/>
              </a:defRPr>
            </a:pPr>
            <a:r>
              <a:t>Funding assumption</a:t>
            </a:r>
          </a:p>
        </p:txBody>
      </p:sp>
      <p:sp>
        <p:nvSpPr>
          <p:cNvPr id="18" name="Rectangle 17"/>
          <p:cNvSpPr/>
          <p:nvPr/>
        </p:nvSpPr>
        <p:spPr>
          <a:xfrm>
            <a:off x="8101583" y="2816352"/>
            <a:ext cx="3520440" cy="2697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2752" y="2980944"/>
            <a:ext cx="3118104" cy="256032"/>
          </a:xfrm>
          <a:prstGeom prst="rect">
            <a:avLst/>
          </a:prstGeom>
          <a:noFill/>
        </p:spPr>
        <p:txBody>
          <a:bodyPr wrap="square" lIns="0" rIns="0" tIns="0" bIns="0">
            <a:spAutoFit/>
          </a:bodyPr>
          <a:lstStyle/>
          <a:p>
            <a:pPr>
              <a:spcAft>
                <a:spcPts val="500"/>
              </a:spcAft>
              <a:defRPr sz="1100" b="1">
                <a:solidFill>
                  <a:srgbClr val="70420B"/>
                </a:solidFill>
                <a:latin typeface="Arial"/>
              </a:defRPr>
            </a:pPr>
            <a:r>
              <a:t>NOT DEFINED</a:t>
            </a:r>
          </a:p>
        </p:txBody>
      </p:sp>
      <p:sp>
        <p:nvSpPr>
          <p:cNvPr id="20" name="TextBox 19"/>
          <p:cNvSpPr txBox="1"/>
          <p:nvPr/>
        </p:nvSpPr>
        <p:spPr>
          <a:xfrm>
            <a:off x="8302752" y="3419856"/>
            <a:ext cx="3118104" cy="594360"/>
          </a:xfrm>
          <a:prstGeom prst="rect">
            <a:avLst/>
          </a:prstGeom>
          <a:noFill/>
        </p:spPr>
        <p:txBody>
          <a:bodyPr wrap="square" lIns="0" rIns="0" tIns="0" bIns="0">
            <a:spAutoFit/>
          </a:bodyPr>
          <a:lstStyle/>
          <a:p>
            <a:pPr>
              <a:spcAft>
                <a:spcPts val="500"/>
              </a:spcAft>
              <a:defRPr sz="2400" b="1">
                <a:solidFill>
                  <a:srgbClr val="15211F"/>
                </a:solidFill>
                <a:latin typeface="Arial"/>
              </a:defRPr>
            </a:pPr>
            <a:r>
              <a:t>Pilot decision</a:t>
            </a:r>
          </a:p>
        </p:txBody>
      </p:sp>
      <p:sp>
        <p:nvSpPr>
          <p:cNvPr id="21" name="TextBox 20"/>
          <p:cNvSpPr txBox="1"/>
          <p:nvPr/>
        </p:nvSpPr>
        <p:spPr>
          <a:xfrm>
            <a:off x="8302752" y="4169664"/>
            <a:ext cx="3118104" cy="1234440"/>
          </a:xfrm>
          <a:prstGeom prst="rect">
            <a:avLst/>
          </a:prstGeom>
          <a:noFill/>
        </p:spPr>
        <p:txBody>
          <a:bodyPr wrap="square" lIns="0" rIns="0" tIns="0" bIns="0">
            <a:spAutoFit/>
          </a:bodyPr>
          <a:lstStyle/>
          <a:p>
            <a:pPr>
              <a:spcAft>
                <a:spcPts val="500"/>
              </a:spcAft>
              <a:defRPr sz="1800" b="0">
                <a:solidFill>
                  <a:srgbClr val="52645C"/>
                </a:solidFill>
                <a:latin typeface="Arial"/>
              </a:defRPr>
            </a:pPr>
            <a:r>
              <a:t>Outcome threshold</a:t>
            </a:r>
          </a:p>
          <a:p>
            <a:pPr>
              <a:spcAft>
                <a:spcPts val="500"/>
              </a:spcAft>
              <a:defRPr sz="1800" b="0">
                <a:solidFill>
                  <a:srgbClr val="52645C"/>
                </a:solidFill>
                <a:latin typeface="Arial"/>
              </a:defRPr>
            </a:pPr>
            <a:r>
              <a:t>Risk review</a:t>
            </a:r>
          </a:p>
          <a:p>
            <a:pPr>
              <a:spcAft>
                <a:spcPts val="500"/>
              </a:spcAft>
              <a:defRPr sz="1800" b="0">
                <a:solidFill>
                  <a:srgbClr val="52645C"/>
                </a:solidFill>
                <a:latin typeface="Arial"/>
              </a:defRPr>
            </a:pPr>
            <a:r>
              <a:t>Continue / revise / stop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02920" y="292608"/>
            <a:ext cx="7315200" cy="237744"/>
          </a:xfrm>
          <a:prstGeom prst="rect">
            <a:avLst/>
          </a:prstGeom>
          <a:noFill/>
        </p:spPr>
        <p:txBody>
          <a:bodyPr wrap="square" lIns="0" rIns="0" tIns="0" bIns="0">
            <a:spAutoFit/>
          </a:bodyPr>
          <a:lstStyle/>
          <a:p>
            <a:pPr>
              <a:spcAft>
                <a:spcPts val="500"/>
              </a:spcAft>
              <a:defRPr sz="1100" b="1">
                <a:solidFill>
                  <a:srgbClr val="29473F"/>
                </a:solidFill>
                <a:latin typeface="Arial"/>
              </a:defRPr>
            </a:pPr>
            <a:r>
              <a:t>RESEARCH  AND REFERENCES</a:t>
            </a:r>
          </a:p>
        </p:txBody>
      </p:sp>
      <p:sp>
        <p:nvSpPr>
          <p:cNvPr id="3" name="Rectangle 2"/>
          <p:cNvSpPr/>
          <p:nvPr/>
        </p:nvSpPr>
        <p:spPr>
          <a:xfrm>
            <a:off x="8668512" y="210312"/>
            <a:ext cx="3017520" cy="39319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23960" y="292608"/>
            <a:ext cx="2743200" cy="201168"/>
          </a:xfrm>
          <a:prstGeom prst="rect">
            <a:avLst/>
          </a:prstGeom>
          <a:noFill/>
        </p:spPr>
        <p:txBody>
          <a:bodyPr wrap="square" lIns="0" rIns="0" tIns="0" bIns="0">
            <a:spAutoFit/>
          </a:bodyPr>
          <a:lstStyle/>
          <a:p>
            <a:pPr>
              <a:spcAft>
                <a:spcPts val="500"/>
              </a:spcAft>
              <a:defRPr sz="1200" b="1">
                <a:solidFill>
                  <a:srgbClr val="15211F"/>
                </a:solidFill>
                <a:latin typeface="Arial"/>
              </a:defRPr>
            </a:pPr>
            <a:r>
              <a:t>NOT SUBMISSION READY</a:t>
            </a:r>
          </a:p>
        </p:txBody>
      </p:sp>
      <p:sp>
        <p:nvSpPr>
          <p:cNvPr id="5" name="TextBox 4"/>
          <p:cNvSpPr txBox="1"/>
          <p:nvPr/>
        </p:nvSpPr>
        <p:spPr>
          <a:xfrm>
            <a:off x="502920" y="859536"/>
            <a:ext cx="11064240" cy="1024128"/>
          </a:xfrm>
          <a:prstGeom prst="rect">
            <a:avLst/>
          </a:prstGeom>
          <a:noFill/>
        </p:spPr>
        <p:txBody>
          <a:bodyPr wrap="square" lIns="0" rIns="0" tIns="0" bIns="0">
            <a:spAutoFit/>
          </a:bodyPr>
          <a:lstStyle/>
          <a:p>
            <a:pPr>
              <a:spcAft>
                <a:spcPts val="500"/>
              </a:spcAft>
              <a:defRPr sz="3900" b="1">
                <a:solidFill>
                  <a:srgbClr val="15211F"/>
                </a:solidFill>
                <a:latin typeface="Arial"/>
              </a:defRPr>
            </a:pPr>
            <a:r>
              <a:t>Ground the work. Label the inference.</a:t>
            </a:r>
          </a:p>
        </p:txBody>
      </p:sp>
      <p:sp>
        <p:nvSpPr>
          <p:cNvPr id="6" name="TextBox 5"/>
          <p:cNvSpPr txBox="1"/>
          <p:nvPr/>
        </p:nvSpPr>
        <p:spPr>
          <a:xfrm>
            <a:off x="530352" y="1901952"/>
            <a:ext cx="11064240" cy="548640"/>
          </a:xfrm>
          <a:prstGeom prst="rect">
            <a:avLst/>
          </a:prstGeom>
          <a:noFill/>
        </p:spPr>
        <p:txBody>
          <a:bodyPr wrap="square" lIns="0" rIns="0" tIns="0" bIns="0">
            <a:spAutoFit/>
          </a:bodyPr>
          <a:lstStyle/>
          <a:p>
            <a:pPr>
              <a:spcAft>
                <a:spcPts val="500"/>
              </a:spcAft>
              <a:defRPr sz="1800" b="0">
                <a:solidFill>
                  <a:srgbClr val="52645C"/>
                </a:solidFill>
                <a:latin typeface="Arial"/>
              </a:defRPr>
            </a:pPr>
            <a:r>
              <a:t>Historical competition evidence is useful preparation; domain validation is still missing.</a:t>
            </a:r>
          </a:p>
        </p:txBody>
      </p:sp>
      <p:cxnSp>
        <p:nvCxnSpPr>
          <p:cNvPr id="7" name="Connector 6"/>
          <p:cNvCxnSpPr/>
          <p:nvPr/>
        </p:nvCxnSpPr>
        <p:spPr>
          <a:xfrm>
            <a:off x="502920" y="6364224"/>
            <a:ext cx="11183112"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10528"/>
            <a:ext cx="914400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SIH2171 · IDENTITY UNVERIFIED  /  EXPANDED BLUEPRINT</a:t>
            </a:r>
          </a:p>
        </p:txBody>
      </p:sp>
      <p:sp>
        <p:nvSpPr>
          <p:cNvPr id="9" name="TextBox 8"/>
          <p:cNvSpPr txBox="1"/>
          <p:nvPr/>
        </p:nvSpPr>
        <p:spPr>
          <a:xfrm>
            <a:off x="10881360" y="6510528"/>
            <a:ext cx="822960" cy="182880"/>
          </a:xfrm>
          <a:prstGeom prst="rect">
            <a:avLst/>
          </a:prstGeom>
          <a:noFill/>
        </p:spPr>
        <p:txBody>
          <a:bodyPr wrap="square" lIns="0" rIns="0" tIns="0" bIns="0">
            <a:spAutoFit/>
          </a:bodyPr>
          <a:lstStyle/>
          <a:p>
            <a:pPr>
              <a:spcAft>
                <a:spcPts val="500"/>
              </a:spcAft>
              <a:defRPr sz="1000" b="0">
                <a:solidFill>
                  <a:srgbClr val="52645C"/>
                </a:solidFill>
                <a:latin typeface="Arial"/>
              </a:defRPr>
            </a:pPr>
            <a:r>
              <a:t>14 / 15</a:t>
            </a:r>
          </a:p>
        </p:txBody>
      </p:sp>
      <p:sp>
        <p:nvSpPr>
          <p:cNvPr id="10" name="TextBox 9"/>
          <p:cNvSpPr txBox="1"/>
          <p:nvPr/>
        </p:nvSpPr>
        <p:spPr>
          <a:xfrm>
            <a:off x="548640" y="2779776"/>
            <a:ext cx="640080" cy="411480"/>
          </a:xfrm>
          <a:prstGeom prst="rect">
            <a:avLst/>
          </a:prstGeom>
          <a:noFill/>
        </p:spPr>
        <p:txBody>
          <a:bodyPr wrap="square" lIns="0" rIns="0" tIns="0" bIns="0">
            <a:spAutoFit/>
          </a:bodyPr>
          <a:lstStyle/>
          <a:p>
            <a:pPr>
              <a:spcAft>
                <a:spcPts val="500"/>
              </a:spcAft>
              <a:defRPr sz="2200" b="1">
                <a:solidFill>
                  <a:srgbClr val="29473F"/>
                </a:solidFill>
                <a:latin typeface="Arial"/>
              </a:defRPr>
            </a:pPr>
            <a:r>
              <a:t>01</a:t>
            </a:r>
          </a:p>
        </p:txBody>
      </p:sp>
      <p:sp>
        <p:nvSpPr>
          <p:cNvPr id="11" name="TextBox 10"/>
          <p:cNvSpPr txBox="1"/>
          <p:nvPr/>
        </p:nvSpPr>
        <p:spPr>
          <a:xfrm>
            <a:off x="1298448" y="2779776"/>
            <a:ext cx="9966960" cy="384048"/>
          </a:xfrm>
          <a:prstGeom prst="rect">
            <a:avLst/>
          </a:prstGeom>
          <a:noFill/>
        </p:spPr>
        <p:txBody>
          <a:bodyPr wrap="square" lIns="0" rIns="0" tIns="0" bIns="0">
            <a:spAutoFit/>
          </a:bodyPr>
          <a:lstStyle/>
          <a:p>
            <a:pPr>
              <a:spcAft>
                <a:spcPts val="500"/>
              </a:spcAft>
              <a:defRPr sz="2500" b="1">
                <a:solidFill>
                  <a:srgbClr val="15211F"/>
                </a:solidFill>
                <a:latin typeface="Arial"/>
              </a:defRPr>
            </a:pPr>
            <a:r>
              <a:t>Historical SIH criteria</a:t>
            </a:r>
          </a:p>
        </p:txBody>
      </p:sp>
      <p:sp>
        <p:nvSpPr>
          <p:cNvPr id="12" name="TextBox 11"/>
          <p:cNvSpPr txBox="1"/>
          <p:nvPr/>
        </p:nvSpPr>
        <p:spPr>
          <a:xfrm>
            <a:off x="1298448" y="3227832"/>
            <a:ext cx="9875520" cy="329184"/>
          </a:xfrm>
          <a:prstGeom prst="rect">
            <a:avLst/>
          </a:prstGeom>
          <a:noFill/>
        </p:spPr>
        <p:txBody>
          <a:bodyPr wrap="square" lIns="0" rIns="0" tIns="0" bIns="0">
            <a:spAutoFit/>
          </a:bodyPr>
          <a:lstStyle/>
          <a:p>
            <a:pPr>
              <a:spcAft>
                <a:spcPts val="500"/>
              </a:spcAft>
              <a:defRPr sz="1800" b="0">
                <a:solidFill>
                  <a:srgbClr val="52645C"/>
                </a:solidFill>
                <a:latin typeface="Arial"/>
              </a:defRPr>
            </a:pPr>
            <a:r>
              <a:t>Official 2024 indexed guideline; current applicability unverified.</a:t>
            </a:r>
          </a:p>
        </p:txBody>
      </p:sp>
      <p:sp>
        <p:nvSpPr>
          <p:cNvPr id="13" name="TextBox 12"/>
          <p:cNvSpPr txBox="1"/>
          <p:nvPr/>
        </p:nvSpPr>
        <p:spPr>
          <a:xfrm>
            <a:off x="548640" y="3675887"/>
            <a:ext cx="640080" cy="411480"/>
          </a:xfrm>
          <a:prstGeom prst="rect">
            <a:avLst/>
          </a:prstGeom>
          <a:noFill/>
        </p:spPr>
        <p:txBody>
          <a:bodyPr wrap="square" lIns="0" rIns="0" tIns="0" bIns="0">
            <a:spAutoFit/>
          </a:bodyPr>
          <a:lstStyle/>
          <a:p>
            <a:pPr>
              <a:spcAft>
                <a:spcPts val="500"/>
              </a:spcAft>
              <a:defRPr sz="2200" b="1">
                <a:solidFill>
                  <a:srgbClr val="29473F"/>
                </a:solidFill>
                <a:latin typeface="Arial"/>
              </a:defRPr>
            </a:pPr>
            <a:r>
              <a:t>02</a:t>
            </a:r>
          </a:p>
        </p:txBody>
      </p:sp>
      <p:sp>
        <p:nvSpPr>
          <p:cNvPr id="14" name="TextBox 13"/>
          <p:cNvSpPr txBox="1"/>
          <p:nvPr/>
        </p:nvSpPr>
        <p:spPr>
          <a:xfrm>
            <a:off x="1298448" y="3675887"/>
            <a:ext cx="9966960" cy="384048"/>
          </a:xfrm>
          <a:prstGeom prst="rect">
            <a:avLst/>
          </a:prstGeom>
          <a:noFill/>
        </p:spPr>
        <p:txBody>
          <a:bodyPr wrap="square" lIns="0" rIns="0" tIns="0" bIns="0">
            <a:spAutoFit/>
          </a:bodyPr>
          <a:lstStyle/>
          <a:p>
            <a:pPr>
              <a:spcAft>
                <a:spcPts val="500"/>
              </a:spcAft>
              <a:defRPr sz="2500" b="1">
                <a:solidFill>
                  <a:srgbClr val="15211F"/>
                </a:solidFill>
                <a:latin typeface="Arial"/>
              </a:defRPr>
            </a:pPr>
            <a:r>
              <a:t>Documented winner practice</a:t>
            </a:r>
          </a:p>
        </p:txBody>
      </p:sp>
      <p:sp>
        <p:nvSpPr>
          <p:cNvPr id="15" name="TextBox 14"/>
          <p:cNvSpPr txBox="1"/>
          <p:nvPr/>
        </p:nvSpPr>
        <p:spPr>
          <a:xfrm>
            <a:off x="1298448" y="4123944"/>
            <a:ext cx="9875520" cy="329184"/>
          </a:xfrm>
          <a:prstGeom prst="rect">
            <a:avLst/>
          </a:prstGeom>
          <a:noFill/>
        </p:spPr>
        <p:txBody>
          <a:bodyPr wrap="square" lIns="0" rIns="0" tIns="0" bIns="0">
            <a:spAutoFit/>
          </a:bodyPr>
          <a:lstStyle/>
          <a:p>
            <a:pPr>
              <a:spcAft>
                <a:spcPts val="500"/>
              </a:spcAft>
              <a:defRPr sz="1800" b="0">
                <a:solidFill>
                  <a:srgbClr val="52645C"/>
                </a:solidFill>
                <a:latin typeface="Arial"/>
              </a:defRPr>
            </a:pPr>
            <a:r>
              <a:t>Sponsor account: Solar Masters, 2024. Awards do not prove causality.</a:t>
            </a:r>
          </a:p>
        </p:txBody>
      </p:sp>
      <p:sp>
        <p:nvSpPr>
          <p:cNvPr id="16" name="TextBox 15"/>
          <p:cNvSpPr txBox="1"/>
          <p:nvPr/>
        </p:nvSpPr>
        <p:spPr>
          <a:xfrm>
            <a:off x="548640" y="4572000"/>
            <a:ext cx="640080" cy="411480"/>
          </a:xfrm>
          <a:prstGeom prst="rect">
            <a:avLst/>
          </a:prstGeom>
          <a:noFill/>
        </p:spPr>
        <p:txBody>
          <a:bodyPr wrap="square" lIns="0" rIns="0" tIns="0" bIns="0">
            <a:spAutoFit/>
          </a:bodyPr>
          <a:lstStyle/>
          <a:p>
            <a:pPr>
              <a:spcAft>
                <a:spcPts val="500"/>
              </a:spcAft>
              <a:defRPr sz="2200" b="1">
                <a:solidFill>
                  <a:srgbClr val="29473F"/>
                </a:solidFill>
                <a:latin typeface="Arial"/>
              </a:defRPr>
            </a:pPr>
            <a:r>
              <a:t>03</a:t>
            </a:r>
          </a:p>
        </p:txBody>
      </p:sp>
      <p:sp>
        <p:nvSpPr>
          <p:cNvPr id="17" name="TextBox 16"/>
          <p:cNvSpPr txBox="1"/>
          <p:nvPr/>
        </p:nvSpPr>
        <p:spPr>
          <a:xfrm>
            <a:off x="1298448" y="4572000"/>
            <a:ext cx="9966960" cy="384048"/>
          </a:xfrm>
          <a:prstGeom prst="rect">
            <a:avLst/>
          </a:prstGeom>
          <a:noFill/>
        </p:spPr>
        <p:txBody>
          <a:bodyPr wrap="square" lIns="0" rIns="0" tIns="0" bIns="0">
            <a:spAutoFit/>
          </a:bodyPr>
          <a:lstStyle/>
          <a:p>
            <a:pPr>
              <a:spcAft>
                <a:spcPts val="500"/>
              </a:spcAft>
              <a:defRPr sz="2500" b="1">
                <a:solidFill>
                  <a:srgbClr val="15211F"/>
                </a:solidFill>
                <a:latin typeface="Arial"/>
              </a:defRPr>
            </a:pPr>
            <a:r>
              <a:t>Domain + competitor sources</a:t>
            </a:r>
          </a:p>
        </p:txBody>
      </p:sp>
      <p:sp>
        <p:nvSpPr>
          <p:cNvPr id="18" name="TextBox 17"/>
          <p:cNvSpPr txBox="1"/>
          <p:nvPr/>
        </p:nvSpPr>
        <p:spPr>
          <a:xfrm>
            <a:off x="1298448" y="5020056"/>
            <a:ext cx="9875520" cy="329184"/>
          </a:xfrm>
          <a:prstGeom prst="rect">
            <a:avLst/>
          </a:prstGeom>
          <a:noFill/>
        </p:spPr>
        <p:txBody>
          <a:bodyPr wrap="square" lIns="0" rIns="0" tIns="0" bIns="0">
            <a:spAutoFit/>
          </a:bodyPr>
          <a:lstStyle/>
          <a:p>
            <a:pPr>
              <a:spcAft>
                <a:spcPts val="500"/>
              </a:spcAft>
              <a:defRPr sz="1800" b="0">
                <a:solidFill>
                  <a:srgbClr val="52645C"/>
                </a:solidFill>
                <a:latin typeface="Arial"/>
              </a:defRPr>
            </a:pPr>
            <a:r>
              <a:t>Required after SIH2171 identity is verified; no substitutes inserted.</a:t>
            </a:r>
          </a:p>
        </p:txBody>
      </p:sp>
      <p:sp>
        <p:nvSpPr>
          <p:cNvPr id="19" name="TextBox 18"/>
          <p:cNvSpPr txBox="1"/>
          <p:nvPr/>
        </p:nvSpPr>
        <p:spPr>
          <a:xfrm>
            <a:off x="548640" y="5852160"/>
            <a:ext cx="10972800" cy="237744"/>
          </a:xfrm>
          <a:prstGeom prst="rect">
            <a:avLst/>
          </a:prstGeom>
          <a:noFill/>
        </p:spPr>
        <p:txBody>
          <a:bodyPr wrap="square" lIns="0" rIns="0" tIns="0" bIns="0">
            <a:spAutoFit/>
          </a:bodyPr>
          <a:lstStyle/>
          <a:p>
            <a:pPr>
              <a:spcAft>
                <a:spcPts val="500"/>
              </a:spcAft>
              <a:defRPr sz="1400" b="0">
                <a:solidFill>
                  <a:srgbClr val="52645C"/>
                </a:solidFill>
                <a:latin typeface="Arial"/>
              </a:defRPr>
            </a:pPr>
            <a:r>
              <a:t>Source URLs and retrieval limitations are in speaker notes and Raw/competition-sources.json.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5211F"/>
        </a:solidFill>
        <a:effectLst/>
      </p:bgPr>
    </p:bg>
    <p:spTree>
      <p:nvGrpSpPr>
        <p:cNvPr id="1" name=""/>
        <p:cNvGrpSpPr/>
        <p:nvPr/>
      </p:nvGrpSpPr>
      <p:grpSpPr/>
      <p:sp>
        <p:nvSpPr>
          <p:cNvPr id="2" name="TextBox 1"/>
          <p:cNvSpPr txBox="1"/>
          <p:nvPr/>
        </p:nvSpPr>
        <p:spPr>
          <a:xfrm>
            <a:off x="502920" y="292608"/>
            <a:ext cx="7315200" cy="237744"/>
          </a:xfrm>
          <a:prstGeom prst="rect">
            <a:avLst/>
          </a:prstGeom>
          <a:noFill/>
        </p:spPr>
        <p:txBody>
          <a:bodyPr wrap="square" lIns="0" rIns="0" tIns="0" bIns="0">
            <a:spAutoFit/>
          </a:bodyPr>
          <a:lstStyle/>
          <a:p>
            <a:pPr>
              <a:spcAft>
                <a:spcPts val="500"/>
              </a:spcAft>
              <a:defRPr sz="1100" b="1">
                <a:solidFill>
                  <a:srgbClr val="D8F36A"/>
                </a:solidFill>
                <a:latin typeface="Arial"/>
              </a:defRPr>
            </a:pPr>
            <a:r>
              <a:t>RESEARCH  AND REFERENCES</a:t>
            </a:r>
          </a:p>
        </p:txBody>
      </p:sp>
      <p:sp>
        <p:nvSpPr>
          <p:cNvPr id="3" name="Rectangle 2"/>
          <p:cNvSpPr/>
          <p:nvPr/>
        </p:nvSpPr>
        <p:spPr>
          <a:xfrm>
            <a:off x="8668512" y="210312"/>
            <a:ext cx="3017520" cy="39319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23960" y="292608"/>
            <a:ext cx="2743200" cy="201168"/>
          </a:xfrm>
          <a:prstGeom prst="rect">
            <a:avLst/>
          </a:prstGeom>
          <a:noFill/>
        </p:spPr>
        <p:txBody>
          <a:bodyPr wrap="square" lIns="0" rIns="0" tIns="0" bIns="0">
            <a:spAutoFit/>
          </a:bodyPr>
          <a:lstStyle/>
          <a:p>
            <a:pPr>
              <a:spcAft>
                <a:spcPts val="500"/>
              </a:spcAft>
              <a:defRPr sz="1200" b="1">
                <a:solidFill>
                  <a:srgbClr val="15211F"/>
                </a:solidFill>
                <a:latin typeface="Arial"/>
              </a:defRPr>
            </a:pPr>
            <a:r>
              <a:t>NOT SUBMISSION READY</a:t>
            </a:r>
          </a:p>
        </p:txBody>
      </p:sp>
      <p:sp>
        <p:nvSpPr>
          <p:cNvPr id="5" name="TextBox 4"/>
          <p:cNvSpPr txBox="1"/>
          <p:nvPr/>
        </p:nvSpPr>
        <p:spPr>
          <a:xfrm>
            <a:off x="502920" y="859536"/>
            <a:ext cx="11064240" cy="1325880"/>
          </a:xfrm>
          <a:prstGeom prst="rect">
            <a:avLst/>
          </a:prstGeom>
          <a:noFill/>
        </p:spPr>
        <p:txBody>
          <a:bodyPr wrap="square" lIns="0" rIns="0" tIns="0" bIns="0">
            <a:spAutoFit/>
          </a:bodyPr>
          <a:lstStyle/>
          <a:p>
            <a:pPr>
              <a:spcAft>
                <a:spcPts val="500"/>
              </a:spcAft>
              <a:defRPr sz="3600" b="1">
                <a:solidFill>
                  <a:srgbClr val="F3F1E7"/>
                </a:solidFill>
                <a:latin typeface="Arial"/>
              </a:defRPr>
            </a:pPr>
            <a:r>
              <a:t>Earn the next decision</a:t>
            </a:r>
          </a:p>
          <a:p>
            <a:pPr>
              <a:spcAft>
                <a:spcPts val="500"/>
              </a:spcAft>
              <a:defRPr sz="3600" b="1">
                <a:solidFill>
                  <a:srgbClr val="F3F1E7"/>
                </a:solidFill>
                <a:latin typeface="Arial"/>
              </a:defRPr>
            </a:pPr>
            <a:r>
              <a:t>with evidence.</a:t>
            </a:r>
          </a:p>
        </p:txBody>
      </p:sp>
      <p:sp>
        <p:nvSpPr>
          <p:cNvPr id="6" name="TextBox 5"/>
          <p:cNvSpPr txBox="1"/>
          <p:nvPr/>
        </p:nvSpPr>
        <p:spPr>
          <a:xfrm>
            <a:off x="530352" y="2267712"/>
            <a:ext cx="11064240" cy="548640"/>
          </a:xfrm>
          <a:prstGeom prst="rect">
            <a:avLst/>
          </a:prstGeom>
          <a:noFill/>
        </p:spPr>
        <p:txBody>
          <a:bodyPr wrap="square" lIns="0" rIns="0" tIns="0" bIns="0">
            <a:spAutoFit/>
          </a:bodyPr>
          <a:lstStyle/>
          <a:p>
            <a:pPr>
              <a:spcAft>
                <a:spcPts val="500"/>
              </a:spcAft>
              <a:defRPr sz="1800" b="0">
                <a:solidFill>
                  <a:srgbClr val="F3F1E7"/>
                </a:solidFill>
                <a:latin typeface="Arial"/>
              </a:defRPr>
            </a:pPr>
            <a:r>
              <a:t>The completed entry should close on a bounded pilot ask. This blueprint cannot yet do that.</a:t>
            </a:r>
          </a:p>
        </p:txBody>
      </p:sp>
      <p:cxnSp>
        <p:nvCxnSpPr>
          <p:cNvPr id="7" name="Connector 6"/>
          <p:cNvCxnSpPr/>
          <p:nvPr/>
        </p:nvCxnSpPr>
        <p:spPr>
          <a:xfrm>
            <a:off x="502920" y="6364224"/>
            <a:ext cx="11183112" cy="0"/>
          </a:xfrm>
          <a:prstGeom prst="line">
            <a:avLst/>
          </a:prstGeom>
          <a:ln w="8890">
            <a:solidFill>
              <a:srgbClr val="29473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510528"/>
            <a:ext cx="9144000" cy="182880"/>
          </a:xfrm>
          <a:prstGeom prst="rect">
            <a:avLst/>
          </a:prstGeom>
          <a:noFill/>
        </p:spPr>
        <p:txBody>
          <a:bodyPr wrap="square" lIns="0" rIns="0" tIns="0" bIns="0">
            <a:spAutoFit/>
          </a:bodyPr>
          <a:lstStyle/>
          <a:p>
            <a:pPr>
              <a:spcAft>
                <a:spcPts val="500"/>
              </a:spcAft>
              <a:defRPr sz="1000" b="0">
                <a:solidFill>
                  <a:srgbClr val="F3F1E7"/>
                </a:solidFill>
                <a:latin typeface="Arial"/>
              </a:defRPr>
            </a:pPr>
            <a:r>
              <a:t>SIH2171 · IDENTITY UNVERIFIED  /  EXPANDED BLUEPRINT</a:t>
            </a:r>
          </a:p>
        </p:txBody>
      </p:sp>
      <p:sp>
        <p:nvSpPr>
          <p:cNvPr id="9" name="TextBox 8"/>
          <p:cNvSpPr txBox="1"/>
          <p:nvPr/>
        </p:nvSpPr>
        <p:spPr>
          <a:xfrm>
            <a:off x="10881360" y="6510528"/>
            <a:ext cx="822960" cy="182880"/>
          </a:xfrm>
          <a:prstGeom prst="rect">
            <a:avLst/>
          </a:prstGeom>
          <a:noFill/>
        </p:spPr>
        <p:txBody>
          <a:bodyPr wrap="square" lIns="0" rIns="0" tIns="0" bIns="0">
            <a:spAutoFit/>
          </a:bodyPr>
          <a:lstStyle/>
          <a:p>
            <a:pPr>
              <a:spcAft>
                <a:spcPts val="500"/>
              </a:spcAft>
              <a:defRPr sz="1000" b="0">
                <a:solidFill>
                  <a:srgbClr val="F3F1E7"/>
                </a:solidFill>
                <a:latin typeface="Arial"/>
              </a:defRPr>
            </a:pPr>
            <a:r>
              <a:t>15 / 15</a:t>
            </a:r>
          </a:p>
        </p:txBody>
      </p:sp>
      <p:sp>
        <p:nvSpPr>
          <p:cNvPr id="10" name="Rectangle 9"/>
          <p:cNvSpPr/>
          <p:nvPr/>
        </p:nvSpPr>
        <p:spPr>
          <a:xfrm>
            <a:off x="548640" y="3236976"/>
            <a:ext cx="11064240" cy="135331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3547872"/>
            <a:ext cx="10588752" cy="731520"/>
          </a:xfrm>
          <a:prstGeom prst="rect">
            <a:avLst/>
          </a:prstGeom>
          <a:noFill/>
        </p:spPr>
        <p:txBody>
          <a:bodyPr wrap="square" lIns="0" rIns="0" tIns="0" bIns="0">
            <a:spAutoFit/>
          </a:bodyPr>
          <a:lstStyle/>
          <a:p>
            <a:pPr>
              <a:spcAft>
                <a:spcPts val="500"/>
              </a:spcAft>
              <a:defRPr sz="2900" b="1">
                <a:solidFill>
                  <a:srgbClr val="15211F"/>
                </a:solidFill>
                <a:latin typeface="Arial"/>
              </a:defRPr>
            </a:pPr>
            <a:r>
              <a:t>Verify SIH2171. Build the core task. Prove the result.</a:t>
            </a:r>
          </a:p>
        </p:txBody>
      </p:sp>
      <p:sp>
        <p:nvSpPr>
          <p:cNvPr id="12" name="TextBox 11"/>
          <p:cNvSpPr txBox="1"/>
          <p:nvPr/>
        </p:nvSpPr>
        <p:spPr>
          <a:xfrm>
            <a:off x="566928" y="5065776"/>
            <a:ext cx="3383280" cy="365760"/>
          </a:xfrm>
          <a:prstGeom prst="rect">
            <a:avLst/>
          </a:prstGeom>
          <a:noFill/>
        </p:spPr>
        <p:txBody>
          <a:bodyPr wrap="square" lIns="0" rIns="0" tIns="0" bIns="0">
            <a:spAutoFit/>
          </a:bodyPr>
          <a:lstStyle/>
          <a:p>
            <a:pPr>
              <a:spcAft>
                <a:spcPts val="500"/>
              </a:spcAft>
              <a:defRPr sz="1400" b="1">
                <a:solidFill>
                  <a:srgbClr val="D8F36A"/>
                </a:solidFill>
                <a:latin typeface="Arial"/>
              </a:defRPr>
            </a:pPr>
            <a:r>
              <a:t>OPEN DEPENDENCIES</a:t>
            </a:r>
          </a:p>
        </p:txBody>
      </p:sp>
      <p:sp>
        <p:nvSpPr>
          <p:cNvPr id="13" name="TextBox 12"/>
          <p:cNvSpPr txBox="1"/>
          <p:nvPr/>
        </p:nvSpPr>
        <p:spPr>
          <a:xfrm>
            <a:off x="566928" y="5522976"/>
            <a:ext cx="10972800" cy="411480"/>
          </a:xfrm>
          <a:prstGeom prst="rect">
            <a:avLst/>
          </a:prstGeom>
          <a:noFill/>
        </p:spPr>
        <p:txBody>
          <a:bodyPr wrap="square" lIns="0" rIns="0" tIns="0" bIns="0">
            <a:spAutoFit/>
          </a:bodyPr>
          <a:lstStyle/>
          <a:p>
            <a:pPr>
              <a:spcAft>
                <a:spcPts val="500"/>
              </a:spcAft>
              <a:defRPr sz="2000" b="0">
                <a:solidFill>
                  <a:srgbClr val="F3F1E7"/>
                </a:solidFill>
                <a:latin typeface="Arial"/>
              </a:defRPr>
            </a:pPr>
            <a:r>
              <a:t>Official problem  ·  Domain prototype  ·  Measured validation  ·  Team rehearsal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SIH2171 | Expanded pitch blueprint | NOT SUBMISSION READY</dc:title>
  <dc:subject>15-slide editable preparation blueprint; problem identity and domain remain unverified</dc:subject>
  <dc:creator>RV University team preparation workspace</dc:creator>
  <cp:keywords>blueprint, unverified, SIH2171, not submission ready</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