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Dhristi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Dhristi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Dhristi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Dhristi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Dhristi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Uses the six content slides and heading/pointer structure from Raw/provided-template.pptx; retained supplied logos are template assets, not endorsement. The user supplied a 2025 reference. Its 2026 organizer applicability and registered team ID/name still require confirmation. Dhristi is a working project name. Sources: https://www.sih.gov.in/sih2026PS; Benchmarks/results/operations-v01/summary.json; Benchmarks/results/operations-v01/face-scale-v01.json; Benchmarks/results/webpii-text-v01-summary.json; Benchmarks/results/prototype-unit-tests.txt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hyperlink" Target="https://www.sih.gov.in/sih2026PS" TargetMode="External"/><Relationship Id="rId5" Type="http://schemas.openxmlformats.org/officeDocument/2006/relationships/hyperlink" Target="https://arxiv.org/abs/2603.17357" TargetMode="External"/><Relationship Id="rId6" Type="http://schemas.openxmlformats.org/officeDocument/2006/relationships/hyperlink" Target="https://arxiv.org/abs/2509.11939" TargetMode="External"/><Relationship Id="rId7" Type="http://schemas.openxmlformats.org/officeDocument/2006/relationships/hyperlink" Target="https://arxiv.org/abs/2602.10139" TargetMode="External"/><Relationship Id="rId8" Type="http://schemas.openxmlformats.org/officeDocument/2006/relationships/hyperlink" Target="https://github.com/Linzaer/Ultra-Light-Fast-Generic-Face-Detector-1MB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502920" y="1078992"/>
            <a:ext cx="5943600" cy="548640"/>
          </a:xfrm>
        </p:spPr>
        <p:txBody>
          <a:bodyPr wrap="square"/>
          <a:lstStyle/>
          <a:p>
            <a:pPr>
              <a:spcAft>
                <a:spcPts val="600"/>
              </a:spcAft>
              <a:defRPr sz="2500" b="1">
                <a:solidFill>
                  <a:srgbClr val="15211F"/>
                </a:solidFill>
                <a:latin typeface="Arial"/>
              </a:defRPr>
            </a:pPr>
            <a:r>
              <a:t>TITLE PAGE · DHRISTI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457200" y="146304"/>
            <a:ext cx="9235440" cy="868680"/>
          </a:xfrm>
        </p:spPr>
        <p:txBody>
          <a:bodyPr wrap="square"/>
          <a:lstStyle/>
          <a:p>
            <a:pPr>
              <a:spcAft>
                <a:spcPts val="6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856231"/>
            <a:ext cx="6144768" cy="39959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ID – SIH26171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Problem Statement Title – On-device Visual Perception for Light-weight Browser Agents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Theme – Smart Automation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PS Category – Software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ID – pending registration detail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Team Name (Registered on portal) – pending</a:t>
            </a:r>
          </a:p>
          <a:p>
            <a:pPr>
              <a:spcAft>
                <a:spcPts val="600"/>
              </a:spcAft>
              <a:defRPr sz="1900" b="0">
                <a:solidFill>
                  <a:srgbClr val="15211F"/>
                </a:solidFill>
                <a:latin typeface="Arial"/>
              </a:defRPr>
            </a:pPr>
            <a:r>
              <a:t>RV University · Gopreet, Hiranmayi, Varun, Koushaik, Francis, Niharika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DHRISTI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TextBox 15362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548640" y="1408176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Proposed Solution (Describe your Idea/Solution/Prototype)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548640" y="1810512"/>
            <a:ext cx="1097280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Keep the screen local. Send a protected layout. Review every action.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48640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Detailed explanation of the proposed solution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548640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Local face CV + DOM bounds → opaque regions and approved controls → Qwen2.5 → reviewed action.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361688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How it addresses the problem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361688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A strict pixel-free request excludes source text, images, values and URLs before server reasoning.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8174736" y="2816352"/>
            <a:ext cx="3456432" cy="795528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Innovation and uniqueness of the solution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8174736" y="3767328"/>
            <a:ext cx="3456432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Inspectable egress + expiring action references. Integration difference; no first-ever privacy claim.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DHRISTI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89888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Technologies to be used (e.g. programming languages, frameworks, hardware)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9144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JavaScript / extension · UltraFace RFB-320 + ONNX WASM · Node.js / Zod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Ollama + Qwen2.5:7B · SQLite audit counts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80360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Methodology and process for implementation (Flow Charts/Images/ working prototype)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548640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TextBox 17415"/>
          <p:cNvSpPr txBox="1"/>
          <p:nvPr/>
        </p:nvSpPr>
        <p:spPr>
          <a:xfrm>
            <a:off x="694944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Capture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94944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only</a:t>
            </a:r>
          </a:p>
        </p:txBody>
      </p:sp>
      <p:sp>
        <p:nvSpPr>
          <p:cNvPr id="17418" name="Rectangle 17417"/>
          <p:cNvSpPr/>
          <p:nvPr/>
        </p:nvSpPr>
        <p:spPr>
          <a:xfrm>
            <a:off x="3410712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3557016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Protect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557016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Typed scene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272784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419088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Reason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419088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Server LLM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9134856" y="3429000"/>
            <a:ext cx="2459736" cy="1179576"/>
          </a:xfrm>
          <a:prstGeom prst="rect">
            <a:avLst/>
          </a:prstGeom>
          <a:solidFill>
            <a:srgbClr val="F3F1E7"/>
          </a:solidFill>
          <a:ln w="8890">
            <a:solidFill>
              <a:srgbClr val="2947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9281160" y="3630168"/>
            <a:ext cx="2167128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Confirm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281160" y="4160520"/>
            <a:ext cx="216712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52645C"/>
                </a:solidFill>
                <a:latin typeface="Arial"/>
              </a:defRPr>
            </a:pPr>
            <a:r>
              <a:t>Local action</a:t>
            </a:r>
          </a:p>
        </p:txBody>
      </p:sp>
      <p:sp>
        <p:nvSpPr>
          <p:cNvPr id="17427" name="Chevron 17426"/>
          <p:cNvSpPr/>
          <p:nvPr/>
        </p:nvSpPr>
        <p:spPr>
          <a:xfrm>
            <a:off x="3063240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Chevron 17427"/>
          <p:cNvSpPr/>
          <p:nvPr/>
        </p:nvSpPr>
        <p:spPr>
          <a:xfrm>
            <a:off x="5925312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Chevron 17428"/>
          <p:cNvSpPr/>
          <p:nvPr/>
        </p:nvSpPr>
        <p:spPr>
          <a:xfrm>
            <a:off x="8787384" y="3895344"/>
            <a:ext cx="219456" cy="237744"/>
          </a:xfrm>
          <a:prstGeom prst="chevron">
            <a:avLst/>
          </a:prstGeom>
          <a:solidFill>
            <a:srgbClr val="2947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548640" y="4992624"/>
            <a:ext cx="10972800" cy="8229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Observed: Pending → Review → Request ready for review (synthetic fixture).</a:t>
            </a:r>
          </a:p>
          <a:p>
            <a:pPr>
              <a:spcAft>
                <a:spcPts val="500"/>
              </a:spcAft>
              <a:defRPr sz="2000" b="0">
                <a:solidFill>
                  <a:srgbClr val="15211F"/>
                </a:solidFill>
                <a:latin typeface="Arial"/>
              </a:defRPr>
            </a:pPr>
            <a:r>
              <a:t>Waves 1–4: selective preview, protect loop harness, privacy-only mode; G11 fail honest.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DHRISTI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41732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Analysis of the feasibility of the idea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2880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Local browser + optional Qwen; 107 Node tests pass (Wave4).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Privacy-only mode skips planner; Chromium protect loop harness-verified.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852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challenges and risks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64408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Real model step: 3,029 ms; full-flow &lt;200 ms target fails (G11).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Face-only CV; WebPII text retained PII on 58/100; toolbar needs human.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29768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Strategies for overcoming these challenges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4709160"/>
            <a:ext cx="10972800" cy="9418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Held-out fixtures + privacy-only path + detector cache (Wave4).</a:t>
            </a:r>
          </a:p>
          <a:p>
            <a:pPr>
              <a:spcAft>
                <a:spcPts val="500"/>
              </a:spcAft>
              <a:defRPr sz="2300" b="0">
                <a:solidFill>
                  <a:srgbClr val="15211F"/>
                </a:solidFill>
                <a:latin typeface="Arial"/>
              </a:defRPr>
            </a:pPr>
            <a:r>
              <a:t>Fail closed on sanitize; expiry/cancel recovery evidenced; judge checklist.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DHRISTI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9903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Potential impact on the target audience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10512"/>
            <a:ext cx="10972800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5211F"/>
                </a:solidFill>
                <a:latin typeface="Arial"/>
              </a:defRPr>
            </a:pPr>
            <a:r>
              <a:t>Help users complete browser tasks with less raw screen exposure.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706624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Benefits of the solution (social, economic, environmental, etc.)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User control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Inspect server-bound context; approve a bounded action.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361688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Deployable locally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61688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Existing laptop + local model; offline operation after assets are installed.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174736" y="3273552"/>
            <a:ext cx="3456432" cy="640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400" b="1">
                <a:solidFill>
                  <a:srgbClr val="15211F"/>
                </a:solidFill>
                <a:latin typeface="Arial"/>
              </a:defRPr>
            </a:pPr>
            <a:r>
              <a:t>Measure the trade-off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8174736" y="4050791"/>
            <a:ext cx="3456432" cy="13716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5211F"/>
                </a:solidFill>
                <a:latin typeface="Arial"/>
              </a:defRPr>
            </a:pPr>
            <a:r>
              <a:t>PII coverage vs useful context; task success; latency and client memory.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5596128"/>
            <a:ext cx="10972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0">
                <a:solidFill>
                  <a:srgbClr val="70420B"/>
                </a:solidFill>
                <a:latin typeface="Arial"/>
              </a:defRPr>
            </a:pPr>
            <a:r>
              <a:t>Expected benefits, not achieved impact. No user study, savings or energy reduction is claimed.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55648" y="246888"/>
            <a:ext cx="7818120" cy="822960"/>
          </a:xfrm>
        </p:spPr>
        <p:txBody>
          <a:bodyPr wrap="square"/>
          <a:lstStyle/>
          <a:p>
            <a:pPr>
              <a:spcAft>
                <a:spcPts val="600"/>
              </a:spcAft>
              <a:defRPr sz="2700" b="1">
                <a:solidFill>
                  <a:srgbClr val="15211F"/>
                </a:solidFill>
                <a:latin typeface="Arial"/>
              </a:defRPr>
            </a:pPr>
            <a: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/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/>
          <a:lstStyle/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DHRISTI</a:t>
            </a:r>
          </a:p>
          <a:p>
            <a:pPr>
              <a:spcAft>
                <a:spcPts val="600"/>
              </a:spcAft>
              <a:defRPr sz="1100" b="1">
                <a:solidFill>
                  <a:srgbClr val="15211F"/>
                </a:solidFill>
                <a:latin typeface="Arial"/>
              </a:defRPr>
            </a:pPr>
            <a:r>
              <a:t>PROJECT</a:t>
            </a:r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1" name="TextBox 17410"/>
          <p:cNvSpPr txBox="1"/>
          <p:nvPr/>
        </p:nvSpPr>
        <p:spPr>
          <a:xfrm>
            <a:off x="548640" y="6007608"/>
            <a:ext cx="11064240" cy="25603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100" b="0">
                <a:solidFill>
                  <a:srgbClr val="70420B"/>
                </a:solidFill>
                <a:latin typeface="Arial"/>
              </a:defRPr>
            </a:pPr>
            <a:r>
              <a:t>2026 content · supplied 2025 reference format · registered team ID/name pending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48640" y="1353312"/>
            <a:ext cx="10972800" cy="3200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400" b="1">
                <a:solidFill>
                  <a:srgbClr val="29473F"/>
                </a:solidFill>
                <a:latin typeface="Arial"/>
              </a:defRPr>
            </a:pPr>
            <a:r>
              <a:t>Details / Links of the reference and research work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48640" y="1883664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Official SIH26171 · problem and 25/20/20/20/15 weights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48640" y="2212848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4"/>
              </a:rPr>
              <a:t>https://www.sih.gov.in/sih2026PS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48640" y="2587752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WebPII / WebRedact · visual PII benchmark (2026 preprint)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48640" y="2916936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5"/>
              </a:rPr>
              <a:t>https://arxiv.org/abs/2603.17357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48640" y="3291840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PrivWeb · local anonymization and user control (2025 preprint)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548640" y="3621024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6"/>
              </a:rPr>
              <a:t>https://arxiv.org/abs/2509.11939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48640" y="3995928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Available but Invisible · typed placeholders (2026 preprint)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548640" y="4325112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7"/>
              </a:rPr>
              <a:t>https://arxiv.org/abs/2602.10139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548640" y="4700016"/>
            <a:ext cx="10972800" cy="30175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800" b="1">
                <a:solidFill>
                  <a:srgbClr val="15211F"/>
                </a:solidFill>
                <a:latin typeface="Arial"/>
              </a:defRPr>
            </a:pPr>
            <a:r>
              <a:t>UltraFace · MIT model; ORT Web · packaged WASM runtime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48640" y="5029200"/>
            <a:ext cx="10972800" cy="265176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29473F"/>
                </a:solidFill>
                <a:latin typeface="Arial"/>
              </a:defRPr>
            </a:pPr>
            <a:r>
              <a:rPr>
                <a:hlinkClick r:id="rId8"/>
              </a:rPr>
              <a:t>https://github.com/Linzaer/Ultra-Light-Fast-Generic-Face-Detector-1MB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548640" y="555040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2645C"/>
                </a:solidFill>
                <a:latin typeface="Arial"/>
              </a:defRPr>
            </a:pPr>
            <a:r>
              <a:t>Prototype evidence: Benchmarks/results/prototype-v01-browser.json · model hashes/licenses in Prototype/models/manifest.json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Dhristi | SIH26171 | Six-slide submission candidate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