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780" y="6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Uses the six content slides and heading/pointer structure from Raw/provided-template.pptx; retained supplied logos are template assets, not endorsement. The user supplied a 2025 reference. Its 2026 organizer applicability and registered team ID/name still require confirmation. Dhristi is a working project name. Sources: https://www.sih.gov.in/sih2026PS; Benchmarks/results/operations-v01/summary.json; Benchmarks/results/operations-v01/face-scale-v01.json; Benchmarks/results/webpii-text-v01-summary.json; Benchmarks/results/prototype-unit-tests.txt</a:t>
            </a: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Uses the six content slides and heading/pointer structure from Raw/provided-template.pptx; retained supplied logos are template assets, not endorsement. The user supplied a 2025 reference. Its 2026 organizer applicability and registered team ID/name still require confirmation. Dhristi is a working project name. Sources: https://www.sih.gov.in/sih2026PS; Benchmarks/results/operations-v01/summary.json; Benchmarks/results/operations-v01/face-scale-v01.json; Benchmarks/results/webpii-text-v01-summary.json; Benchmarks/results/prototype-unit-tests.txt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Uses the six content slides and heading/pointer structure from Raw/provided-template.pptx; retained supplied logos are template assets, not endorsement. The user supplied a 2025 reference. Its 2026 organizer applicability and registered team ID/name still require confirmation. Dhristi is a working project name. Sources: https://www.sih.gov.in/sih2026PS; Benchmarks/results/operations-v01/summary.json; Benchmarks/results/operations-v01/face-scale-v01.json; Benchmarks/results/webpii-text-v01-summary.json; Benchmarks/results/prototype-unit-tests.txt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Uses the six content slides and heading/pointer structure from Raw/provided-template.pptx; retained supplied logos are template assets, not endorsement. The user supplied a 2025 reference. Its 2026 organizer applicability and registered team ID/name still require confirmation. Dhristi is a working project name. Sources: https://www.sih.gov.in/sih2026PS; Benchmarks/results/operations-v01/summary.json; Benchmarks/results/operations-v01/face-scale-v01.json; Benchmarks/results/webpii-text-v01-summary.json; Benchmarks/results/prototype-unit-tests.txt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Uses the six content slides and heading/pointer structure from Raw/provided-template.pptx; retained supplied logos are template assets, not endorsement. The user supplied a 2025 reference. Its 2026 organizer applicability and registered team ID/name still require confirmation. Dhristi is a working project name. Sources: https://www.sih.gov.in/sih2026PS; Benchmarks/results/operations-v01/summary.json; Benchmarks/results/operations-v01/face-scale-v01.json; Benchmarks/results/webpii-text-v01-summary.json; Benchmarks/results/prototype-unit-tests.txt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Uses the six content slides and heading/pointer structure from Raw/provided-template.pptx; retained supplied logos are template assets, not endorsement. The user supplied a 2025 reference. Its 2026 organizer applicability and registered team ID/name still require confirmation. Dhristi is a working project name. Sources: https://www.sih.gov.in/sih2026PS; Benchmarks/results/operations-v01/summary.json; Benchmarks/results/operations-v01/face-scale-v01.json; Benchmarks/results/webpii-text-v01-summary.json; Benchmarks/results/prototype-unit-tests.txt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6/26/2025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6/26/2025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6/26/2025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hyperlink" Target="https://www.sih.gov.in/sih2026PS" TargetMode="External"/><Relationship Id="rId5" Type="http://schemas.openxmlformats.org/officeDocument/2006/relationships/hyperlink" Target="https://arxiv.org/abs/2603.17357" TargetMode="External"/><Relationship Id="rId6" Type="http://schemas.openxmlformats.org/officeDocument/2006/relationships/hyperlink" Target="https://arxiv.org/abs/2509.11939" TargetMode="External"/><Relationship Id="rId7" Type="http://schemas.openxmlformats.org/officeDocument/2006/relationships/hyperlink" Target="https://arxiv.org/abs/2602.10139" TargetMode="External"/><Relationship Id="rId8" Type="http://schemas.openxmlformats.org/officeDocument/2006/relationships/hyperlink" Target="https://github.com/Linzaer/Ultra-Light-Fast-Generic-Face-Detector-1MB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502920" y="1078992"/>
            <a:ext cx="5943600" cy="548640"/>
          </a:xfrm>
        </p:spPr>
        <p:txBody>
          <a:bodyPr wrap="square"/>
          <a:lstStyle/>
          <a:p>
            <a:pPr>
              <a:spcAft>
                <a:spcPts val="600"/>
              </a:spcAft>
              <a:defRPr sz="2500" b="1">
                <a:solidFill>
                  <a:srgbClr val="15211F"/>
                </a:solidFill>
                <a:latin typeface="Arial"/>
              </a:defRPr>
            </a:pPr>
            <a:r>
              <a:t>TITLE PAGE · DHRISTI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46304"/>
            <a:ext cx="9235440" cy="868680"/>
          </a:xfrm>
        </p:spPr>
        <p:txBody>
          <a:bodyPr wrap="square"/>
          <a:lstStyle/>
          <a:p>
            <a:pPr>
              <a:spcAft>
                <a:spcPts val="600"/>
              </a:spcAft>
              <a:defRPr sz="2900" b="1">
                <a:solidFill>
                  <a:srgbClr val="15211F"/>
                </a:solidFill>
                <a:latin typeface="Arial"/>
              </a:defRPr>
            </a:pPr>
            <a:r>
              <a:t>SMART INDIA HACKATHON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1856231"/>
            <a:ext cx="6144768" cy="3995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  <a:defRPr sz="1900" b="0">
                <a:solidFill>
                  <a:srgbClr val="15211F"/>
                </a:solidFill>
                <a:latin typeface="Arial"/>
              </a:defRPr>
            </a:pPr>
            <a:r>
              <a:t>Problem Statement ID – SIH26171</a:t>
            </a:r>
          </a:p>
          <a:p>
            <a:pPr>
              <a:spcAft>
                <a:spcPts val="600"/>
              </a:spcAft>
              <a:defRPr sz="1900" b="0">
                <a:solidFill>
                  <a:srgbClr val="15211F"/>
                </a:solidFill>
                <a:latin typeface="Arial"/>
              </a:defRPr>
            </a:pPr>
            <a:r>
              <a:t>Problem Statement Title – On-device Visual Perception for Light-weight Browser Agents</a:t>
            </a:r>
          </a:p>
          <a:p>
            <a:pPr>
              <a:spcAft>
                <a:spcPts val="600"/>
              </a:spcAft>
              <a:defRPr sz="1900" b="0">
                <a:solidFill>
                  <a:srgbClr val="15211F"/>
                </a:solidFill>
                <a:latin typeface="Arial"/>
              </a:defRPr>
            </a:pPr>
            <a:r>
              <a:t>Theme – Smart Automation</a:t>
            </a:r>
          </a:p>
          <a:p>
            <a:pPr>
              <a:spcAft>
                <a:spcPts val="600"/>
              </a:spcAft>
              <a:defRPr sz="1900" b="0">
                <a:solidFill>
                  <a:srgbClr val="15211F"/>
                </a:solidFill>
                <a:latin typeface="Arial"/>
              </a:defRPr>
            </a:pPr>
            <a:r>
              <a:t>PS Category – Software</a:t>
            </a:r>
          </a:p>
          <a:p>
            <a:pPr>
              <a:spcAft>
                <a:spcPts val="600"/>
              </a:spcAft>
              <a:defRPr sz="1900" b="0">
                <a:solidFill>
                  <a:srgbClr val="15211F"/>
                </a:solidFill>
                <a:latin typeface="Arial"/>
              </a:defRPr>
            </a:pPr>
            <a:r>
              <a:t>Team ID – pending registration detail</a:t>
            </a:r>
          </a:p>
          <a:p>
            <a:pPr>
              <a:spcAft>
                <a:spcPts val="600"/>
              </a:spcAft>
              <a:defRPr sz="1900" b="0">
                <a:solidFill>
                  <a:srgbClr val="15211F"/>
                </a:solidFill>
                <a:latin typeface="Arial"/>
              </a:defRPr>
            </a:pPr>
            <a:r>
              <a:t>Team Name (Registered on portal) – pending</a:t>
            </a:r>
          </a:p>
          <a:p>
            <a:pPr>
              <a:spcAft>
                <a:spcPts val="600"/>
              </a:spcAft>
              <a:defRPr sz="1900" b="0">
                <a:solidFill>
                  <a:srgbClr val="15211F"/>
                </a:solidFill>
                <a:latin typeface="Arial"/>
              </a:defRPr>
            </a:pPr>
            <a:r>
              <a:t>RV University · Gopreet, Hiranmayi, Varun, Koushaik, Francis, Niharika</a:t>
            </a:r>
          </a:p>
        </p:txBody>
      </p:sp>
      <p:pic>
        <p:nvPicPr>
          <p:cNvPr id="1026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62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7" name="TextBox 1026"/>
          <p:cNvSpPr txBox="1"/>
          <p:nvPr/>
        </p:nvSpPr>
        <p:spPr>
          <a:xfrm>
            <a:off x="548640" y="6007608"/>
            <a:ext cx="11064240" cy="2560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70420B"/>
                </a:solidFill>
                <a:latin typeface="Arial"/>
              </a:defRPr>
            </a:pPr>
            <a:r>
              <a:t>2026 content · supplied 2025 reference format · registered team ID/name pending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755648" y="246888"/>
            <a:ext cx="7818120" cy="822960"/>
          </a:xfrm>
        </p:spPr>
        <p:txBody>
          <a:bodyPr wrap="square"/>
          <a:lstStyle/>
          <a:p>
            <a:pPr>
              <a:spcAft>
                <a:spcPts val="600"/>
              </a:spcAft>
              <a:defRPr sz="2700" b="1">
                <a:solidFill>
                  <a:srgbClr val="15211F"/>
                </a:solidFill>
                <a:latin typeface="Arial"/>
              </a:defRPr>
            </a:pPr>
            <a: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>
              <a:spcAft>
                <a:spcPts val="600"/>
              </a:spcAft>
              <a:defRPr sz="1100" b="1">
                <a:solidFill>
                  <a:srgbClr val="15211F"/>
                </a:solidFill>
                <a:latin typeface="Arial"/>
              </a:defRPr>
            </a:pPr>
            <a:r>
              <a:t>DHRISTI</a:t>
            </a:r>
          </a:p>
          <a:p>
            <a:pPr>
              <a:spcAft>
                <a:spcPts val="600"/>
              </a:spcAft>
              <a:defRPr sz="1100" b="1">
                <a:solidFill>
                  <a:srgbClr val="15211F"/>
                </a:solidFill>
                <a:latin typeface="Arial"/>
              </a:defRPr>
            </a:pPr>
            <a:r>
              <a:t>PROJECT</a:t>
            </a:r>
          </a:p>
        </p:txBody>
      </p:sp>
      <p:pic>
        <p:nvPicPr>
          <p:cNvPr id="12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363" name="TextBox 15362"/>
          <p:cNvSpPr txBox="1"/>
          <p:nvPr/>
        </p:nvSpPr>
        <p:spPr>
          <a:xfrm>
            <a:off x="548640" y="6007608"/>
            <a:ext cx="11064240" cy="2560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70420B"/>
                </a:solidFill>
                <a:latin typeface="Arial"/>
              </a:defRPr>
            </a:pPr>
            <a:r>
              <a:t>2026 content · supplied 2025 reference format · registered team ID/name pending</a:t>
            </a:r>
          </a:p>
        </p:txBody>
      </p:sp>
      <p:sp>
        <p:nvSpPr>
          <p:cNvPr id="15364" name="TextBox 15363"/>
          <p:cNvSpPr txBox="1"/>
          <p:nvPr/>
        </p:nvSpPr>
        <p:spPr>
          <a:xfrm>
            <a:off x="548640" y="1408176"/>
            <a:ext cx="1097280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29473F"/>
                </a:solidFill>
                <a:latin typeface="Arial"/>
              </a:defRPr>
            </a:pPr>
            <a:r>
              <a:t>Proposed Solution (Describe your Idea/Solution/Prototype)</a:t>
            </a:r>
          </a:p>
        </p:txBody>
      </p:sp>
      <p:sp>
        <p:nvSpPr>
          <p:cNvPr id="15365" name="TextBox 15364"/>
          <p:cNvSpPr txBox="1"/>
          <p:nvPr/>
        </p:nvSpPr>
        <p:spPr>
          <a:xfrm>
            <a:off x="548640" y="1810512"/>
            <a:ext cx="1097280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5211F"/>
                </a:solidFill>
                <a:latin typeface="Arial"/>
              </a:defRPr>
            </a:pPr>
            <a:r>
              <a:t>Keep the screen local. Send a protected layout. Review every action.</a:t>
            </a:r>
          </a:p>
        </p:txBody>
      </p:sp>
      <p:sp>
        <p:nvSpPr>
          <p:cNvPr id="15366" name="TextBox 15365"/>
          <p:cNvSpPr txBox="1"/>
          <p:nvPr/>
        </p:nvSpPr>
        <p:spPr>
          <a:xfrm>
            <a:off x="548640" y="2816352"/>
            <a:ext cx="3456432" cy="79552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29473F"/>
                </a:solidFill>
                <a:latin typeface="Arial"/>
              </a:defRPr>
            </a:pPr>
            <a:r>
              <a:t>Detailed explanation of the proposed solution</a:t>
            </a:r>
          </a:p>
        </p:txBody>
      </p:sp>
      <p:sp>
        <p:nvSpPr>
          <p:cNvPr id="15367" name="TextBox 15366"/>
          <p:cNvSpPr txBox="1"/>
          <p:nvPr/>
        </p:nvSpPr>
        <p:spPr>
          <a:xfrm>
            <a:off x="548640" y="3767328"/>
            <a:ext cx="3456432" cy="1645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15211F"/>
                </a:solidFill>
                <a:latin typeface="Arial"/>
              </a:defRPr>
            </a:pPr>
            <a:r>
              <a:t>Local face CV + DOM bounds → opaque regions and approved controls → Qwen2.5 → reviewed action.</a:t>
            </a:r>
          </a:p>
        </p:txBody>
      </p:sp>
      <p:sp>
        <p:nvSpPr>
          <p:cNvPr id="15368" name="TextBox 15367"/>
          <p:cNvSpPr txBox="1"/>
          <p:nvPr/>
        </p:nvSpPr>
        <p:spPr>
          <a:xfrm>
            <a:off x="4361688" y="2816352"/>
            <a:ext cx="3456432" cy="79552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29473F"/>
                </a:solidFill>
                <a:latin typeface="Arial"/>
              </a:defRPr>
            </a:pPr>
            <a:r>
              <a:t>How it addresses the problem</a:t>
            </a:r>
          </a:p>
        </p:txBody>
      </p:sp>
      <p:sp>
        <p:nvSpPr>
          <p:cNvPr id="15369" name="TextBox 15368"/>
          <p:cNvSpPr txBox="1"/>
          <p:nvPr/>
        </p:nvSpPr>
        <p:spPr>
          <a:xfrm>
            <a:off x="4361688" y="3767328"/>
            <a:ext cx="3456432" cy="1645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15211F"/>
                </a:solidFill>
                <a:latin typeface="Arial"/>
              </a:defRPr>
            </a:pPr>
            <a:r>
              <a:t>A strict pixel-free request excludes source text, images, values and URLs before server reasoning.</a:t>
            </a:r>
          </a:p>
        </p:txBody>
      </p:sp>
      <p:sp>
        <p:nvSpPr>
          <p:cNvPr id="15370" name="TextBox 15369"/>
          <p:cNvSpPr txBox="1"/>
          <p:nvPr/>
        </p:nvSpPr>
        <p:spPr>
          <a:xfrm>
            <a:off x="8174736" y="2816352"/>
            <a:ext cx="3456432" cy="79552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29473F"/>
                </a:solidFill>
                <a:latin typeface="Arial"/>
              </a:defRPr>
            </a:pPr>
            <a:r>
              <a:t>Innovation and uniqueness of the solution</a:t>
            </a:r>
          </a:p>
        </p:txBody>
      </p:sp>
      <p:sp>
        <p:nvSpPr>
          <p:cNvPr id="15371" name="TextBox 15370"/>
          <p:cNvSpPr txBox="1"/>
          <p:nvPr/>
        </p:nvSpPr>
        <p:spPr>
          <a:xfrm>
            <a:off x="8174736" y="3767328"/>
            <a:ext cx="3456432" cy="1645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15211F"/>
                </a:solidFill>
                <a:latin typeface="Arial"/>
              </a:defRPr>
            </a:pPr>
            <a:r>
              <a:t>Inspectable egress + expiring action references. Integration difference; no first-ever privacy claim.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755648" y="246888"/>
            <a:ext cx="7818120" cy="822960"/>
          </a:xfrm>
        </p:spPr>
        <p:txBody>
          <a:bodyPr wrap="square"/>
          <a:lstStyle/>
          <a:p>
            <a:pPr>
              <a:spcAft>
                <a:spcPts val="600"/>
              </a:spcAft>
              <a:defRPr sz="2700" b="1">
                <a:solidFill>
                  <a:srgbClr val="15211F"/>
                </a:solidFill>
                <a:latin typeface="Arial"/>
              </a:defRPr>
            </a:pPr>
            <a: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>
              <a:spcAft>
                <a:spcPts val="600"/>
              </a:spcAft>
              <a:defRPr sz="1100" b="1">
                <a:solidFill>
                  <a:srgbClr val="15211F"/>
                </a:solidFill>
                <a:latin typeface="Arial"/>
              </a:defRPr>
            </a:pPr>
            <a:r>
              <a:t>DHRISTI</a:t>
            </a:r>
          </a:p>
          <a:p>
            <a:pPr>
              <a:spcAft>
                <a:spcPts val="600"/>
              </a:spcAft>
              <a:defRPr sz="1100" b="1">
                <a:solidFill>
                  <a:srgbClr val="15211F"/>
                </a:solidFill>
                <a:latin typeface="Arial"/>
              </a:defRPr>
            </a:pPr>
            <a:r>
              <a:t>PROJECT</a:t>
            </a: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411" name="TextBox 17410"/>
          <p:cNvSpPr txBox="1"/>
          <p:nvPr/>
        </p:nvSpPr>
        <p:spPr>
          <a:xfrm>
            <a:off x="548640" y="6007608"/>
            <a:ext cx="11064240" cy="2560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70420B"/>
                </a:solidFill>
                <a:latin typeface="Arial"/>
              </a:defRPr>
            </a:pPr>
            <a:r>
              <a:t>2026 content · supplied 2025 reference format · registered team ID/name pending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548640" y="1389888"/>
            <a:ext cx="1097280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29473F"/>
                </a:solidFill>
                <a:latin typeface="Arial"/>
              </a:defRPr>
            </a:pPr>
            <a:r>
              <a:t>Technologies to be used (e.g. programming languages, frameworks, hardware)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548640" y="1810512"/>
            <a:ext cx="10972800" cy="91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2300" b="0">
                <a:solidFill>
                  <a:srgbClr val="15211F"/>
                </a:solidFill>
                <a:latin typeface="Arial"/>
              </a:defRPr>
            </a:pPr>
            <a:r>
              <a:t>JavaScript / extension · UltraFace RFB-320 + ONNX WASM · Node.js / Zod</a:t>
            </a:r>
          </a:p>
          <a:p>
            <a:pPr>
              <a:spcAft>
                <a:spcPts val="500"/>
              </a:spcAft>
              <a:defRPr sz="2300" b="0">
                <a:solidFill>
                  <a:srgbClr val="15211F"/>
                </a:solidFill>
                <a:latin typeface="Arial"/>
              </a:defRPr>
            </a:pPr>
            <a:r>
              <a:t>Ollama + Qwen2.5:7B · SQLite audit counts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548640" y="2880360"/>
            <a:ext cx="1097280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29473F"/>
                </a:solidFill>
                <a:latin typeface="Arial"/>
              </a:defRPr>
            </a:pPr>
            <a:r>
              <a:t>Methodology and process for implementation (Flow Charts/Images/ working prototype)</a:t>
            </a:r>
          </a:p>
        </p:txBody>
      </p:sp>
      <p:sp>
        <p:nvSpPr>
          <p:cNvPr id="17415" name="Rectangle 17414"/>
          <p:cNvSpPr/>
          <p:nvPr/>
        </p:nvSpPr>
        <p:spPr>
          <a:xfrm>
            <a:off x="548640" y="3429000"/>
            <a:ext cx="2459736" cy="1179576"/>
          </a:xfrm>
          <a:prstGeom prst="rect">
            <a:avLst/>
          </a:prstGeom>
          <a:solidFill>
            <a:srgbClr val="F3F1E7"/>
          </a:solidFill>
          <a:ln w="8890">
            <a:solidFill>
              <a:srgbClr val="2947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6" name="TextBox 17415"/>
          <p:cNvSpPr txBox="1"/>
          <p:nvPr/>
        </p:nvSpPr>
        <p:spPr>
          <a:xfrm>
            <a:off x="694944" y="3630168"/>
            <a:ext cx="2167128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2400" b="1">
                <a:solidFill>
                  <a:srgbClr val="15211F"/>
                </a:solidFill>
                <a:latin typeface="Arial"/>
              </a:defRPr>
            </a:pPr>
            <a:r>
              <a:t>Capture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694944" y="4160520"/>
            <a:ext cx="2167128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52645C"/>
                </a:solidFill>
                <a:latin typeface="Arial"/>
              </a:defRPr>
            </a:pPr>
            <a:r>
              <a:t>Local only</a:t>
            </a:r>
          </a:p>
        </p:txBody>
      </p:sp>
      <p:sp>
        <p:nvSpPr>
          <p:cNvPr id="17418" name="Rectangle 17417"/>
          <p:cNvSpPr/>
          <p:nvPr/>
        </p:nvSpPr>
        <p:spPr>
          <a:xfrm>
            <a:off x="3410712" y="3429000"/>
            <a:ext cx="2459736" cy="1179576"/>
          </a:xfrm>
          <a:prstGeom prst="rect">
            <a:avLst/>
          </a:prstGeom>
          <a:solidFill>
            <a:srgbClr val="F3F1E7"/>
          </a:solidFill>
          <a:ln w="8890">
            <a:solidFill>
              <a:srgbClr val="2947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9" name="TextBox 17418"/>
          <p:cNvSpPr txBox="1"/>
          <p:nvPr/>
        </p:nvSpPr>
        <p:spPr>
          <a:xfrm>
            <a:off x="3557016" y="3630168"/>
            <a:ext cx="2167128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2400" b="1">
                <a:solidFill>
                  <a:srgbClr val="15211F"/>
                </a:solidFill>
                <a:latin typeface="Arial"/>
              </a:defRPr>
            </a:pPr>
            <a:r>
              <a:t>Protect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3557016" y="4160520"/>
            <a:ext cx="2167128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52645C"/>
                </a:solidFill>
                <a:latin typeface="Arial"/>
              </a:defRPr>
            </a:pPr>
            <a:r>
              <a:t>Typed scene</a:t>
            </a:r>
          </a:p>
        </p:txBody>
      </p:sp>
      <p:sp>
        <p:nvSpPr>
          <p:cNvPr id="17421" name="Rectangle 17420"/>
          <p:cNvSpPr/>
          <p:nvPr/>
        </p:nvSpPr>
        <p:spPr>
          <a:xfrm>
            <a:off x="6272784" y="3429000"/>
            <a:ext cx="2459736" cy="1179576"/>
          </a:xfrm>
          <a:prstGeom prst="rect">
            <a:avLst/>
          </a:prstGeom>
          <a:solidFill>
            <a:srgbClr val="F3F1E7"/>
          </a:solidFill>
          <a:ln w="8890">
            <a:solidFill>
              <a:srgbClr val="2947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2" name="TextBox 17421"/>
          <p:cNvSpPr txBox="1"/>
          <p:nvPr/>
        </p:nvSpPr>
        <p:spPr>
          <a:xfrm>
            <a:off x="6419088" y="3630168"/>
            <a:ext cx="2167128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2400" b="1">
                <a:solidFill>
                  <a:srgbClr val="15211F"/>
                </a:solidFill>
                <a:latin typeface="Arial"/>
              </a:defRPr>
            </a:pPr>
            <a:r>
              <a:t>Reason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6419088" y="4160520"/>
            <a:ext cx="2167128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52645C"/>
                </a:solidFill>
                <a:latin typeface="Arial"/>
              </a:defRPr>
            </a:pPr>
            <a:r>
              <a:t>Server LLM</a:t>
            </a:r>
          </a:p>
        </p:txBody>
      </p:sp>
      <p:sp>
        <p:nvSpPr>
          <p:cNvPr id="17424" name="Rectangle 17423"/>
          <p:cNvSpPr/>
          <p:nvPr/>
        </p:nvSpPr>
        <p:spPr>
          <a:xfrm>
            <a:off x="9134856" y="3429000"/>
            <a:ext cx="2459736" cy="1179576"/>
          </a:xfrm>
          <a:prstGeom prst="rect">
            <a:avLst/>
          </a:prstGeom>
          <a:solidFill>
            <a:srgbClr val="F3F1E7"/>
          </a:solidFill>
          <a:ln w="8890">
            <a:solidFill>
              <a:srgbClr val="2947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5" name="TextBox 17424"/>
          <p:cNvSpPr txBox="1"/>
          <p:nvPr/>
        </p:nvSpPr>
        <p:spPr>
          <a:xfrm>
            <a:off x="9281160" y="3630168"/>
            <a:ext cx="2167128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2400" b="1">
                <a:solidFill>
                  <a:srgbClr val="15211F"/>
                </a:solidFill>
                <a:latin typeface="Arial"/>
              </a:defRPr>
            </a:pPr>
            <a:r>
              <a:t>Confirm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9281160" y="4160520"/>
            <a:ext cx="2167128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52645C"/>
                </a:solidFill>
                <a:latin typeface="Arial"/>
              </a:defRPr>
            </a:pPr>
            <a:r>
              <a:t>Local action</a:t>
            </a:r>
          </a:p>
        </p:txBody>
      </p:sp>
      <p:sp>
        <p:nvSpPr>
          <p:cNvPr id="17427" name="Chevron 17426"/>
          <p:cNvSpPr/>
          <p:nvPr/>
        </p:nvSpPr>
        <p:spPr>
          <a:xfrm>
            <a:off x="3063240" y="3895344"/>
            <a:ext cx="219456" cy="237744"/>
          </a:xfrm>
          <a:prstGeom prst="chevron">
            <a:avLst/>
          </a:prstGeom>
          <a:solidFill>
            <a:srgbClr val="294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8" name="Chevron 17427"/>
          <p:cNvSpPr/>
          <p:nvPr/>
        </p:nvSpPr>
        <p:spPr>
          <a:xfrm>
            <a:off x="5925312" y="3895344"/>
            <a:ext cx="219456" cy="237744"/>
          </a:xfrm>
          <a:prstGeom prst="chevron">
            <a:avLst/>
          </a:prstGeom>
          <a:solidFill>
            <a:srgbClr val="294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9" name="Chevron 17428"/>
          <p:cNvSpPr/>
          <p:nvPr/>
        </p:nvSpPr>
        <p:spPr>
          <a:xfrm>
            <a:off x="8787384" y="3895344"/>
            <a:ext cx="219456" cy="237744"/>
          </a:xfrm>
          <a:prstGeom prst="chevron">
            <a:avLst/>
          </a:prstGeom>
          <a:solidFill>
            <a:srgbClr val="294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0" name="TextBox 17429"/>
          <p:cNvSpPr txBox="1"/>
          <p:nvPr/>
        </p:nvSpPr>
        <p:spPr>
          <a:xfrm>
            <a:off x="548640" y="4992624"/>
            <a:ext cx="10972800" cy="8229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2000" b="0">
                <a:solidFill>
                  <a:srgbClr val="15211F"/>
                </a:solidFill>
                <a:latin typeface="Arial"/>
              </a:defRPr>
            </a:pPr>
            <a:r>
              <a:t>Observed: Pending → Review → Request ready for review (synthetic fixture).</a:t>
            </a:r>
          </a:p>
          <a:p>
            <a:pPr>
              <a:spcAft>
                <a:spcPts val="500"/>
              </a:spcAft>
              <a:defRPr sz="2000" b="0">
                <a:solidFill>
                  <a:srgbClr val="15211F"/>
                </a:solidFill>
                <a:latin typeface="Arial"/>
              </a:defRPr>
            </a:pPr>
            <a:r>
              <a:t>Waves 1–4: selective preview, protect loop harness, privacy-only mode; G11 fail honest.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755648" y="246888"/>
            <a:ext cx="7818120" cy="822960"/>
          </a:xfrm>
        </p:spPr>
        <p:txBody>
          <a:bodyPr wrap="square"/>
          <a:lstStyle/>
          <a:p>
            <a:pPr>
              <a:spcAft>
                <a:spcPts val="600"/>
              </a:spcAft>
              <a:defRPr sz="2700" b="1">
                <a:solidFill>
                  <a:srgbClr val="15211F"/>
                </a:solidFill>
                <a:latin typeface="Arial"/>
              </a:defRPr>
            </a:pPr>
            <a: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>
              <a:spcAft>
                <a:spcPts val="600"/>
              </a:spcAft>
              <a:defRPr sz="1100" b="1">
                <a:solidFill>
                  <a:srgbClr val="15211F"/>
                </a:solidFill>
                <a:latin typeface="Arial"/>
              </a:defRPr>
            </a:pPr>
            <a:r>
              <a:t>DHRISTI</a:t>
            </a:r>
          </a:p>
          <a:p>
            <a:pPr>
              <a:spcAft>
                <a:spcPts val="600"/>
              </a:spcAft>
              <a:defRPr sz="1100" b="1">
                <a:solidFill>
                  <a:srgbClr val="15211F"/>
                </a:solidFill>
                <a:latin typeface="Arial"/>
              </a:defRPr>
            </a:pPr>
            <a:r>
              <a:t>PROJECT</a:t>
            </a: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411" name="TextBox 17410"/>
          <p:cNvSpPr txBox="1"/>
          <p:nvPr/>
        </p:nvSpPr>
        <p:spPr>
          <a:xfrm>
            <a:off x="548640" y="6007608"/>
            <a:ext cx="11064240" cy="2560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70420B"/>
                </a:solidFill>
                <a:latin typeface="Arial"/>
              </a:defRPr>
            </a:pPr>
            <a:r>
              <a:t>2026 content · supplied 2025 reference format · registered team ID/name pending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548640" y="1417320"/>
            <a:ext cx="10972800" cy="30175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29473F"/>
                </a:solidFill>
                <a:latin typeface="Arial"/>
              </a:defRPr>
            </a:pPr>
            <a:r>
              <a:t>Analysis of the feasibility of the idea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548640" y="1828800"/>
            <a:ext cx="10972800" cy="9418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2300" b="0">
                <a:solidFill>
                  <a:srgbClr val="15211F"/>
                </a:solidFill>
                <a:latin typeface="Arial"/>
              </a:defRPr>
            </a:pPr>
            <a:r>
              <a:t>Local browser + optional Qwen; 119 Node tests pass (measured 2026-09-15).</a:t>
            </a:r>
          </a:p>
          <a:p>
            <a:pPr>
              <a:spcAft>
                <a:spcPts val="500"/>
              </a:spcAft>
              <a:defRPr sz="2300" b="0">
                <a:solidFill>
                  <a:srgbClr val="15211F"/>
                </a:solidFill>
                <a:latin typeface="Arial"/>
              </a:defRPr>
            </a:pPr>
            <a:r>
              <a:t>Privacy-only + Score heuristic; Chromium protect loop harness-verified.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548640" y="2852928"/>
            <a:ext cx="10972800" cy="30175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29473F"/>
                </a:solidFill>
                <a:latin typeface="Arial"/>
              </a:defRPr>
            </a:pPr>
            <a:r>
              <a:t>Potential challenges and risks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548640" y="3264408"/>
            <a:ext cx="10972800" cy="9418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2300" b="0">
                <a:solidFill>
                  <a:srgbClr val="15211F"/>
                </a:solidFill>
                <a:latin typeface="Arial"/>
              </a:defRPr>
            </a:pPr>
            <a:r>
              <a:t>Real model step: 3,029 ms; full-flow &lt;200 ms target fails (G11).</a:t>
            </a:r>
          </a:p>
          <a:p>
            <a:pPr>
              <a:spcAft>
                <a:spcPts val="500"/>
              </a:spcAft>
              <a:defRPr sz="2300" b="0">
                <a:solidFill>
                  <a:srgbClr val="15211F"/>
                </a:solidFill>
                <a:latin typeface="Arial"/>
              </a:defRPr>
            </a:pPr>
            <a:r>
              <a:t>Face-only CV; WebPII text retained PII on 58/100; toolbar needs human.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548640" y="4297680"/>
            <a:ext cx="10972800" cy="30175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29473F"/>
                </a:solidFill>
                <a:latin typeface="Arial"/>
              </a:defRPr>
            </a:pPr>
            <a:r>
              <a:t>Strategies for overcoming these challenges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548640" y="4709160"/>
            <a:ext cx="10972800" cy="9418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2300" b="0">
                <a:solidFill>
                  <a:srgbClr val="15211F"/>
                </a:solidFill>
                <a:latin typeface="Arial"/>
              </a:defRPr>
            </a:pPr>
            <a:r>
              <a:t>Held-out fixtures + privacy-only path + detector cache (Wave4).</a:t>
            </a:r>
          </a:p>
          <a:p>
            <a:pPr>
              <a:spcAft>
                <a:spcPts val="500"/>
              </a:spcAft>
              <a:defRPr sz="2300" b="0">
                <a:solidFill>
                  <a:srgbClr val="15211F"/>
                </a:solidFill>
                <a:latin typeface="Arial"/>
              </a:defRPr>
            </a:pPr>
            <a:r>
              <a:t>Fail closed on sanitize; expiry/cancel recovery evidenced; judge checklist.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755648" y="246888"/>
            <a:ext cx="7818120" cy="822960"/>
          </a:xfrm>
        </p:spPr>
        <p:txBody>
          <a:bodyPr wrap="square"/>
          <a:lstStyle/>
          <a:p>
            <a:pPr>
              <a:spcAft>
                <a:spcPts val="600"/>
              </a:spcAft>
              <a:defRPr sz="2700" b="1">
                <a:solidFill>
                  <a:srgbClr val="15211F"/>
                </a:solidFill>
                <a:latin typeface="Arial"/>
              </a:defRPr>
            </a:pPr>
            <a: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>
              <a:spcAft>
                <a:spcPts val="600"/>
              </a:spcAft>
              <a:defRPr sz="1100" b="1">
                <a:solidFill>
                  <a:srgbClr val="15211F"/>
                </a:solidFill>
                <a:latin typeface="Arial"/>
              </a:defRPr>
            </a:pPr>
            <a:r>
              <a:t>DHRISTI</a:t>
            </a:r>
          </a:p>
          <a:p>
            <a:pPr>
              <a:spcAft>
                <a:spcPts val="600"/>
              </a:spcAft>
              <a:defRPr sz="1100" b="1">
                <a:solidFill>
                  <a:srgbClr val="15211F"/>
                </a:solidFill>
                <a:latin typeface="Arial"/>
              </a:defRPr>
            </a:pPr>
            <a:r>
              <a:t>PROJECT</a:t>
            </a: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411" name="TextBox 17410"/>
          <p:cNvSpPr txBox="1"/>
          <p:nvPr/>
        </p:nvSpPr>
        <p:spPr>
          <a:xfrm>
            <a:off x="548640" y="6007608"/>
            <a:ext cx="11064240" cy="2560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70420B"/>
                </a:solidFill>
                <a:latin typeface="Arial"/>
              </a:defRPr>
            </a:pPr>
            <a:r>
              <a:t>2026 content · supplied 2025 reference format · registered team ID/name pending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548640" y="1399032"/>
            <a:ext cx="1097280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29473F"/>
                </a:solidFill>
                <a:latin typeface="Arial"/>
              </a:defRPr>
            </a:pPr>
            <a:r>
              <a:t>Potential impact on the target audience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548640" y="1810512"/>
            <a:ext cx="10972800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2900" b="1">
                <a:solidFill>
                  <a:srgbClr val="15211F"/>
                </a:solidFill>
                <a:latin typeface="Arial"/>
              </a:defRPr>
            </a:pPr>
            <a:r>
              <a:t>Help users complete browser tasks with less raw screen exposure.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548640" y="2706624"/>
            <a:ext cx="1097280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29473F"/>
                </a:solidFill>
                <a:latin typeface="Arial"/>
              </a:defRPr>
            </a:pPr>
            <a:r>
              <a:t>Benefits of the solution (social, economic, environmental, etc.)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548640" y="3273552"/>
            <a:ext cx="3456432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2400" b="1">
                <a:solidFill>
                  <a:srgbClr val="15211F"/>
                </a:solidFill>
                <a:latin typeface="Arial"/>
              </a:defRPr>
            </a:pPr>
            <a:r>
              <a:t>User control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548640" y="4050791"/>
            <a:ext cx="3456432" cy="1371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15211F"/>
                </a:solidFill>
                <a:latin typeface="Arial"/>
              </a:defRPr>
            </a:pPr>
            <a:r>
              <a:t>Inspect server-bound context; approve a bounded action.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4361688" y="3273552"/>
            <a:ext cx="3456432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2400" b="1">
                <a:solidFill>
                  <a:srgbClr val="15211F"/>
                </a:solidFill>
                <a:latin typeface="Arial"/>
              </a:defRPr>
            </a:pPr>
            <a:r>
              <a:t>Deployable locally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4361688" y="4050791"/>
            <a:ext cx="3456432" cy="1371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15211F"/>
                </a:solidFill>
                <a:latin typeface="Arial"/>
              </a:defRPr>
            </a:pPr>
            <a:r>
              <a:t>Existing laptop + local model; offline operation after assets are installed.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8174736" y="3273552"/>
            <a:ext cx="3456432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2400" b="1">
                <a:solidFill>
                  <a:srgbClr val="15211F"/>
                </a:solidFill>
                <a:latin typeface="Arial"/>
              </a:defRPr>
            </a:pPr>
            <a:r>
              <a:t>Measure the trade-off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8174736" y="4050791"/>
            <a:ext cx="3456432" cy="1371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15211F"/>
                </a:solidFill>
                <a:latin typeface="Arial"/>
              </a:defRPr>
            </a:pPr>
            <a:r>
              <a:t>PII coverage vs useful context; task success; latency and client memory.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548640" y="5596128"/>
            <a:ext cx="109728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70420B"/>
                </a:solidFill>
                <a:latin typeface="Arial"/>
              </a:defRPr>
            </a:pPr>
            <a:r>
              <a:t>Expected benefits, not achieved impact. No user study, savings or energy reduction is claimed.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755648" y="246888"/>
            <a:ext cx="7818120" cy="822960"/>
          </a:xfrm>
        </p:spPr>
        <p:txBody>
          <a:bodyPr wrap="square"/>
          <a:lstStyle/>
          <a:p>
            <a:pPr>
              <a:spcAft>
                <a:spcPts val="600"/>
              </a:spcAft>
              <a:defRPr sz="2700" b="1">
                <a:solidFill>
                  <a:srgbClr val="15211F"/>
                </a:solidFill>
                <a:latin typeface="Arial"/>
              </a:defRPr>
            </a:pPr>
            <a: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>
              <a:spcAft>
                <a:spcPts val="600"/>
              </a:spcAft>
              <a:defRPr sz="1100" b="1">
                <a:solidFill>
                  <a:srgbClr val="15211F"/>
                </a:solidFill>
                <a:latin typeface="Arial"/>
              </a:defRPr>
            </a:pPr>
            <a:r>
              <a:t>DHRISTI</a:t>
            </a:r>
          </a:p>
          <a:p>
            <a:pPr>
              <a:spcAft>
                <a:spcPts val="600"/>
              </a:spcAft>
              <a:defRPr sz="1100" b="1">
                <a:solidFill>
                  <a:srgbClr val="15211F"/>
                </a:solidFill>
                <a:latin typeface="Arial"/>
              </a:defRPr>
            </a:pPr>
            <a:r>
              <a:t>PROJECT</a:t>
            </a:r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411" name="TextBox 17410"/>
          <p:cNvSpPr txBox="1"/>
          <p:nvPr/>
        </p:nvSpPr>
        <p:spPr>
          <a:xfrm>
            <a:off x="548640" y="6007608"/>
            <a:ext cx="11064240" cy="2560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70420B"/>
                </a:solidFill>
                <a:latin typeface="Arial"/>
              </a:defRPr>
            </a:pPr>
            <a:r>
              <a:t>2026 content · supplied 2025 reference format · registered team ID/name pending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548640" y="1353312"/>
            <a:ext cx="1097280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29473F"/>
                </a:solidFill>
                <a:latin typeface="Arial"/>
              </a:defRPr>
            </a:pPr>
            <a:r>
              <a:t>Details / Links of the reference and research work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548640" y="1883664"/>
            <a:ext cx="10972800" cy="30175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5211F"/>
                </a:solidFill>
                <a:latin typeface="Arial"/>
              </a:defRPr>
            </a:pPr>
            <a:r>
              <a:t>Official SIH26171 · problem and 25/20/20/20/15 weights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548640" y="2212848"/>
            <a:ext cx="10972800" cy="26517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9473F"/>
                </a:solidFill>
                <a:latin typeface="Arial"/>
              </a:defRPr>
            </a:pPr>
            <a:r>
              <a:rPr>
                <a:hlinkClick r:id="rId4"/>
              </a:rPr>
              <a:t>https://www.sih.gov.in/sih2026PS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548640" y="2587752"/>
            <a:ext cx="10972800" cy="30175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5211F"/>
                </a:solidFill>
                <a:latin typeface="Arial"/>
              </a:defRPr>
            </a:pPr>
            <a:r>
              <a:t>WebPII / WebRedact · visual PII benchmark (2026 preprint)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548640" y="2916936"/>
            <a:ext cx="10972800" cy="26517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9473F"/>
                </a:solidFill>
                <a:latin typeface="Arial"/>
              </a:defRPr>
            </a:pPr>
            <a:r>
              <a:rPr>
                <a:hlinkClick r:id="rId5"/>
              </a:rPr>
              <a:t>https://arxiv.org/abs/2603.17357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548640" y="3291840"/>
            <a:ext cx="10972800" cy="30175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5211F"/>
                </a:solidFill>
                <a:latin typeface="Arial"/>
              </a:defRPr>
            </a:pPr>
            <a:r>
              <a:t>PrivWeb · local anonymization and user control (2025 preprint)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548640" y="3621024"/>
            <a:ext cx="10972800" cy="26517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9473F"/>
                </a:solidFill>
                <a:latin typeface="Arial"/>
              </a:defRPr>
            </a:pPr>
            <a:r>
              <a:rPr>
                <a:hlinkClick r:id="rId6"/>
              </a:rPr>
              <a:t>https://arxiv.org/abs/2509.11939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548640" y="3995928"/>
            <a:ext cx="10972800" cy="30175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5211F"/>
                </a:solidFill>
                <a:latin typeface="Arial"/>
              </a:defRPr>
            </a:pPr>
            <a:r>
              <a:t>Available but Invisible · typed placeholders (2026 preprint)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548640" y="4325112"/>
            <a:ext cx="10972800" cy="26517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9473F"/>
                </a:solidFill>
                <a:latin typeface="Arial"/>
              </a:defRPr>
            </a:pPr>
            <a:r>
              <a:rPr>
                <a:hlinkClick r:id="rId7"/>
              </a:rPr>
              <a:t>https://arxiv.org/abs/2602.10139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548640" y="4700016"/>
            <a:ext cx="10972800" cy="30175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5211F"/>
                </a:solidFill>
                <a:latin typeface="Arial"/>
              </a:defRPr>
            </a:pPr>
            <a:r>
              <a:t>UltraFace · MIT model; ORT Web · packaged WASM runtime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548640" y="5029200"/>
            <a:ext cx="10972800" cy="26517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9473F"/>
                </a:solidFill>
                <a:latin typeface="Arial"/>
              </a:defRPr>
            </a:pPr>
            <a:r>
              <a:rPr>
                <a:hlinkClick r:id="rId8"/>
              </a:rPr>
              <a:t>https://github.com/Linzaer/Ultra-Light-Fast-Generic-Face-Detector-1MB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548640" y="5550408"/>
            <a:ext cx="10972800" cy="34747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2645C"/>
                </a:solidFill>
                <a:latin typeface="Arial"/>
              </a:defRPr>
            </a:pPr>
            <a:r>
              <a:t>Prototype evidence: Benchmarks/results/prototype-v01-browser.json · model hashes/licenses in Prototype/models/manifest.json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7487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2025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Dhristi | SIH26171 | Six-slide submission candidate</dc:title>
  <dc:subject/>
  <dc:creator>Crowdfunder</dc:creator>
  <cp:keywords/>
  <dc:description/>
  <cp:lastModifiedBy>Aicte</cp:lastModifiedBy>
  <cp:revision>147</cp:revision>
  <dcterms:created xsi:type="dcterms:W3CDTF">2013-12-12T18:46:50Z</dcterms:created>
  <dcterms:modified xsi:type="dcterms:W3CDTF">2025-06-26T06:39:00Z</dcterms:modified>
  <cp:category/>
</cp:coreProperties>
</file>